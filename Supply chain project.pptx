
<file path=[Content_Types].xml><?xml version="1.0" encoding="utf-8"?>
<Types xmlns="http://schemas.openxmlformats.org/package/2006/content-types">
  <Default ContentType="application/x-fontdata" Extension="fntdata"/>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9"/>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Inter Bold" charset="1" panose="02000503000000020004"/>
      <p:regular r:id="rId22"/>
    </p:embeddedFont>
    <p:embeddedFont>
      <p:font typeface="Inter" charset="1" panose="02000503000000020004"/>
      <p:regular r:id="rId23"/>
    </p:embeddedFont>
    <p:embeddedFont>
      <p:font typeface="Arimo Bold" charset="1" panose="020B0704020202020204"/>
      <p:regular r:id="rId26"/>
    </p:embeddedFont>
    <p:embeddedFont>
      <p:font typeface="Arimo" charset="1" panose="020B0604020202020204"/>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notesMasters/notesMaster1.xml" Type="http://schemas.openxmlformats.org/officeDocument/2006/relationships/notesMaster"/><Relationship Id="rId2" Target="presProps.xml" Type="http://schemas.openxmlformats.org/officeDocument/2006/relationships/presProps"/><Relationship Id="rId20" Target="theme/theme2.xml" Type="http://schemas.openxmlformats.org/officeDocument/2006/relationships/theme"/><Relationship Id="rId21" Target="notesSlides/notesSlide1.xml" Type="http://schemas.openxmlformats.org/officeDocument/2006/relationships/notesSlide"/><Relationship Id="rId22" Target="fonts/font22.fntdata" Type="http://schemas.openxmlformats.org/officeDocument/2006/relationships/font"/><Relationship Id="rId23" Target="fonts/font23.fntdata" Type="http://schemas.openxmlformats.org/officeDocument/2006/relationships/font"/><Relationship Id="rId24" Target="notesSlides/notesSlide2.xml" Type="http://schemas.openxmlformats.org/officeDocument/2006/relationships/notesSlide"/><Relationship Id="rId25" Target="notesSlides/notesSlide3.xml" Type="http://schemas.openxmlformats.org/officeDocument/2006/relationships/notesSlide"/><Relationship Id="rId26" Target="fonts/font26.fntdata" Type="http://schemas.openxmlformats.org/officeDocument/2006/relationships/font"/><Relationship Id="rId27" Target="fonts/font27.fntdata" Type="http://schemas.openxmlformats.org/officeDocument/2006/relationships/font"/><Relationship Id="rId28" Target="notesSlides/notesSlide4.xml" Type="http://schemas.openxmlformats.org/officeDocument/2006/relationships/notesSlide"/><Relationship Id="rId29" Target="notesSlides/notesSlide5.xml" Type="http://schemas.openxmlformats.org/officeDocument/2006/relationships/notesSlide"/><Relationship Id="rId3" Target="viewProps.xml" Type="http://schemas.openxmlformats.org/officeDocument/2006/relationships/viewProps"/><Relationship Id="rId30" Target="notesSlides/notesSlide6.xml" Type="http://schemas.openxmlformats.org/officeDocument/2006/relationships/notesSlide"/><Relationship Id="rId31" Target="notesSlides/notesSlide7.xml" Type="http://schemas.openxmlformats.org/officeDocument/2006/relationships/notesSlide"/><Relationship Id="rId32" Target="notesSlides/notesSlide8.xml" Type="http://schemas.openxmlformats.org/officeDocument/2006/relationships/notesSlide"/><Relationship Id="rId33" Target="notesSlides/notesSlide9.xml" Type="http://schemas.openxmlformats.org/officeDocument/2006/relationships/notesSlide"/><Relationship Id="rId34" Target="notesSlides/notesSlide10.xml" Type="http://schemas.openxmlformats.org/officeDocument/2006/relationships/notesSlide"/><Relationship Id="rId35" Target="notesSlides/notesSlide11.xml" Type="http://schemas.openxmlformats.org/officeDocument/2006/relationships/notesSlide"/><Relationship Id="rId36" Target="notesSlides/notesSlide12.xml" Type="http://schemas.openxmlformats.org/officeDocument/2006/relationships/notesSlide"/><Relationship Id="rId37" Target="notesSlides/notesSlide13.xml" Type="http://schemas.openxmlformats.org/officeDocument/2006/relationships/notesSlide"/><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Hi, I'm Prince Kumar. This project analyses 172,765 orders from a global e-commerce company, from January 2015 to January 2018. My goal was to find out why deliveries run late, what that costs the business, and what to do about it. The headline: about 6 in 10 orders arrive late.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Here is the flow. I'll start with the summary, then the business context and the data. Next come the KPIs, the profit impact, and where the bottlenecks are. I'll finish with a predictive model and my recommendations.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headline is simple: 60% of orders arrive late. That is 103,816 out of 172,765 orders. Those late orders carry 2.2 million dollars of profit. The biggest driver is shipping mode: First Class and Same Day are late on every order, while Standard Class is late only about 40% of the time. Every region is between 60 and 66% late, so this is a company-wide process issue. A Random Forest model can flag late orders with 77% accuracy.</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company sells sporting goods, fitness gear, outdoor equipment, footwear and apparel worldwide. Shipping often misses the scheduled window, which hurts customer trust and profit. I started with 180,519 rows and 53 columns. I removed 7,754 cancelled orders and 31 columns I didn't need, which left 172,765 orders from January 2015 to January 2018. My four objectives were to measure delivery performance, quantify the profit impact, find the bottlenecks and root causes, and predict late orders.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Here is the baseline. 103,816 of 172,765 orders were late, a 60.09% late rate, so only about 4 in 10 arrive on time. On average, orders take 3.5 days to ship against a 2.9-day schedule, about half a day late. Even the worst 10% of delays stay within 3 days, so this is a process problem, not lost shipments. Profitable orders earned 7.5 million dollars, and late orders carry 2.2 million dollars of profit.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31% of orders arrive exactly one day late, the biggest single group. Late orders earn slightly less: about 21.67 dollars per order versus 22.57 for early or on-time orders, and the lowest average is at 3 days late. Separately, 18.7% of orders lose money. Those losses wipe out about 3.7 million of the 7.5 million dollars of gross profit, leaving about 3.8 million net. So delays and loss-making orders are two separate profit problems.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 compared the late rate across six dimensions: region, customer segment, shipping mode, order status, payment type and department. Shipping mode stands out. First Class and Same Day are late on every order, Second Class on 80%, and Standard Class on about 40%. Everything else is flat: every region is between 60 and 66% late, and the three customer segments are within 0.6 points of each other. So the problem is company-wide and process-driven, not a local logistics failure. If asked: Same Day counts as late because it is scheduled for 0 days and takes about half a day to ship.</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 drilled into Central Africa, which is 63.6% late, the second-highest region. Shipping mode again tops the list: First Class and Same Day are always late, and Second Class is late 83% of the time. But payment holds matter too: 95% of orders in payment review and 70% of pending orders ship late. So payment processing is a hidden second bottleneck that a faster payment check could fix.</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Timing effects are small. The monthly late rate only moves between about 59.2% and 60.7%, with peaks in July, September and December. By hour, orders placed around noon and 8 pm are slightly worse, and 7 pm is the best at about 57.7%. The key point: timing moves the late rate by under 5 points, while shipping mode moves it by 60 points. So capacity planning helps at the margin, but the real fix is the shipping process.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 trained a Random Forest on ten order features, such as shipping mode, region, segment and order time. I used frequency encoding, a stratified 80/20 split, and SMOTE to balance the training classes. On 34,553 unseen orders it reaches 77% accuracy. When it predicts an order will be late, it is right 83% of the time, and it catches 76% of late orders. That is good enough to pilot as an early-warning alert.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My recommendations are ranked by impact. One: audit First Class and Same Day carriers now, because they miss the schedule on every order. Until fixed, reprice them or reset the delivery promise. Two: deploy the model as an alert at order confirmation, so the team can contact customers early and prioritise risky orders. Three: clear payment review holds, which are late 95% of the time in Central Africa. Then plan seasonal capacity, default eligible orders to Standard Class, and audit hotspots like Central Asia and Pet Shop. Finally, review pricing and discounts on loss-making orders, and retrain the model every quarter, exploring carrier, weather and warehouse data.</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To sum up: the late-delivery problem is large, but the causes are clear and fixable. Shipping-mode setup is the main failure, payment holds are second, and timing barely matters. My targets: cut the late rate below 30% within 12 months, get First Class above 80% on time and Second Class above 60%, lift model accuracy above 82%, bring loss-making orders below 12%, and reduce profit at risk by 40%.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Thank you. I'm happy to take questions.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2.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2.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3.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EFBF6"/>
        </a:solidFill>
      </p:bgPr>
    </p:bg>
    <p:spTree>
      <p:nvGrpSpPr>
        <p:cNvPr id="1" name=""/>
        <p:cNvGrpSpPr/>
        <p:nvPr/>
      </p:nvGrpSpPr>
      <p:grpSpPr>
        <a:xfrm>
          <a:off x="0" y="0"/>
          <a:ext cx="0" cy="0"/>
          <a:chOff x="0" y="0"/>
          <a:chExt cx="0" cy="0"/>
        </a:xfrm>
      </p:grpSpPr>
      <p:grpSp>
        <p:nvGrpSpPr>
          <p:cNvPr name="Group 2" id="2"/>
          <p:cNvGrpSpPr/>
          <p:nvPr/>
        </p:nvGrpSpPr>
        <p:grpSpPr>
          <a:xfrm rot="0">
            <a:off x="10680690" y="1528945"/>
            <a:ext cx="6578610" cy="7729355"/>
            <a:chOff x="0" y="0"/>
            <a:chExt cx="1943564" cy="2283537"/>
          </a:xfrm>
        </p:grpSpPr>
        <p:sp>
          <p:nvSpPr>
            <p:cNvPr name="Freeform 3" id="3"/>
            <p:cNvSpPr/>
            <p:nvPr/>
          </p:nvSpPr>
          <p:spPr>
            <a:xfrm flipH="false" flipV="false" rot="0">
              <a:off x="0" y="0"/>
              <a:ext cx="1943569" cy="2283537"/>
            </a:xfrm>
            <a:custGeom>
              <a:avLst/>
              <a:gdLst/>
              <a:ahLst/>
              <a:cxnLst/>
              <a:rect r="r" b="b" t="t" l="l"/>
              <a:pathLst>
                <a:path h="2283537" w="1943569">
                  <a:moveTo>
                    <a:pt x="565658" y="99126"/>
                  </a:moveTo>
                  <a:lnTo>
                    <a:pt x="565658" y="499584"/>
                  </a:lnTo>
                  <a:cubicBezTo>
                    <a:pt x="565658" y="525874"/>
                    <a:pt x="555214" y="551087"/>
                    <a:pt x="536624" y="569677"/>
                  </a:cubicBezTo>
                  <a:cubicBezTo>
                    <a:pt x="518034" y="588267"/>
                    <a:pt x="492821" y="598710"/>
                    <a:pt x="466531" y="598710"/>
                  </a:cubicBezTo>
                  <a:lnTo>
                    <a:pt x="99126" y="598710"/>
                  </a:lnTo>
                  <a:cubicBezTo>
                    <a:pt x="72836" y="598710"/>
                    <a:pt x="47623" y="609153"/>
                    <a:pt x="29033" y="627743"/>
                  </a:cubicBezTo>
                  <a:cubicBezTo>
                    <a:pt x="10444" y="646333"/>
                    <a:pt x="0" y="671546"/>
                    <a:pt x="0" y="697836"/>
                  </a:cubicBezTo>
                  <a:lnTo>
                    <a:pt x="0" y="862855"/>
                  </a:lnTo>
                  <a:lnTo>
                    <a:pt x="0" y="1969546"/>
                  </a:lnTo>
                  <a:cubicBezTo>
                    <a:pt x="0" y="1993096"/>
                    <a:pt x="8385" y="2015877"/>
                    <a:pt x="23652" y="2033808"/>
                  </a:cubicBezTo>
                  <a:lnTo>
                    <a:pt x="206607" y="2248676"/>
                  </a:lnTo>
                  <a:cubicBezTo>
                    <a:pt x="225441" y="2270794"/>
                    <a:pt x="253030" y="2283537"/>
                    <a:pt x="282081" y="2283537"/>
                  </a:cubicBezTo>
                  <a:lnTo>
                    <a:pt x="1661485" y="2283537"/>
                  </a:lnTo>
                  <a:cubicBezTo>
                    <a:pt x="1690537" y="2283539"/>
                    <a:pt x="1718127" y="2270795"/>
                    <a:pt x="1736962" y="2248676"/>
                  </a:cubicBezTo>
                  <a:lnTo>
                    <a:pt x="1919916" y="2033812"/>
                  </a:lnTo>
                  <a:cubicBezTo>
                    <a:pt x="1935183" y="2015881"/>
                    <a:pt x="1943569" y="1993100"/>
                    <a:pt x="1943569" y="1969550"/>
                  </a:cubicBezTo>
                  <a:lnTo>
                    <a:pt x="1943569" y="1075355"/>
                  </a:lnTo>
                  <a:lnTo>
                    <a:pt x="1943569" y="99126"/>
                  </a:lnTo>
                  <a:cubicBezTo>
                    <a:pt x="1943569" y="72835"/>
                    <a:pt x="1933125" y="47621"/>
                    <a:pt x="1914534" y="29032"/>
                  </a:cubicBezTo>
                  <a:cubicBezTo>
                    <a:pt x="1895944" y="10442"/>
                    <a:pt x="1870729" y="-1"/>
                    <a:pt x="1844438" y="0"/>
                  </a:cubicBezTo>
                  <a:lnTo>
                    <a:pt x="664789" y="0"/>
                  </a:lnTo>
                  <a:cubicBezTo>
                    <a:pt x="638498" y="-1"/>
                    <a:pt x="613284" y="10442"/>
                    <a:pt x="594693" y="29032"/>
                  </a:cubicBezTo>
                  <a:cubicBezTo>
                    <a:pt x="576102" y="47621"/>
                    <a:pt x="565658" y="72835"/>
                    <a:pt x="565658" y="99126"/>
                  </a:cubicBezTo>
                  <a:close/>
                </a:path>
              </a:pathLst>
            </a:custGeom>
            <a:blipFill>
              <a:blip r:embed="rId3"/>
              <a:stretch>
                <a:fillRect l="-28233" t="0" r="-28233" b="0"/>
              </a:stretch>
            </a:blipFill>
          </p:spPr>
        </p:sp>
      </p:grpSp>
      <p:grpSp>
        <p:nvGrpSpPr>
          <p:cNvPr name="Group 4" id="4"/>
          <p:cNvGrpSpPr/>
          <p:nvPr/>
        </p:nvGrpSpPr>
        <p:grpSpPr>
          <a:xfrm rot="0">
            <a:off x="10007835" y="1028700"/>
            <a:ext cx="2343268" cy="2335676"/>
            <a:chOff x="0" y="0"/>
            <a:chExt cx="815442" cy="812800"/>
          </a:xfrm>
        </p:grpSpPr>
        <p:sp>
          <p:nvSpPr>
            <p:cNvPr name="Freeform 5" id="5"/>
            <p:cNvSpPr/>
            <p:nvPr/>
          </p:nvSpPr>
          <p:spPr>
            <a:xfrm flipH="false" flipV="false" rot="0">
              <a:off x="0" y="0"/>
              <a:ext cx="815442" cy="812800"/>
            </a:xfrm>
            <a:custGeom>
              <a:avLst/>
              <a:gdLst/>
              <a:ahLst/>
              <a:cxnLst/>
              <a:rect r="r" b="b" t="t" l="l"/>
              <a:pathLst>
                <a:path h="812800" w="815442">
                  <a:moveTo>
                    <a:pt x="132156" y="0"/>
                  </a:moveTo>
                  <a:lnTo>
                    <a:pt x="683286" y="0"/>
                  </a:lnTo>
                  <a:cubicBezTo>
                    <a:pt x="718336" y="0"/>
                    <a:pt x="751950" y="13924"/>
                    <a:pt x="776734" y="38708"/>
                  </a:cubicBezTo>
                  <a:cubicBezTo>
                    <a:pt x="801518" y="63492"/>
                    <a:pt x="815442" y="97106"/>
                    <a:pt x="815442" y="132156"/>
                  </a:cubicBezTo>
                  <a:lnTo>
                    <a:pt x="815442" y="680644"/>
                  </a:lnTo>
                  <a:cubicBezTo>
                    <a:pt x="815442" y="715694"/>
                    <a:pt x="801518" y="749308"/>
                    <a:pt x="776734" y="774092"/>
                  </a:cubicBezTo>
                  <a:cubicBezTo>
                    <a:pt x="751950" y="798876"/>
                    <a:pt x="718336" y="812800"/>
                    <a:pt x="683286" y="812800"/>
                  </a:cubicBezTo>
                  <a:lnTo>
                    <a:pt x="132156" y="812800"/>
                  </a:lnTo>
                  <a:cubicBezTo>
                    <a:pt x="97106" y="812800"/>
                    <a:pt x="63492" y="798876"/>
                    <a:pt x="38708" y="774092"/>
                  </a:cubicBezTo>
                  <a:cubicBezTo>
                    <a:pt x="13924" y="749308"/>
                    <a:pt x="0" y="715694"/>
                    <a:pt x="0" y="680644"/>
                  </a:cubicBezTo>
                  <a:lnTo>
                    <a:pt x="0" y="132156"/>
                  </a:lnTo>
                  <a:cubicBezTo>
                    <a:pt x="0" y="97106"/>
                    <a:pt x="13924" y="63492"/>
                    <a:pt x="38708" y="38708"/>
                  </a:cubicBezTo>
                  <a:cubicBezTo>
                    <a:pt x="63492" y="13924"/>
                    <a:pt x="97106" y="0"/>
                    <a:pt x="132156" y="0"/>
                  </a:cubicBezTo>
                  <a:close/>
                </a:path>
              </a:pathLst>
            </a:custGeom>
            <a:solidFill>
              <a:srgbClr val="A6D1E6"/>
            </a:solidFill>
            <a:ln w="19050" cap="rnd">
              <a:solidFill>
                <a:srgbClr val="A6D1E6"/>
              </a:solidFill>
              <a:prstDash val="solid"/>
              <a:round/>
            </a:ln>
          </p:spPr>
        </p:sp>
        <p:sp>
          <p:nvSpPr>
            <p:cNvPr name="TextBox 6" id="6"/>
            <p:cNvSpPr txBox="true"/>
            <p:nvPr/>
          </p:nvSpPr>
          <p:spPr>
            <a:xfrm>
              <a:off x="0" y="-38100"/>
              <a:ext cx="815442" cy="850900"/>
            </a:xfrm>
            <a:prstGeom prst="rect">
              <a:avLst/>
            </a:prstGeom>
          </p:spPr>
          <p:txBody>
            <a:bodyPr anchor="ctr" rtlCol="false" tIns="50800" lIns="50800" bIns="50800" rIns="50800"/>
            <a:lstStyle/>
            <a:p>
              <a:pPr algn="ctr">
                <a:lnSpc>
                  <a:spcPts val="2659"/>
                </a:lnSpc>
              </a:pPr>
            </a:p>
          </p:txBody>
        </p:sp>
      </p:grpSp>
      <p:sp>
        <p:nvSpPr>
          <p:cNvPr name="TextBox 7" id="7"/>
          <p:cNvSpPr txBox="true"/>
          <p:nvPr/>
        </p:nvSpPr>
        <p:spPr>
          <a:xfrm rot="0">
            <a:off x="1028700" y="4023343"/>
            <a:ext cx="7268821" cy="1024890"/>
          </a:xfrm>
          <a:prstGeom prst="rect">
            <a:avLst/>
          </a:prstGeom>
        </p:spPr>
        <p:txBody>
          <a:bodyPr anchor="t" rtlCol="false" tIns="0" lIns="0" bIns="0" rIns="0">
            <a:spAutoFit/>
          </a:bodyPr>
          <a:lstStyle/>
          <a:p>
            <a:pPr algn="l" marL="0" indent="0" lvl="0">
              <a:lnSpc>
                <a:spcPts val="7920"/>
              </a:lnSpc>
              <a:spcBef>
                <a:spcPct val="0"/>
              </a:spcBef>
            </a:pPr>
            <a:r>
              <a:rPr lang="en-US" b="true" sz="7200" strike="noStrike" u="none">
                <a:solidFill>
                  <a:srgbClr val="7F5283"/>
                </a:solidFill>
                <a:latin typeface="Inter Bold"/>
                <a:ea typeface="Inter Bold"/>
                <a:cs typeface="Inter Bold"/>
                <a:sym typeface="Inter Bold"/>
              </a:rPr>
              <a:t>Supply Chain</a:t>
            </a:r>
          </a:p>
        </p:txBody>
      </p:sp>
      <p:grpSp>
        <p:nvGrpSpPr>
          <p:cNvPr name="Group 8" id="8"/>
          <p:cNvGrpSpPr/>
          <p:nvPr/>
        </p:nvGrpSpPr>
        <p:grpSpPr>
          <a:xfrm rot="0">
            <a:off x="1028700" y="7365483"/>
            <a:ext cx="5236423" cy="834828"/>
            <a:chOff x="0" y="0"/>
            <a:chExt cx="1822241" cy="290515"/>
          </a:xfrm>
        </p:grpSpPr>
        <p:sp>
          <p:nvSpPr>
            <p:cNvPr name="Freeform 9" id="9"/>
            <p:cNvSpPr/>
            <p:nvPr/>
          </p:nvSpPr>
          <p:spPr>
            <a:xfrm flipH="false" flipV="false" rot="0">
              <a:off x="0" y="0"/>
              <a:ext cx="1822241" cy="290515"/>
            </a:xfrm>
            <a:custGeom>
              <a:avLst/>
              <a:gdLst/>
              <a:ahLst/>
              <a:cxnLst/>
              <a:rect r="r" b="b" t="t" l="l"/>
              <a:pathLst>
                <a:path h="290515" w="1822241">
                  <a:moveTo>
                    <a:pt x="29569" y="0"/>
                  </a:moveTo>
                  <a:lnTo>
                    <a:pt x="1792672" y="0"/>
                  </a:lnTo>
                  <a:cubicBezTo>
                    <a:pt x="1800514" y="0"/>
                    <a:pt x="1808035" y="3115"/>
                    <a:pt x="1813580" y="8661"/>
                  </a:cubicBezTo>
                  <a:cubicBezTo>
                    <a:pt x="1819126" y="14206"/>
                    <a:pt x="1822241" y="21727"/>
                    <a:pt x="1822241" y="29569"/>
                  </a:cubicBezTo>
                  <a:lnTo>
                    <a:pt x="1822241" y="260945"/>
                  </a:lnTo>
                  <a:cubicBezTo>
                    <a:pt x="1822241" y="268788"/>
                    <a:pt x="1819126" y="276309"/>
                    <a:pt x="1813580" y="281854"/>
                  </a:cubicBezTo>
                  <a:cubicBezTo>
                    <a:pt x="1808035" y="287399"/>
                    <a:pt x="1800514" y="290515"/>
                    <a:pt x="1792672" y="290515"/>
                  </a:cubicBezTo>
                  <a:lnTo>
                    <a:pt x="29569" y="290515"/>
                  </a:lnTo>
                  <a:cubicBezTo>
                    <a:pt x="21727" y="290515"/>
                    <a:pt x="14206" y="287399"/>
                    <a:pt x="8661" y="281854"/>
                  </a:cubicBezTo>
                  <a:cubicBezTo>
                    <a:pt x="3115" y="276309"/>
                    <a:pt x="0" y="268788"/>
                    <a:pt x="0" y="260945"/>
                  </a:cubicBezTo>
                  <a:lnTo>
                    <a:pt x="0" y="29569"/>
                  </a:lnTo>
                  <a:cubicBezTo>
                    <a:pt x="0" y="21727"/>
                    <a:pt x="3115" y="14206"/>
                    <a:pt x="8661" y="8661"/>
                  </a:cubicBezTo>
                  <a:cubicBezTo>
                    <a:pt x="14206" y="3115"/>
                    <a:pt x="21727" y="0"/>
                    <a:pt x="29569" y="0"/>
                  </a:cubicBezTo>
                  <a:close/>
                </a:path>
              </a:pathLst>
            </a:custGeom>
            <a:solidFill>
              <a:srgbClr val="A6D1E6"/>
            </a:solidFill>
            <a:ln w="19050" cap="sq">
              <a:solidFill>
                <a:srgbClr val="A6D1E6"/>
              </a:solidFill>
              <a:prstDash val="solid"/>
              <a:miter/>
            </a:ln>
          </p:spPr>
        </p:sp>
        <p:sp>
          <p:nvSpPr>
            <p:cNvPr name="TextBox 10" id="10"/>
            <p:cNvSpPr txBox="true"/>
            <p:nvPr/>
          </p:nvSpPr>
          <p:spPr>
            <a:xfrm>
              <a:off x="0" y="-38100"/>
              <a:ext cx="1822241" cy="328615"/>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6525788" y="7365483"/>
            <a:ext cx="2618212" cy="834828"/>
            <a:chOff x="0" y="0"/>
            <a:chExt cx="911121" cy="290515"/>
          </a:xfrm>
        </p:grpSpPr>
        <p:sp>
          <p:nvSpPr>
            <p:cNvPr name="Freeform 12" id="12"/>
            <p:cNvSpPr/>
            <p:nvPr/>
          </p:nvSpPr>
          <p:spPr>
            <a:xfrm flipH="false" flipV="false" rot="0">
              <a:off x="0" y="0"/>
              <a:ext cx="911121" cy="290515"/>
            </a:xfrm>
            <a:custGeom>
              <a:avLst/>
              <a:gdLst/>
              <a:ahLst/>
              <a:cxnLst/>
              <a:rect r="r" b="b" t="t" l="l"/>
              <a:pathLst>
                <a:path h="290515" w="911121">
                  <a:moveTo>
                    <a:pt x="59139" y="0"/>
                  </a:moveTo>
                  <a:lnTo>
                    <a:pt x="851982" y="0"/>
                  </a:lnTo>
                  <a:cubicBezTo>
                    <a:pt x="884643" y="0"/>
                    <a:pt x="911121" y="26477"/>
                    <a:pt x="911121" y="59139"/>
                  </a:cubicBezTo>
                  <a:lnTo>
                    <a:pt x="911121" y="231376"/>
                  </a:lnTo>
                  <a:cubicBezTo>
                    <a:pt x="911121" y="264037"/>
                    <a:pt x="884643" y="290515"/>
                    <a:pt x="851982" y="290515"/>
                  </a:cubicBezTo>
                  <a:lnTo>
                    <a:pt x="59139" y="290515"/>
                  </a:lnTo>
                  <a:cubicBezTo>
                    <a:pt x="26477" y="290515"/>
                    <a:pt x="0" y="264037"/>
                    <a:pt x="0" y="231376"/>
                  </a:cubicBezTo>
                  <a:lnTo>
                    <a:pt x="0" y="59139"/>
                  </a:lnTo>
                  <a:cubicBezTo>
                    <a:pt x="0" y="26477"/>
                    <a:pt x="26477" y="0"/>
                    <a:pt x="59139" y="0"/>
                  </a:cubicBezTo>
                  <a:close/>
                </a:path>
              </a:pathLst>
            </a:custGeom>
            <a:ln w="19050" cap="sq">
              <a:solidFill>
                <a:srgbClr val="7F5283"/>
              </a:solidFill>
              <a:prstDash val="solid"/>
              <a:miter/>
            </a:ln>
          </p:spPr>
        </p:sp>
        <p:sp>
          <p:nvSpPr>
            <p:cNvPr name="TextBox 13" id="13"/>
            <p:cNvSpPr txBox="true"/>
            <p:nvPr/>
          </p:nvSpPr>
          <p:spPr>
            <a:xfrm>
              <a:off x="0" y="-38100"/>
              <a:ext cx="911121" cy="328615"/>
            </a:xfrm>
            <a:prstGeom prst="rect">
              <a:avLst/>
            </a:prstGeom>
          </p:spPr>
          <p:txBody>
            <a:bodyPr anchor="ctr" rtlCol="false" tIns="50800" lIns="50800" bIns="50800" rIns="50800"/>
            <a:lstStyle/>
            <a:p>
              <a:pPr algn="ctr">
                <a:lnSpc>
                  <a:spcPts val="2659"/>
                </a:lnSpc>
              </a:pPr>
            </a:p>
          </p:txBody>
        </p:sp>
      </p:grpSp>
      <p:sp>
        <p:nvSpPr>
          <p:cNvPr name="AutoShape 14" id="14"/>
          <p:cNvSpPr/>
          <p:nvPr/>
        </p:nvSpPr>
        <p:spPr>
          <a:xfrm flipV="true">
            <a:off x="7210425" y="4277201"/>
            <a:ext cx="450532" cy="450437"/>
          </a:xfrm>
          <a:prstGeom prst="line">
            <a:avLst/>
          </a:prstGeom>
          <a:ln cap="rnd" w="133350">
            <a:solidFill>
              <a:srgbClr val="7F5283"/>
            </a:solidFill>
            <a:prstDash val="solid"/>
            <a:headEnd type="none" len="sm" w="sm"/>
            <a:tailEnd type="arrow" len="sm" w="med"/>
          </a:ln>
        </p:spPr>
      </p:sp>
      <p:sp>
        <p:nvSpPr>
          <p:cNvPr name="TextBox 15" id="15"/>
          <p:cNvSpPr txBox="true"/>
          <p:nvPr/>
        </p:nvSpPr>
        <p:spPr>
          <a:xfrm rot="0">
            <a:off x="1028700" y="5076808"/>
            <a:ext cx="7268821" cy="450215"/>
          </a:xfrm>
          <a:prstGeom prst="rect">
            <a:avLst/>
          </a:prstGeom>
        </p:spPr>
        <p:txBody>
          <a:bodyPr anchor="t" rtlCol="false" tIns="0" lIns="0" bIns="0" rIns="0">
            <a:spAutoFit/>
          </a:bodyPr>
          <a:lstStyle/>
          <a:p>
            <a:pPr algn="l" marL="0" indent="0" lvl="0">
              <a:lnSpc>
                <a:spcPts val="3520"/>
              </a:lnSpc>
              <a:spcBef>
                <a:spcPct val="0"/>
              </a:spcBef>
            </a:pPr>
            <a:r>
              <a:rPr lang="en-US" b="true" sz="3200" strike="noStrike" u="none">
                <a:solidFill>
                  <a:srgbClr val="3D3C42"/>
                </a:solidFill>
                <a:latin typeface="Inter Bold"/>
                <a:ea typeface="Inter Bold"/>
                <a:cs typeface="Inter Bold"/>
                <a:sym typeface="Inter Bold"/>
              </a:rPr>
              <a:t>Delivery Performance Analysis</a:t>
            </a:r>
          </a:p>
        </p:txBody>
      </p:sp>
      <p:sp>
        <p:nvSpPr>
          <p:cNvPr name="TextBox 16" id="16"/>
          <p:cNvSpPr txBox="true"/>
          <p:nvPr/>
        </p:nvSpPr>
        <p:spPr>
          <a:xfrm rot="0">
            <a:off x="1028700" y="5754842"/>
            <a:ext cx="7331357" cy="499110"/>
          </a:xfrm>
          <a:prstGeom prst="rect">
            <a:avLst/>
          </a:prstGeom>
        </p:spPr>
        <p:txBody>
          <a:bodyPr anchor="t" rtlCol="false" tIns="0" lIns="0" bIns="0" rIns="0">
            <a:spAutoFit/>
          </a:bodyPr>
          <a:lstStyle/>
          <a:p>
            <a:pPr algn="l" marL="0" indent="0" lvl="0">
              <a:lnSpc>
                <a:spcPts val="1980"/>
              </a:lnSpc>
              <a:spcBef>
                <a:spcPct val="0"/>
              </a:spcBef>
            </a:pPr>
            <a:r>
              <a:rPr lang="en-US" sz="1800" strike="noStrike" u="none">
                <a:solidFill>
                  <a:srgbClr val="3D3C42"/>
                </a:solidFill>
                <a:latin typeface="Inter"/>
                <a:ea typeface="Inter"/>
                <a:cs typeface="Inter"/>
                <a:sym typeface="Inter"/>
              </a:rPr>
              <a:t>End-to-end analysis of 172,765 orders (Jan 2015 – Jan 2018): why deliveries run late, what it costs, and how to fix it.</a:t>
            </a:r>
          </a:p>
        </p:txBody>
      </p:sp>
      <p:sp>
        <p:nvSpPr>
          <p:cNvPr name="TextBox 17" id="17"/>
          <p:cNvSpPr txBox="true"/>
          <p:nvPr/>
        </p:nvSpPr>
        <p:spPr>
          <a:xfrm rot="0">
            <a:off x="2064215" y="7666692"/>
            <a:ext cx="1980089" cy="251460"/>
          </a:xfrm>
          <a:prstGeom prst="rect">
            <a:avLst/>
          </a:prstGeom>
        </p:spPr>
        <p:txBody>
          <a:bodyPr anchor="t" rtlCol="false" tIns="0" lIns="0" bIns="0" rIns="0">
            <a:spAutoFit/>
          </a:bodyPr>
          <a:lstStyle/>
          <a:p>
            <a:pPr algn="l">
              <a:lnSpc>
                <a:spcPts val="1980"/>
              </a:lnSpc>
            </a:pPr>
            <a:r>
              <a:rPr lang="en-US" sz="1800">
                <a:solidFill>
                  <a:srgbClr val="3D3C42"/>
                </a:solidFill>
                <a:latin typeface="Inter"/>
                <a:ea typeface="Inter"/>
                <a:cs typeface="Inter"/>
                <a:sym typeface="Inter"/>
              </a:rPr>
              <a:t>Presented by : </a:t>
            </a:r>
          </a:p>
        </p:txBody>
      </p:sp>
      <p:sp>
        <p:nvSpPr>
          <p:cNvPr name="TextBox 18" id="18"/>
          <p:cNvSpPr txBox="true"/>
          <p:nvPr/>
        </p:nvSpPr>
        <p:spPr>
          <a:xfrm rot="0">
            <a:off x="3874635" y="7645737"/>
            <a:ext cx="2390489" cy="293370"/>
          </a:xfrm>
          <a:prstGeom prst="rect">
            <a:avLst/>
          </a:prstGeom>
        </p:spPr>
        <p:txBody>
          <a:bodyPr anchor="t" rtlCol="false" tIns="0" lIns="0" bIns="0" rIns="0">
            <a:spAutoFit/>
          </a:bodyPr>
          <a:lstStyle/>
          <a:p>
            <a:pPr algn="l" marL="0" indent="0" lvl="0">
              <a:lnSpc>
                <a:spcPts val="2309"/>
              </a:lnSpc>
              <a:spcBef>
                <a:spcPct val="0"/>
              </a:spcBef>
            </a:pPr>
            <a:r>
              <a:rPr lang="en-US" b="true" sz="2099" strike="noStrike" u="none">
                <a:solidFill>
                  <a:srgbClr val="3D3C42"/>
                </a:solidFill>
                <a:latin typeface="Inter Bold"/>
                <a:ea typeface="Inter Bold"/>
                <a:cs typeface="Inter Bold"/>
                <a:sym typeface="Inter Bold"/>
              </a:rPr>
              <a:t>Prince Kumar</a:t>
            </a:r>
          </a:p>
        </p:txBody>
      </p:sp>
      <p:sp>
        <p:nvSpPr>
          <p:cNvPr name="TextBox 19" id="19"/>
          <p:cNvSpPr txBox="true"/>
          <p:nvPr/>
        </p:nvSpPr>
        <p:spPr>
          <a:xfrm rot="0">
            <a:off x="10010775" y="2483549"/>
            <a:ext cx="2190750" cy="680085"/>
          </a:xfrm>
          <a:prstGeom prst="rect">
            <a:avLst/>
          </a:prstGeom>
        </p:spPr>
        <p:txBody>
          <a:bodyPr anchor="t" rtlCol="false" tIns="0" lIns="0" bIns="0" rIns="0">
            <a:spAutoFit/>
          </a:bodyPr>
          <a:lstStyle/>
          <a:p>
            <a:pPr algn="r" marL="0" indent="0" lvl="0">
              <a:lnSpc>
                <a:spcPts val="5280"/>
              </a:lnSpc>
              <a:spcBef>
                <a:spcPct val="0"/>
              </a:spcBef>
            </a:pPr>
            <a:r>
              <a:rPr lang="en-US" b="true" sz="4800" strike="noStrike" u="none">
                <a:solidFill>
                  <a:srgbClr val="7F5283"/>
                </a:solidFill>
                <a:latin typeface="Inter Bold"/>
                <a:ea typeface="Inter Bold"/>
                <a:cs typeface="Inter Bold"/>
                <a:sym typeface="Inter Bold"/>
              </a:rPr>
              <a:t>60.1%</a:t>
            </a:r>
          </a:p>
        </p:txBody>
      </p:sp>
      <p:sp>
        <p:nvSpPr>
          <p:cNvPr name="TextBox 20" id="20"/>
          <p:cNvSpPr txBox="true"/>
          <p:nvPr/>
        </p:nvSpPr>
        <p:spPr>
          <a:xfrm rot="0">
            <a:off x="10214190" y="1289123"/>
            <a:ext cx="2136913" cy="668020"/>
          </a:xfrm>
          <a:prstGeom prst="rect">
            <a:avLst/>
          </a:prstGeom>
        </p:spPr>
        <p:txBody>
          <a:bodyPr anchor="t" rtlCol="false" tIns="0" lIns="0" bIns="0" rIns="0">
            <a:spAutoFit/>
          </a:bodyPr>
          <a:lstStyle/>
          <a:p>
            <a:pPr algn="l" marL="0" indent="0" lvl="0">
              <a:lnSpc>
                <a:spcPts val="1760"/>
              </a:lnSpc>
              <a:spcBef>
                <a:spcPct val="0"/>
              </a:spcBef>
            </a:pPr>
            <a:r>
              <a:rPr lang="en-US" sz="1600" strike="noStrike" u="none">
                <a:solidFill>
                  <a:srgbClr val="3D3C42"/>
                </a:solidFill>
                <a:latin typeface="Inter"/>
                <a:ea typeface="Inter"/>
                <a:cs typeface="Inter"/>
                <a:sym typeface="Inter"/>
              </a:rPr>
              <a:t>Orders </a:t>
            </a:r>
          </a:p>
          <a:p>
            <a:pPr algn="l" marL="0" indent="0" lvl="0">
              <a:lnSpc>
                <a:spcPts val="1760"/>
              </a:lnSpc>
              <a:spcBef>
                <a:spcPct val="0"/>
              </a:spcBef>
            </a:pPr>
            <a:r>
              <a:rPr lang="en-US" sz="1600" strike="noStrike" u="none">
                <a:solidFill>
                  <a:srgbClr val="3D3C42"/>
                </a:solidFill>
                <a:latin typeface="Inter"/>
                <a:ea typeface="Inter"/>
                <a:cs typeface="Inter"/>
                <a:sym typeface="Inter"/>
              </a:rPr>
              <a:t>Delivered </a:t>
            </a:r>
          </a:p>
          <a:p>
            <a:pPr algn="l" marL="0" indent="0" lvl="0">
              <a:lnSpc>
                <a:spcPts val="1760"/>
              </a:lnSpc>
              <a:spcBef>
                <a:spcPct val="0"/>
              </a:spcBef>
            </a:pPr>
            <a:r>
              <a:rPr lang="en-US" sz="1600" strike="noStrike" u="none">
                <a:solidFill>
                  <a:srgbClr val="3D3C42"/>
                </a:solidFill>
                <a:latin typeface="Inter"/>
                <a:ea typeface="Inter"/>
                <a:cs typeface="Inter"/>
                <a:sym typeface="Inter"/>
              </a:rPr>
              <a:t>Late</a:t>
            </a:r>
          </a:p>
        </p:txBody>
      </p:sp>
      <p:sp>
        <p:nvSpPr>
          <p:cNvPr name="TextBox 21" id="21"/>
          <p:cNvSpPr txBox="true"/>
          <p:nvPr/>
        </p:nvSpPr>
        <p:spPr>
          <a:xfrm rot="0">
            <a:off x="6525788" y="7572077"/>
            <a:ext cx="2618212" cy="450215"/>
          </a:xfrm>
          <a:prstGeom prst="rect">
            <a:avLst/>
          </a:prstGeom>
        </p:spPr>
        <p:txBody>
          <a:bodyPr anchor="t" rtlCol="false" tIns="0" lIns="0" bIns="0" rIns="0">
            <a:spAutoFit/>
          </a:bodyPr>
          <a:lstStyle/>
          <a:p>
            <a:pPr algn="ctr">
              <a:lnSpc>
                <a:spcPts val="3520"/>
              </a:lnSpc>
            </a:pPr>
            <a:r>
              <a:rPr lang="en-US" b="true" sz="3200">
                <a:solidFill>
                  <a:srgbClr val="7F5283"/>
                </a:solidFill>
                <a:latin typeface="Inter Bold"/>
                <a:ea typeface="Inter Bold"/>
                <a:cs typeface="Inter Bold"/>
                <a:sym typeface="Inter Bold"/>
              </a:rPr>
              <a:t>2026</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EFBF6"/>
        </a:solidFill>
      </p:bgPr>
    </p:bg>
    <p:spTree>
      <p:nvGrpSpPr>
        <p:cNvPr id="1" name=""/>
        <p:cNvGrpSpPr/>
        <p:nvPr/>
      </p:nvGrpSpPr>
      <p:grpSpPr>
        <a:xfrm>
          <a:off x="0" y="0"/>
          <a:ext cx="0" cy="0"/>
          <a:chOff x="0" y="0"/>
          <a:chExt cx="0" cy="0"/>
        </a:xfrm>
      </p:grpSpPr>
      <p:grpSp>
        <p:nvGrpSpPr>
          <p:cNvPr name="Group 2" id="2"/>
          <p:cNvGrpSpPr/>
          <p:nvPr/>
        </p:nvGrpSpPr>
        <p:grpSpPr>
          <a:xfrm rot="0">
            <a:off x="9420965" y="1324937"/>
            <a:ext cx="7616207" cy="7637126"/>
            <a:chOff x="0" y="0"/>
            <a:chExt cx="2650390" cy="2657670"/>
          </a:xfrm>
        </p:grpSpPr>
        <p:sp>
          <p:nvSpPr>
            <p:cNvPr name="Freeform 3" id="3"/>
            <p:cNvSpPr/>
            <p:nvPr/>
          </p:nvSpPr>
          <p:spPr>
            <a:xfrm flipH="false" flipV="false" rot="0">
              <a:off x="0" y="0"/>
              <a:ext cx="2650390" cy="2657670"/>
            </a:xfrm>
            <a:custGeom>
              <a:avLst/>
              <a:gdLst/>
              <a:ahLst/>
              <a:cxnLst/>
              <a:rect r="r" b="b" t="t" l="l"/>
              <a:pathLst>
                <a:path h="2657670" w="2650390">
                  <a:moveTo>
                    <a:pt x="20330" y="0"/>
                  </a:moveTo>
                  <a:lnTo>
                    <a:pt x="2630060" y="0"/>
                  </a:lnTo>
                  <a:cubicBezTo>
                    <a:pt x="2641288" y="0"/>
                    <a:pt x="2650390" y="9102"/>
                    <a:pt x="2650390" y="20330"/>
                  </a:cubicBezTo>
                  <a:lnTo>
                    <a:pt x="2650390" y="2637340"/>
                  </a:lnTo>
                  <a:cubicBezTo>
                    <a:pt x="2650390" y="2642732"/>
                    <a:pt x="2648248" y="2647903"/>
                    <a:pt x="2644435" y="2651715"/>
                  </a:cubicBezTo>
                  <a:cubicBezTo>
                    <a:pt x="2640623" y="2655528"/>
                    <a:pt x="2635452" y="2657670"/>
                    <a:pt x="2630060" y="2657670"/>
                  </a:cubicBezTo>
                  <a:lnTo>
                    <a:pt x="20330" y="2657670"/>
                  </a:lnTo>
                  <a:cubicBezTo>
                    <a:pt x="14938" y="2657670"/>
                    <a:pt x="9767" y="2655528"/>
                    <a:pt x="5955" y="2651715"/>
                  </a:cubicBezTo>
                  <a:cubicBezTo>
                    <a:pt x="2142" y="2647903"/>
                    <a:pt x="0" y="2642732"/>
                    <a:pt x="0" y="2637340"/>
                  </a:cubicBezTo>
                  <a:lnTo>
                    <a:pt x="0" y="20330"/>
                  </a:lnTo>
                  <a:cubicBezTo>
                    <a:pt x="0" y="14938"/>
                    <a:pt x="2142" y="9767"/>
                    <a:pt x="5955" y="5955"/>
                  </a:cubicBezTo>
                  <a:cubicBezTo>
                    <a:pt x="9767" y="2142"/>
                    <a:pt x="14938" y="0"/>
                    <a:pt x="20330" y="0"/>
                  </a:cubicBezTo>
                  <a:close/>
                </a:path>
              </a:pathLst>
            </a:custGeom>
            <a:ln w="38100" cap="sq">
              <a:solidFill>
                <a:srgbClr val="A6D1E6"/>
              </a:solidFill>
              <a:prstDash val="solid"/>
              <a:miter/>
            </a:ln>
          </p:spPr>
        </p:sp>
        <p:sp>
          <p:nvSpPr>
            <p:cNvPr name="TextBox 4" id="4"/>
            <p:cNvSpPr txBox="true"/>
            <p:nvPr/>
          </p:nvSpPr>
          <p:spPr>
            <a:xfrm>
              <a:off x="0" y="-38100"/>
              <a:ext cx="2650390" cy="2695770"/>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10136451" y="1921567"/>
            <a:ext cx="1180336" cy="293370"/>
          </a:xfrm>
          <a:prstGeom prst="rect">
            <a:avLst/>
          </a:prstGeom>
        </p:spPr>
        <p:txBody>
          <a:bodyPr anchor="t" rtlCol="false" tIns="0" lIns="0" bIns="0" rIns="0">
            <a:spAutoFit/>
          </a:bodyPr>
          <a:lstStyle/>
          <a:p>
            <a:pPr algn="l">
              <a:lnSpc>
                <a:spcPts val="2310"/>
              </a:lnSpc>
            </a:pPr>
            <a:r>
              <a:rPr lang="en-US" sz="2100" b="true">
                <a:solidFill>
                  <a:srgbClr val="3D3C42"/>
                </a:solidFill>
                <a:latin typeface="Inter Bold"/>
                <a:ea typeface="Inter Bold"/>
                <a:cs typeface="Inter Bold"/>
                <a:sym typeface="Inter Bold"/>
              </a:rPr>
              <a:t>01.</a:t>
            </a:r>
          </a:p>
        </p:txBody>
      </p:sp>
      <p:sp>
        <p:nvSpPr>
          <p:cNvPr name="TextBox 6" id="6"/>
          <p:cNvSpPr txBox="true"/>
          <p:nvPr/>
        </p:nvSpPr>
        <p:spPr>
          <a:xfrm rot="0">
            <a:off x="10136451" y="2803250"/>
            <a:ext cx="1180336" cy="293370"/>
          </a:xfrm>
          <a:prstGeom prst="rect">
            <a:avLst/>
          </a:prstGeom>
        </p:spPr>
        <p:txBody>
          <a:bodyPr anchor="t" rtlCol="false" tIns="0" lIns="0" bIns="0" rIns="0">
            <a:spAutoFit/>
          </a:bodyPr>
          <a:lstStyle/>
          <a:p>
            <a:pPr algn="l">
              <a:lnSpc>
                <a:spcPts val="2310"/>
              </a:lnSpc>
            </a:pPr>
            <a:r>
              <a:rPr lang="en-US" sz="2100" b="true">
                <a:solidFill>
                  <a:srgbClr val="3D3C42"/>
                </a:solidFill>
                <a:latin typeface="Inter Bold"/>
                <a:ea typeface="Inter Bold"/>
                <a:cs typeface="Inter Bold"/>
                <a:sym typeface="Inter Bold"/>
              </a:rPr>
              <a:t>02.</a:t>
            </a:r>
          </a:p>
        </p:txBody>
      </p:sp>
      <p:sp>
        <p:nvSpPr>
          <p:cNvPr name="TextBox 7" id="7"/>
          <p:cNvSpPr txBox="true"/>
          <p:nvPr/>
        </p:nvSpPr>
        <p:spPr>
          <a:xfrm rot="0">
            <a:off x="10136451" y="3684933"/>
            <a:ext cx="1180336" cy="293370"/>
          </a:xfrm>
          <a:prstGeom prst="rect">
            <a:avLst/>
          </a:prstGeom>
        </p:spPr>
        <p:txBody>
          <a:bodyPr anchor="t" rtlCol="false" tIns="0" lIns="0" bIns="0" rIns="0">
            <a:spAutoFit/>
          </a:bodyPr>
          <a:lstStyle/>
          <a:p>
            <a:pPr algn="l">
              <a:lnSpc>
                <a:spcPts val="2310"/>
              </a:lnSpc>
            </a:pPr>
            <a:r>
              <a:rPr lang="en-US" sz="2100" b="true">
                <a:solidFill>
                  <a:srgbClr val="3D3C42"/>
                </a:solidFill>
                <a:latin typeface="Inter Bold"/>
                <a:ea typeface="Inter Bold"/>
                <a:cs typeface="Inter Bold"/>
                <a:sym typeface="Inter Bold"/>
              </a:rPr>
              <a:t>03.</a:t>
            </a:r>
          </a:p>
        </p:txBody>
      </p:sp>
      <p:sp>
        <p:nvSpPr>
          <p:cNvPr name="TextBox 8" id="8"/>
          <p:cNvSpPr txBox="true"/>
          <p:nvPr/>
        </p:nvSpPr>
        <p:spPr>
          <a:xfrm rot="0">
            <a:off x="10136451" y="4566617"/>
            <a:ext cx="1180336" cy="293370"/>
          </a:xfrm>
          <a:prstGeom prst="rect">
            <a:avLst/>
          </a:prstGeom>
        </p:spPr>
        <p:txBody>
          <a:bodyPr anchor="t" rtlCol="false" tIns="0" lIns="0" bIns="0" rIns="0">
            <a:spAutoFit/>
          </a:bodyPr>
          <a:lstStyle/>
          <a:p>
            <a:pPr algn="l">
              <a:lnSpc>
                <a:spcPts val="2310"/>
              </a:lnSpc>
            </a:pPr>
            <a:r>
              <a:rPr lang="en-US" sz="2100" b="true">
                <a:solidFill>
                  <a:srgbClr val="3D3C42"/>
                </a:solidFill>
                <a:latin typeface="Inter Bold"/>
                <a:ea typeface="Inter Bold"/>
                <a:cs typeface="Inter Bold"/>
                <a:sym typeface="Inter Bold"/>
              </a:rPr>
              <a:t>04.</a:t>
            </a:r>
          </a:p>
        </p:txBody>
      </p:sp>
      <p:sp>
        <p:nvSpPr>
          <p:cNvPr name="TextBox 9" id="9"/>
          <p:cNvSpPr txBox="true"/>
          <p:nvPr/>
        </p:nvSpPr>
        <p:spPr>
          <a:xfrm rot="0">
            <a:off x="10944724" y="1919330"/>
            <a:ext cx="5154165" cy="293370"/>
          </a:xfrm>
          <a:prstGeom prst="rect">
            <a:avLst/>
          </a:prstGeom>
        </p:spPr>
        <p:txBody>
          <a:bodyPr anchor="t" rtlCol="false" tIns="0" lIns="0" bIns="0" rIns="0">
            <a:spAutoFit/>
          </a:bodyPr>
          <a:lstStyle/>
          <a:p>
            <a:pPr algn="l" marL="0" indent="0" lvl="0">
              <a:lnSpc>
                <a:spcPts val="2310"/>
              </a:lnSpc>
              <a:spcBef>
                <a:spcPct val="0"/>
              </a:spcBef>
            </a:pPr>
            <a:r>
              <a:rPr lang="en-US" sz="2100" strike="noStrike" u="none">
                <a:solidFill>
                  <a:srgbClr val="3D3C42"/>
                </a:solidFill>
                <a:latin typeface="Inter"/>
                <a:ea typeface="Inter"/>
                <a:cs typeface="Inter"/>
                <a:sym typeface="Inter"/>
              </a:rPr>
              <a:t>Executive Summary</a:t>
            </a:r>
          </a:p>
        </p:txBody>
      </p:sp>
      <p:sp>
        <p:nvSpPr>
          <p:cNvPr name="TextBox 10" id="10"/>
          <p:cNvSpPr txBox="true"/>
          <p:nvPr/>
        </p:nvSpPr>
        <p:spPr>
          <a:xfrm rot="0">
            <a:off x="10944724" y="2801333"/>
            <a:ext cx="5154165" cy="293370"/>
          </a:xfrm>
          <a:prstGeom prst="rect">
            <a:avLst/>
          </a:prstGeom>
        </p:spPr>
        <p:txBody>
          <a:bodyPr anchor="t" rtlCol="false" tIns="0" lIns="0" bIns="0" rIns="0">
            <a:spAutoFit/>
          </a:bodyPr>
          <a:lstStyle/>
          <a:p>
            <a:pPr algn="l" marL="0" indent="0" lvl="0">
              <a:lnSpc>
                <a:spcPts val="2310"/>
              </a:lnSpc>
              <a:spcBef>
                <a:spcPct val="0"/>
              </a:spcBef>
            </a:pPr>
            <a:r>
              <a:rPr lang="en-US" sz="2100" strike="noStrike" u="none">
                <a:solidFill>
                  <a:srgbClr val="3D3C42"/>
                </a:solidFill>
                <a:latin typeface="Inter"/>
                <a:ea typeface="Inter"/>
                <a:cs typeface="Inter"/>
                <a:sym typeface="Inter"/>
              </a:rPr>
              <a:t>Business Context &amp; Data</a:t>
            </a:r>
          </a:p>
        </p:txBody>
      </p:sp>
      <p:sp>
        <p:nvSpPr>
          <p:cNvPr name="TextBox 11" id="11"/>
          <p:cNvSpPr txBox="true"/>
          <p:nvPr/>
        </p:nvSpPr>
        <p:spPr>
          <a:xfrm rot="0">
            <a:off x="10944724" y="3683336"/>
            <a:ext cx="5154165" cy="293370"/>
          </a:xfrm>
          <a:prstGeom prst="rect">
            <a:avLst/>
          </a:prstGeom>
        </p:spPr>
        <p:txBody>
          <a:bodyPr anchor="t" rtlCol="false" tIns="0" lIns="0" bIns="0" rIns="0">
            <a:spAutoFit/>
          </a:bodyPr>
          <a:lstStyle/>
          <a:p>
            <a:pPr algn="l" marL="0" indent="0" lvl="0">
              <a:lnSpc>
                <a:spcPts val="2310"/>
              </a:lnSpc>
              <a:spcBef>
                <a:spcPct val="0"/>
              </a:spcBef>
            </a:pPr>
            <a:r>
              <a:rPr lang="en-US" sz="2100" strike="noStrike" u="none">
                <a:solidFill>
                  <a:srgbClr val="3D3C42"/>
                </a:solidFill>
                <a:latin typeface="Inter"/>
                <a:ea typeface="Inter"/>
                <a:cs typeface="Inter"/>
                <a:sym typeface="Inter"/>
              </a:rPr>
              <a:t>Key Performance Indicators</a:t>
            </a:r>
          </a:p>
        </p:txBody>
      </p:sp>
      <p:sp>
        <p:nvSpPr>
          <p:cNvPr name="TextBox 12" id="12"/>
          <p:cNvSpPr txBox="true"/>
          <p:nvPr/>
        </p:nvSpPr>
        <p:spPr>
          <a:xfrm rot="0">
            <a:off x="10944724" y="4565339"/>
            <a:ext cx="5154165" cy="293370"/>
          </a:xfrm>
          <a:prstGeom prst="rect">
            <a:avLst/>
          </a:prstGeom>
        </p:spPr>
        <p:txBody>
          <a:bodyPr anchor="t" rtlCol="false" tIns="0" lIns="0" bIns="0" rIns="0">
            <a:spAutoFit/>
          </a:bodyPr>
          <a:lstStyle/>
          <a:p>
            <a:pPr algn="l" marL="0" indent="0" lvl="0">
              <a:lnSpc>
                <a:spcPts val="2310"/>
              </a:lnSpc>
              <a:spcBef>
                <a:spcPct val="0"/>
              </a:spcBef>
            </a:pPr>
            <a:r>
              <a:rPr lang="en-US" sz="2100" strike="noStrike" u="none">
                <a:solidFill>
                  <a:srgbClr val="3D3C42"/>
                </a:solidFill>
                <a:latin typeface="Inter"/>
                <a:ea typeface="Inter"/>
                <a:cs typeface="Inter"/>
                <a:sym typeface="Inter"/>
              </a:rPr>
              <a:t>Profit vs Delivery Time</a:t>
            </a:r>
          </a:p>
        </p:txBody>
      </p:sp>
      <p:sp>
        <p:nvSpPr>
          <p:cNvPr name="TextBox 13" id="13"/>
          <p:cNvSpPr txBox="true"/>
          <p:nvPr/>
        </p:nvSpPr>
        <p:spPr>
          <a:xfrm rot="0">
            <a:off x="10136451" y="5448300"/>
            <a:ext cx="1180336" cy="293370"/>
          </a:xfrm>
          <a:prstGeom prst="rect">
            <a:avLst/>
          </a:prstGeom>
        </p:spPr>
        <p:txBody>
          <a:bodyPr anchor="t" rtlCol="false" tIns="0" lIns="0" bIns="0" rIns="0">
            <a:spAutoFit/>
          </a:bodyPr>
          <a:lstStyle/>
          <a:p>
            <a:pPr algn="l">
              <a:lnSpc>
                <a:spcPts val="2310"/>
              </a:lnSpc>
            </a:pPr>
            <a:r>
              <a:rPr lang="en-US" sz="2100" b="true">
                <a:solidFill>
                  <a:srgbClr val="3D3C42"/>
                </a:solidFill>
                <a:latin typeface="Inter Bold"/>
                <a:ea typeface="Inter Bold"/>
                <a:cs typeface="Inter Bold"/>
                <a:sym typeface="Inter Bold"/>
              </a:rPr>
              <a:t>05.</a:t>
            </a:r>
          </a:p>
        </p:txBody>
      </p:sp>
      <p:sp>
        <p:nvSpPr>
          <p:cNvPr name="TextBox 14" id="14"/>
          <p:cNvSpPr txBox="true"/>
          <p:nvPr/>
        </p:nvSpPr>
        <p:spPr>
          <a:xfrm rot="0">
            <a:off x="10136451" y="6329983"/>
            <a:ext cx="1180336" cy="293370"/>
          </a:xfrm>
          <a:prstGeom prst="rect">
            <a:avLst/>
          </a:prstGeom>
        </p:spPr>
        <p:txBody>
          <a:bodyPr anchor="t" rtlCol="false" tIns="0" lIns="0" bIns="0" rIns="0">
            <a:spAutoFit/>
          </a:bodyPr>
          <a:lstStyle/>
          <a:p>
            <a:pPr algn="l">
              <a:lnSpc>
                <a:spcPts val="2310"/>
              </a:lnSpc>
            </a:pPr>
            <a:r>
              <a:rPr lang="en-US" sz="2100" b="true">
                <a:solidFill>
                  <a:srgbClr val="3D3C42"/>
                </a:solidFill>
                <a:latin typeface="Inter Bold"/>
                <a:ea typeface="Inter Bold"/>
                <a:cs typeface="Inter Bold"/>
                <a:sym typeface="Inter Bold"/>
              </a:rPr>
              <a:t>06.</a:t>
            </a:r>
          </a:p>
        </p:txBody>
      </p:sp>
      <p:sp>
        <p:nvSpPr>
          <p:cNvPr name="TextBox 15" id="15"/>
          <p:cNvSpPr txBox="true"/>
          <p:nvPr/>
        </p:nvSpPr>
        <p:spPr>
          <a:xfrm rot="0">
            <a:off x="10136451" y="7211667"/>
            <a:ext cx="1180336" cy="293370"/>
          </a:xfrm>
          <a:prstGeom prst="rect">
            <a:avLst/>
          </a:prstGeom>
        </p:spPr>
        <p:txBody>
          <a:bodyPr anchor="t" rtlCol="false" tIns="0" lIns="0" bIns="0" rIns="0">
            <a:spAutoFit/>
          </a:bodyPr>
          <a:lstStyle/>
          <a:p>
            <a:pPr algn="l">
              <a:lnSpc>
                <a:spcPts val="2310"/>
              </a:lnSpc>
            </a:pPr>
            <a:r>
              <a:rPr lang="en-US" sz="2100" b="true">
                <a:solidFill>
                  <a:srgbClr val="3D3C42"/>
                </a:solidFill>
                <a:latin typeface="Inter Bold"/>
                <a:ea typeface="Inter Bold"/>
                <a:cs typeface="Inter Bold"/>
                <a:sym typeface="Inter Bold"/>
              </a:rPr>
              <a:t>07.</a:t>
            </a:r>
          </a:p>
        </p:txBody>
      </p:sp>
      <p:sp>
        <p:nvSpPr>
          <p:cNvPr name="TextBox 16" id="16"/>
          <p:cNvSpPr txBox="true"/>
          <p:nvPr/>
        </p:nvSpPr>
        <p:spPr>
          <a:xfrm rot="0">
            <a:off x="10136451" y="8093350"/>
            <a:ext cx="1180336" cy="293370"/>
          </a:xfrm>
          <a:prstGeom prst="rect">
            <a:avLst/>
          </a:prstGeom>
        </p:spPr>
        <p:txBody>
          <a:bodyPr anchor="t" rtlCol="false" tIns="0" lIns="0" bIns="0" rIns="0">
            <a:spAutoFit/>
          </a:bodyPr>
          <a:lstStyle/>
          <a:p>
            <a:pPr algn="l">
              <a:lnSpc>
                <a:spcPts val="2310"/>
              </a:lnSpc>
            </a:pPr>
            <a:r>
              <a:rPr lang="en-US" sz="2100" b="true">
                <a:solidFill>
                  <a:srgbClr val="3D3C42"/>
                </a:solidFill>
                <a:latin typeface="Inter Bold"/>
                <a:ea typeface="Inter Bold"/>
                <a:cs typeface="Inter Bold"/>
                <a:sym typeface="Inter Bold"/>
              </a:rPr>
              <a:t>08.</a:t>
            </a:r>
          </a:p>
        </p:txBody>
      </p:sp>
      <p:sp>
        <p:nvSpPr>
          <p:cNvPr name="TextBox 17" id="17"/>
          <p:cNvSpPr txBox="true"/>
          <p:nvPr/>
        </p:nvSpPr>
        <p:spPr>
          <a:xfrm rot="0">
            <a:off x="10944724" y="5447341"/>
            <a:ext cx="5154165" cy="293370"/>
          </a:xfrm>
          <a:prstGeom prst="rect">
            <a:avLst/>
          </a:prstGeom>
        </p:spPr>
        <p:txBody>
          <a:bodyPr anchor="t" rtlCol="false" tIns="0" lIns="0" bIns="0" rIns="0">
            <a:spAutoFit/>
          </a:bodyPr>
          <a:lstStyle/>
          <a:p>
            <a:pPr algn="l" marL="0" indent="0" lvl="0">
              <a:lnSpc>
                <a:spcPts val="2310"/>
              </a:lnSpc>
              <a:spcBef>
                <a:spcPct val="0"/>
              </a:spcBef>
            </a:pPr>
            <a:r>
              <a:rPr lang="en-US" sz="2100" strike="noStrike" u="none">
                <a:solidFill>
                  <a:srgbClr val="3D3C42"/>
                </a:solidFill>
                <a:latin typeface="Inter"/>
                <a:ea typeface="Inter"/>
                <a:cs typeface="Inter"/>
                <a:sym typeface="Inter"/>
              </a:rPr>
              <a:t>Bottlenecks &amp; Root Causes</a:t>
            </a:r>
          </a:p>
        </p:txBody>
      </p:sp>
      <p:sp>
        <p:nvSpPr>
          <p:cNvPr name="TextBox 18" id="18"/>
          <p:cNvSpPr txBox="true"/>
          <p:nvPr/>
        </p:nvSpPr>
        <p:spPr>
          <a:xfrm rot="0">
            <a:off x="10944724" y="6329344"/>
            <a:ext cx="5154165" cy="293370"/>
          </a:xfrm>
          <a:prstGeom prst="rect">
            <a:avLst/>
          </a:prstGeom>
        </p:spPr>
        <p:txBody>
          <a:bodyPr anchor="t" rtlCol="false" tIns="0" lIns="0" bIns="0" rIns="0">
            <a:spAutoFit/>
          </a:bodyPr>
          <a:lstStyle/>
          <a:p>
            <a:pPr algn="l" marL="0" indent="0" lvl="0">
              <a:lnSpc>
                <a:spcPts val="2310"/>
              </a:lnSpc>
              <a:spcBef>
                <a:spcPct val="0"/>
              </a:spcBef>
            </a:pPr>
            <a:r>
              <a:rPr lang="en-US" sz="2100" strike="noStrike" u="none">
                <a:solidFill>
                  <a:srgbClr val="3D3C42"/>
                </a:solidFill>
                <a:latin typeface="Inter"/>
                <a:ea typeface="Inter"/>
                <a:cs typeface="Inter"/>
                <a:sym typeface="Inter"/>
              </a:rPr>
              <a:t>Time-Based Delay Patterns</a:t>
            </a:r>
          </a:p>
        </p:txBody>
      </p:sp>
      <p:sp>
        <p:nvSpPr>
          <p:cNvPr name="TextBox 19" id="19"/>
          <p:cNvSpPr txBox="true"/>
          <p:nvPr/>
        </p:nvSpPr>
        <p:spPr>
          <a:xfrm rot="0">
            <a:off x="10944724" y="7211347"/>
            <a:ext cx="5154165" cy="293370"/>
          </a:xfrm>
          <a:prstGeom prst="rect">
            <a:avLst/>
          </a:prstGeom>
        </p:spPr>
        <p:txBody>
          <a:bodyPr anchor="t" rtlCol="false" tIns="0" lIns="0" bIns="0" rIns="0">
            <a:spAutoFit/>
          </a:bodyPr>
          <a:lstStyle/>
          <a:p>
            <a:pPr algn="l" marL="0" indent="0" lvl="0">
              <a:lnSpc>
                <a:spcPts val="2310"/>
              </a:lnSpc>
              <a:spcBef>
                <a:spcPct val="0"/>
              </a:spcBef>
            </a:pPr>
            <a:r>
              <a:rPr lang="en-US" sz="2100" strike="noStrike" u="none">
                <a:solidFill>
                  <a:srgbClr val="3D3C42"/>
                </a:solidFill>
                <a:latin typeface="Inter"/>
                <a:ea typeface="Inter"/>
                <a:cs typeface="Inter"/>
                <a:sym typeface="Inter"/>
              </a:rPr>
              <a:t>Predictive Model Results</a:t>
            </a:r>
          </a:p>
        </p:txBody>
      </p:sp>
      <p:sp>
        <p:nvSpPr>
          <p:cNvPr name="TextBox 20" id="20"/>
          <p:cNvSpPr txBox="true"/>
          <p:nvPr/>
        </p:nvSpPr>
        <p:spPr>
          <a:xfrm rot="0">
            <a:off x="10944724" y="8093350"/>
            <a:ext cx="5154165" cy="293370"/>
          </a:xfrm>
          <a:prstGeom prst="rect">
            <a:avLst/>
          </a:prstGeom>
        </p:spPr>
        <p:txBody>
          <a:bodyPr anchor="t" rtlCol="false" tIns="0" lIns="0" bIns="0" rIns="0">
            <a:spAutoFit/>
          </a:bodyPr>
          <a:lstStyle/>
          <a:p>
            <a:pPr algn="l" marL="0" indent="0" lvl="0">
              <a:lnSpc>
                <a:spcPts val="2310"/>
              </a:lnSpc>
              <a:spcBef>
                <a:spcPct val="0"/>
              </a:spcBef>
            </a:pPr>
            <a:r>
              <a:rPr lang="en-US" sz="2100" strike="noStrike" u="none">
                <a:solidFill>
                  <a:srgbClr val="3D3C42"/>
                </a:solidFill>
                <a:latin typeface="Inter"/>
                <a:ea typeface="Inter"/>
                <a:cs typeface="Inter"/>
                <a:sym typeface="Inter"/>
              </a:rPr>
              <a:t>Recommendations &amp; Targets</a:t>
            </a:r>
          </a:p>
        </p:txBody>
      </p:sp>
      <p:sp>
        <p:nvSpPr>
          <p:cNvPr name="AutoShape 21" id="21"/>
          <p:cNvSpPr/>
          <p:nvPr/>
        </p:nvSpPr>
        <p:spPr>
          <a:xfrm flipV="true">
            <a:off x="16019016" y="1868009"/>
            <a:ext cx="386408" cy="381436"/>
          </a:xfrm>
          <a:prstGeom prst="line">
            <a:avLst/>
          </a:prstGeom>
          <a:ln cap="rnd" w="95250">
            <a:solidFill>
              <a:srgbClr val="7F5283"/>
            </a:solidFill>
            <a:prstDash val="solid"/>
            <a:headEnd type="none" len="sm" w="sm"/>
            <a:tailEnd type="arrow" len="sm" w="med"/>
          </a:ln>
        </p:spPr>
      </p:sp>
      <p:sp>
        <p:nvSpPr>
          <p:cNvPr name="AutoShape 22" id="22"/>
          <p:cNvSpPr/>
          <p:nvPr/>
        </p:nvSpPr>
        <p:spPr>
          <a:xfrm flipV="true">
            <a:off x="16019016" y="2749692"/>
            <a:ext cx="386408" cy="381436"/>
          </a:xfrm>
          <a:prstGeom prst="line">
            <a:avLst/>
          </a:prstGeom>
          <a:ln cap="rnd" w="95250">
            <a:solidFill>
              <a:srgbClr val="7F5283"/>
            </a:solidFill>
            <a:prstDash val="solid"/>
            <a:headEnd type="none" len="sm" w="sm"/>
            <a:tailEnd type="arrow" len="sm" w="med"/>
          </a:ln>
        </p:spPr>
      </p:sp>
      <p:sp>
        <p:nvSpPr>
          <p:cNvPr name="AutoShape 23" id="23"/>
          <p:cNvSpPr/>
          <p:nvPr/>
        </p:nvSpPr>
        <p:spPr>
          <a:xfrm flipV="true">
            <a:off x="16019016" y="3631375"/>
            <a:ext cx="386408" cy="381436"/>
          </a:xfrm>
          <a:prstGeom prst="line">
            <a:avLst/>
          </a:prstGeom>
          <a:ln cap="rnd" w="95250">
            <a:solidFill>
              <a:srgbClr val="7F5283"/>
            </a:solidFill>
            <a:prstDash val="solid"/>
            <a:headEnd type="none" len="sm" w="sm"/>
            <a:tailEnd type="arrow" len="sm" w="med"/>
          </a:ln>
        </p:spPr>
      </p:sp>
      <p:sp>
        <p:nvSpPr>
          <p:cNvPr name="AutoShape 24" id="24"/>
          <p:cNvSpPr/>
          <p:nvPr/>
        </p:nvSpPr>
        <p:spPr>
          <a:xfrm flipV="true">
            <a:off x="16019016" y="4513059"/>
            <a:ext cx="386408" cy="381436"/>
          </a:xfrm>
          <a:prstGeom prst="line">
            <a:avLst/>
          </a:prstGeom>
          <a:ln cap="rnd" w="95250">
            <a:solidFill>
              <a:srgbClr val="7F5283"/>
            </a:solidFill>
            <a:prstDash val="solid"/>
            <a:headEnd type="none" len="sm" w="sm"/>
            <a:tailEnd type="arrow" len="sm" w="med"/>
          </a:ln>
        </p:spPr>
      </p:sp>
      <p:sp>
        <p:nvSpPr>
          <p:cNvPr name="AutoShape 25" id="25"/>
          <p:cNvSpPr/>
          <p:nvPr/>
        </p:nvSpPr>
        <p:spPr>
          <a:xfrm flipV="true">
            <a:off x="16019016" y="5394742"/>
            <a:ext cx="386408" cy="381436"/>
          </a:xfrm>
          <a:prstGeom prst="line">
            <a:avLst/>
          </a:prstGeom>
          <a:ln cap="rnd" w="95250">
            <a:solidFill>
              <a:srgbClr val="7F5283"/>
            </a:solidFill>
            <a:prstDash val="solid"/>
            <a:headEnd type="none" len="sm" w="sm"/>
            <a:tailEnd type="arrow" len="sm" w="med"/>
          </a:ln>
        </p:spPr>
      </p:sp>
      <p:sp>
        <p:nvSpPr>
          <p:cNvPr name="AutoShape 26" id="26"/>
          <p:cNvSpPr/>
          <p:nvPr/>
        </p:nvSpPr>
        <p:spPr>
          <a:xfrm flipV="true">
            <a:off x="16019016" y="6276425"/>
            <a:ext cx="386408" cy="381436"/>
          </a:xfrm>
          <a:prstGeom prst="line">
            <a:avLst/>
          </a:prstGeom>
          <a:ln cap="rnd" w="95250">
            <a:solidFill>
              <a:srgbClr val="7F5283"/>
            </a:solidFill>
            <a:prstDash val="solid"/>
            <a:headEnd type="none" len="sm" w="sm"/>
            <a:tailEnd type="arrow" len="sm" w="med"/>
          </a:ln>
        </p:spPr>
      </p:sp>
      <p:sp>
        <p:nvSpPr>
          <p:cNvPr name="AutoShape 27" id="27"/>
          <p:cNvSpPr/>
          <p:nvPr/>
        </p:nvSpPr>
        <p:spPr>
          <a:xfrm flipV="true">
            <a:off x="16019016" y="7158109"/>
            <a:ext cx="386408" cy="381436"/>
          </a:xfrm>
          <a:prstGeom prst="line">
            <a:avLst/>
          </a:prstGeom>
          <a:ln cap="rnd" w="95250">
            <a:solidFill>
              <a:srgbClr val="7F5283"/>
            </a:solidFill>
            <a:prstDash val="solid"/>
            <a:headEnd type="none" len="sm" w="sm"/>
            <a:tailEnd type="arrow" len="sm" w="med"/>
          </a:ln>
        </p:spPr>
      </p:sp>
      <p:sp>
        <p:nvSpPr>
          <p:cNvPr name="AutoShape 28" id="28"/>
          <p:cNvSpPr/>
          <p:nvPr/>
        </p:nvSpPr>
        <p:spPr>
          <a:xfrm flipV="true">
            <a:off x="16019016" y="8039792"/>
            <a:ext cx="386408" cy="381436"/>
          </a:xfrm>
          <a:prstGeom prst="line">
            <a:avLst/>
          </a:prstGeom>
          <a:ln cap="rnd" w="95250">
            <a:solidFill>
              <a:srgbClr val="7F5283"/>
            </a:solidFill>
            <a:prstDash val="solid"/>
            <a:headEnd type="none" len="sm" w="sm"/>
            <a:tailEnd type="arrow" len="sm" w="med"/>
          </a:ln>
        </p:spPr>
      </p:sp>
      <p:grpSp>
        <p:nvGrpSpPr>
          <p:cNvPr name="Group 29" id="29"/>
          <p:cNvGrpSpPr/>
          <p:nvPr/>
        </p:nvGrpSpPr>
        <p:grpSpPr>
          <a:xfrm rot="0">
            <a:off x="1551855" y="4533678"/>
            <a:ext cx="6865859" cy="4259564"/>
            <a:chOff x="0" y="0"/>
            <a:chExt cx="2222175" cy="1378633"/>
          </a:xfrm>
        </p:grpSpPr>
        <p:sp>
          <p:nvSpPr>
            <p:cNvPr name="Freeform 30" id="30"/>
            <p:cNvSpPr/>
            <p:nvPr/>
          </p:nvSpPr>
          <p:spPr>
            <a:xfrm flipH="false" flipV="false" rot="0">
              <a:off x="0" y="0"/>
              <a:ext cx="2222175" cy="1378633"/>
            </a:xfrm>
            <a:custGeom>
              <a:avLst/>
              <a:gdLst/>
              <a:ahLst/>
              <a:cxnLst/>
              <a:rect r="r" b="b" t="t" l="l"/>
              <a:pathLst>
                <a:path h="1378633" w="2222175">
                  <a:moveTo>
                    <a:pt x="465531" y="1378633"/>
                  </a:moveTo>
                  <a:lnTo>
                    <a:pt x="2093508" y="1378633"/>
                  </a:lnTo>
                  <a:cubicBezTo>
                    <a:pt x="2164568" y="1378632"/>
                    <a:pt x="2222174" y="1321026"/>
                    <a:pt x="2222175" y="1249965"/>
                  </a:cubicBezTo>
                  <a:lnTo>
                    <a:pt x="2222175" y="584899"/>
                  </a:lnTo>
                  <a:cubicBezTo>
                    <a:pt x="2222175" y="513837"/>
                    <a:pt x="2164569" y="456231"/>
                    <a:pt x="2093508" y="456231"/>
                  </a:cubicBezTo>
                  <a:lnTo>
                    <a:pt x="864274" y="456231"/>
                  </a:lnTo>
                  <a:cubicBezTo>
                    <a:pt x="830150" y="456231"/>
                    <a:pt x="797423" y="442675"/>
                    <a:pt x="773293" y="418545"/>
                  </a:cubicBezTo>
                  <a:cubicBezTo>
                    <a:pt x="749163" y="394415"/>
                    <a:pt x="735607" y="361688"/>
                    <a:pt x="735607" y="327563"/>
                  </a:cubicBezTo>
                  <a:lnTo>
                    <a:pt x="735607" y="128668"/>
                  </a:lnTo>
                  <a:cubicBezTo>
                    <a:pt x="735607" y="57606"/>
                    <a:pt x="678000" y="0"/>
                    <a:pt x="606939" y="0"/>
                  </a:cubicBezTo>
                  <a:lnTo>
                    <a:pt x="128668" y="0"/>
                  </a:lnTo>
                  <a:cubicBezTo>
                    <a:pt x="57606" y="0"/>
                    <a:pt x="0" y="57606"/>
                    <a:pt x="0" y="128668"/>
                  </a:cubicBezTo>
                  <a:lnTo>
                    <a:pt x="0" y="873394"/>
                  </a:lnTo>
                  <a:cubicBezTo>
                    <a:pt x="-1" y="905046"/>
                    <a:pt x="11664" y="935587"/>
                    <a:pt x="32766" y="959178"/>
                  </a:cubicBezTo>
                  <a:lnTo>
                    <a:pt x="369633" y="1335750"/>
                  </a:lnTo>
                  <a:cubicBezTo>
                    <a:pt x="394042" y="1363037"/>
                    <a:pt x="428920" y="1378633"/>
                    <a:pt x="465531" y="1378633"/>
                  </a:cubicBezTo>
                  <a:close/>
                </a:path>
              </a:pathLst>
            </a:custGeom>
            <a:blipFill>
              <a:blip r:embed="rId3"/>
              <a:stretch>
                <a:fillRect l="0" t="-10371" r="0" b="-10371"/>
              </a:stretch>
            </a:blipFill>
          </p:spPr>
        </p:sp>
      </p:grpSp>
      <p:grpSp>
        <p:nvGrpSpPr>
          <p:cNvPr name="Group 31" id="31"/>
          <p:cNvGrpSpPr/>
          <p:nvPr/>
        </p:nvGrpSpPr>
        <p:grpSpPr>
          <a:xfrm rot="0">
            <a:off x="4060980" y="4047258"/>
            <a:ext cx="4387508" cy="1750973"/>
            <a:chOff x="0" y="0"/>
            <a:chExt cx="1526824" cy="609327"/>
          </a:xfrm>
        </p:grpSpPr>
        <p:sp>
          <p:nvSpPr>
            <p:cNvPr name="Freeform 32" id="32"/>
            <p:cNvSpPr/>
            <p:nvPr/>
          </p:nvSpPr>
          <p:spPr>
            <a:xfrm flipH="false" flipV="false" rot="0">
              <a:off x="0" y="0"/>
              <a:ext cx="1526824" cy="609327"/>
            </a:xfrm>
            <a:custGeom>
              <a:avLst/>
              <a:gdLst/>
              <a:ahLst/>
              <a:cxnLst/>
              <a:rect r="r" b="b" t="t" l="l"/>
              <a:pathLst>
                <a:path h="609327" w="1526824">
                  <a:moveTo>
                    <a:pt x="70581" y="0"/>
                  </a:moveTo>
                  <a:lnTo>
                    <a:pt x="1456243" y="0"/>
                  </a:lnTo>
                  <a:cubicBezTo>
                    <a:pt x="1495224" y="0"/>
                    <a:pt x="1526824" y="31600"/>
                    <a:pt x="1526824" y="70581"/>
                  </a:cubicBezTo>
                  <a:lnTo>
                    <a:pt x="1526824" y="538746"/>
                  </a:lnTo>
                  <a:cubicBezTo>
                    <a:pt x="1526824" y="557465"/>
                    <a:pt x="1519388" y="575418"/>
                    <a:pt x="1506151" y="588654"/>
                  </a:cubicBezTo>
                  <a:cubicBezTo>
                    <a:pt x="1492914" y="601891"/>
                    <a:pt x="1474962" y="609327"/>
                    <a:pt x="1456243" y="609327"/>
                  </a:cubicBezTo>
                  <a:lnTo>
                    <a:pt x="70581" y="609327"/>
                  </a:lnTo>
                  <a:cubicBezTo>
                    <a:pt x="51862" y="609327"/>
                    <a:pt x="33909" y="601891"/>
                    <a:pt x="20673" y="588654"/>
                  </a:cubicBezTo>
                  <a:cubicBezTo>
                    <a:pt x="7436" y="575418"/>
                    <a:pt x="0" y="557465"/>
                    <a:pt x="0" y="538746"/>
                  </a:cubicBezTo>
                  <a:lnTo>
                    <a:pt x="0" y="70581"/>
                  </a:lnTo>
                  <a:cubicBezTo>
                    <a:pt x="0" y="51862"/>
                    <a:pt x="7436" y="33909"/>
                    <a:pt x="20673" y="20673"/>
                  </a:cubicBezTo>
                  <a:cubicBezTo>
                    <a:pt x="33909" y="7436"/>
                    <a:pt x="51862" y="0"/>
                    <a:pt x="70581" y="0"/>
                  </a:cubicBezTo>
                  <a:close/>
                </a:path>
              </a:pathLst>
            </a:custGeom>
            <a:solidFill>
              <a:srgbClr val="A6D1E6"/>
            </a:solidFill>
            <a:ln w="19050" cap="rnd">
              <a:solidFill>
                <a:srgbClr val="A6D1E6"/>
              </a:solidFill>
              <a:prstDash val="solid"/>
              <a:round/>
            </a:ln>
          </p:spPr>
        </p:sp>
        <p:sp>
          <p:nvSpPr>
            <p:cNvPr name="TextBox 33" id="33"/>
            <p:cNvSpPr txBox="true"/>
            <p:nvPr/>
          </p:nvSpPr>
          <p:spPr>
            <a:xfrm>
              <a:off x="0" y="-38100"/>
              <a:ext cx="1526824" cy="647427"/>
            </a:xfrm>
            <a:prstGeom prst="rect">
              <a:avLst/>
            </a:prstGeom>
          </p:spPr>
          <p:txBody>
            <a:bodyPr anchor="ctr" rtlCol="false" tIns="50800" lIns="50800" bIns="50800" rIns="50800"/>
            <a:lstStyle/>
            <a:p>
              <a:pPr algn="ctr">
                <a:lnSpc>
                  <a:spcPts val="2659"/>
                </a:lnSpc>
              </a:pPr>
            </a:p>
          </p:txBody>
        </p:sp>
      </p:grpSp>
      <p:sp>
        <p:nvSpPr>
          <p:cNvPr name="TextBox 34" id="34"/>
          <p:cNvSpPr txBox="true"/>
          <p:nvPr/>
        </p:nvSpPr>
        <p:spPr>
          <a:xfrm rot="0">
            <a:off x="1551855" y="1541382"/>
            <a:ext cx="7592145" cy="680085"/>
          </a:xfrm>
          <a:prstGeom prst="rect">
            <a:avLst/>
          </a:prstGeom>
        </p:spPr>
        <p:txBody>
          <a:bodyPr anchor="t" rtlCol="false" tIns="0" lIns="0" bIns="0" rIns="0">
            <a:spAutoFit/>
          </a:bodyPr>
          <a:lstStyle/>
          <a:p>
            <a:pPr algn="l" marL="0" indent="0" lvl="0">
              <a:lnSpc>
                <a:spcPts val="5280"/>
              </a:lnSpc>
              <a:spcBef>
                <a:spcPct val="0"/>
              </a:spcBef>
            </a:pPr>
            <a:r>
              <a:rPr lang="en-US" b="true" sz="4800" strike="noStrike" u="none">
                <a:solidFill>
                  <a:srgbClr val="3D3C42"/>
                </a:solidFill>
                <a:latin typeface="Inter Bold"/>
                <a:ea typeface="Inter Bold"/>
                <a:cs typeface="Inter Bold"/>
                <a:sym typeface="Inter Bold"/>
              </a:rPr>
              <a:t>Agenda</a:t>
            </a:r>
          </a:p>
        </p:txBody>
      </p:sp>
      <p:sp>
        <p:nvSpPr>
          <p:cNvPr name="TextBox 35" id="35"/>
          <p:cNvSpPr txBox="true"/>
          <p:nvPr/>
        </p:nvSpPr>
        <p:spPr>
          <a:xfrm rot="0">
            <a:off x="1551855" y="2529643"/>
            <a:ext cx="6865859" cy="746760"/>
          </a:xfrm>
          <a:prstGeom prst="rect">
            <a:avLst/>
          </a:prstGeom>
        </p:spPr>
        <p:txBody>
          <a:bodyPr anchor="t" rtlCol="false" tIns="0" lIns="0" bIns="0" rIns="0">
            <a:spAutoFit/>
          </a:bodyPr>
          <a:lstStyle/>
          <a:p>
            <a:pPr algn="l" marL="0" indent="0" lvl="0">
              <a:lnSpc>
                <a:spcPts val="1980"/>
              </a:lnSpc>
              <a:spcBef>
                <a:spcPct val="0"/>
              </a:spcBef>
            </a:pPr>
            <a:r>
              <a:rPr lang="en-US" sz="1800" strike="noStrike" u="none">
                <a:solidFill>
                  <a:srgbClr val="3D3C42"/>
                </a:solidFill>
                <a:latin typeface="Inter"/>
                <a:ea typeface="Inter"/>
                <a:cs typeface="Inter"/>
                <a:sym typeface="Inter"/>
              </a:rPr>
              <a:t>A walk-through of the delivery problem, the KPIs behind it, where and why delays happen, a model that predicts them, and the actions to fix them.</a:t>
            </a:r>
          </a:p>
        </p:txBody>
      </p:sp>
      <p:sp>
        <p:nvSpPr>
          <p:cNvPr name="TextBox 36" id="36"/>
          <p:cNvSpPr txBox="true"/>
          <p:nvPr/>
        </p:nvSpPr>
        <p:spPr>
          <a:xfrm rot="0">
            <a:off x="4574262" y="4483960"/>
            <a:ext cx="3360943" cy="668020"/>
          </a:xfrm>
          <a:prstGeom prst="rect">
            <a:avLst/>
          </a:prstGeom>
        </p:spPr>
        <p:txBody>
          <a:bodyPr anchor="t" rtlCol="false" tIns="0" lIns="0" bIns="0" rIns="0">
            <a:spAutoFit/>
          </a:bodyPr>
          <a:lstStyle/>
          <a:p>
            <a:pPr algn="l" marL="0" indent="0" lvl="0">
              <a:lnSpc>
                <a:spcPts val="1760"/>
              </a:lnSpc>
              <a:spcBef>
                <a:spcPct val="0"/>
              </a:spcBef>
            </a:pPr>
            <a:r>
              <a:rPr lang="en-US" sz="1600" strike="noStrike" u="none">
                <a:solidFill>
                  <a:srgbClr val="3D3C42"/>
                </a:solidFill>
                <a:latin typeface="Inter"/>
                <a:ea typeface="Inter"/>
                <a:cs typeface="Inter"/>
                <a:sym typeface="Inter"/>
              </a:rPr>
              <a:t>All figures come from the Python analysis of 172,765 orders in the DataCo supply chain dataset.</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FEFBF6"/>
        </a:solidFill>
      </p:bgPr>
    </p:bg>
    <p:spTree>
      <p:nvGrpSpPr>
        <p:cNvPr id="1" name=""/>
        <p:cNvGrpSpPr/>
        <p:nvPr/>
      </p:nvGrpSpPr>
      <p:grpSpPr>
        <a:xfrm>
          <a:off x="0" y="0"/>
          <a:ext cx="0" cy="0"/>
          <a:chOff x="0" y="0"/>
          <a:chExt cx="0" cy="0"/>
        </a:xfrm>
      </p:grpSpPr>
      <p:grpSp>
        <p:nvGrpSpPr>
          <p:cNvPr name="Group 2" id="2"/>
          <p:cNvGrpSpPr/>
          <p:nvPr/>
        </p:nvGrpSpPr>
        <p:grpSpPr>
          <a:xfrm rot="0">
            <a:off x="12282932" y="1028700"/>
            <a:ext cx="4976368" cy="8229600"/>
            <a:chOff x="0" y="0"/>
            <a:chExt cx="1731743" cy="2863847"/>
          </a:xfrm>
        </p:grpSpPr>
        <p:sp>
          <p:nvSpPr>
            <p:cNvPr name="Freeform 3" id="3"/>
            <p:cNvSpPr/>
            <p:nvPr/>
          </p:nvSpPr>
          <p:spPr>
            <a:xfrm flipH="false" flipV="false" rot="0">
              <a:off x="0" y="0"/>
              <a:ext cx="1731743" cy="2863847"/>
            </a:xfrm>
            <a:custGeom>
              <a:avLst/>
              <a:gdLst/>
              <a:ahLst/>
              <a:cxnLst/>
              <a:rect r="r" b="b" t="t" l="l"/>
              <a:pathLst>
                <a:path h="2863847" w="1731743">
                  <a:moveTo>
                    <a:pt x="31115" y="0"/>
                  </a:moveTo>
                  <a:lnTo>
                    <a:pt x="1700629" y="0"/>
                  </a:lnTo>
                  <a:cubicBezTo>
                    <a:pt x="1717813" y="0"/>
                    <a:pt x="1731743" y="13931"/>
                    <a:pt x="1731743" y="31115"/>
                  </a:cubicBezTo>
                  <a:lnTo>
                    <a:pt x="1731743" y="2832732"/>
                  </a:lnTo>
                  <a:cubicBezTo>
                    <a:pt x="1731743" y="2849916"/>
                    <a:pt x="1717813" y="2863847"/>
                    <a:pt x="1700629" y="2863847"/>
                  </a:cubicBezTo>
                  <a:lnTo>
                    <a:pt x="31115" y="2863847"/>
                  </a:lnTo>
                  <a:cubicBezTo>
                    <a:pt x="13931" y="2863847"/>
                    <a:pt x="0" y="2849916"/>
                    <a:pt x="0" y="2832732"/>
                  </a:cubicBezTo>
                  <a:lnTo>
                    <a:pt x="0" y="31115"/>
                  </a:lnTo>
                  <a:cubicBezTo>
                    <a:pt x="0" y="13931"/>
                    <a:pt x="13931" y="0"/>
                    <a:pt x="31115" y="0"/>
                  </a:cubicBezTo>
                  <a:close/>
                </a:path>
              </a:pathLst>
            </a:custGeom>
            <a:ln w="38100" cap="sq">
              <a:solidFill>
                <a:srgbClr val="A6D1E6"/>
              </a:solidFill>
              <a:prstDash val="solid"/>
              <a:miter/>
            </a:ln>
          </p:spPr>
        </p:sp>
        <p:sp>
          <p:nvSpPr>
            <p:cNvPr name="TextBox 4" id="4"/>
            <p:cNvSpPr txBox="true"/>
            <p:nvPr/>
          </p:nvSpPr>
          <p:spPr>
            <a:xfrm>
              <a:off x="0" y="-38100"/>
              <a:ext cx="1731743" cy="2901947"/>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028700" y="6207437"/>
            <a:ext cx="3468449" cy="3050863"/>
            <a:chOff x="0" y="0"/>
            <a:chExt cx="1206998" cy="1061680"/>
          </a:xfrm>
        </p:grpSpPr>
        <p:sp>
          <p:nvSpPr>
            <p:cNvPr name="Freeform 6" id="6"/>
            <p:cNvSpPr/>
            <p:nvPr/>
          </p:nvSpPr>
          <p:spPr>
            <a:xfrm flipH="false" flipV="false" rot="0">
              <a:off x="0" y="0"/>
              <a:ext cx="1206998" cy="1061680"/>
            </a:xfrm>
            <a:custGeom>
              <a:avLst/>
              <a:gdLst/>
              <a:ahLst/>
              <a:cxnLst/>
              <a:rect r="r" b="b" t="t" l="l"/>
              <a:pathLst>
                <a:path h="1061680" w="1206998">
                  <a:moveTo>
                    <a:pt x="44642" y="0"/>
                  </a:moveTo>
                  <a:lnTo>
                    <a:pt x="1162356" y="0"/>
                  </a:lnTo>
                  <a:cubicBezTo>
                    <a:pt x="1174195" y="0"/>
                    <a:pt x="1185550" y="4703"/>
                    <a:pt x="1193922" y="13075"/>
                  </a:cubicBezTo>
                  <a:cubicBezTo>
                    <a:pt x="1202294" y="21447"/>
                    <a:pt x="1206998" y="32802"/>
                    <a:pt x="1206998" y="44642"/>
                  </a:cubicBezTo>
                  <a:lnTo>
                    <a:pt x="1206998" y="1017038"/>
                  </a:lnTo>
                  <a:cubicBezTo>
                    <a:pt x="1206998" y="1028878"/>
                    <a:pt x="1202294" y="1040233"/>
                    <a:pt x="1193922" y="1048605"/>
                  </a:cubicBezTo>
                  <a:cubicBezTo>
                    <a:pt x="1185550" y="1056977"/>
                    <a:pt x="1174195" y="1061680"/>
                    <a:pt x="1162356" y="1061680"/>
                  </a:cubicBezTo>
                  <a:lnTo>
                    <a:pt x="44642" y="1061680"/>
                  </a:lnTo>
                  <a:cubicBezTo>
                    <a:pt x="32802" y="1061680"/>
                    <a:pt x="21447" y="1056977"/>
                    <a:pt x="13075" y="1048605"/>
                  </a:cubicBezTo>
                  <a:cubicBezTo>
                    <a:pt x="4703" y="1040233"/>
                    <a:pt x="0" y="1028878"/>
                    <a:pt x="0" y="1017038"/>
                  </a:cubicBezTo>
                  <a:lnTo>
                    <a:pt x="0" y="44642"/>
                  </a:lnTo>
                  <a:cubicBezTo>
                    <a:pt x="0" y="32802"/>
                    <a:pt x="4703" y="21447"/>
                    <a:pt x="13075" y="13075"/>
                  </a:cubicBezTo>
                  <a:cubicBezTo>
                    <a:pt x="21447" y="4703"/>
                    <a:pt x="32802" y="0"/>
                    <a:pt x="44642" y="0"/>
                  </a:cubicBezTo>
                  <a:close/>
                </a:path>
              </a:pathLst>
            </a:custGeom>
            <a:ln w="38100" cap="sq">
              <a:solidFill>
                <a:srgbClr val="A6D1E6"/>
              </a:solidFill>
              <a:prstDash val="solid"/>
              <a:miter/>
            </a:ln>
          </p:spPr>
        </p:sp>
        <p:sp>
          <p:nvSpPr>
            <p:cNvPr name="TextBox 7" id="7"/>
            <p:cNvSpPr txBox="true"/>
            <p:nvPr/>
          </p:nvSpPr>
          <p:spPr>
            <a:xfrm>
              <a:off x="0" y="-38100"/>
              <a:ext cx="1206998" cy="109978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028700" y="2659714"/>
            <a:ext cx="3468449" cy="3328648"/>
            <a:chOff x="0" y="0"/>
            <a:chExt cx="1206998" cy="1158348"/>
          </a:xfrm>
        </p:grpSpPr>
        <p:sp>
          <p:nvSpPr>
            <p:cNvPr name="Freeform 9" id="9"/>
            <p:cNvSpPr/>
            <p:nvPr/>
          </p:nvSpPr>
          <p:spPr>
            <a:xfrm flipH="false" flipV="false" rot="0">
              <a:off x="0" y="0"/>
              <a:ext cx="1206998" cy="1158348"/>
            </a:xfrm>
            <a:custGeom>
              <a:avLst/>
              <a:gdLst/>
              <a:ahLst/>
              <a:cxnLst/>
              <a:rect r="r" b="b" t="t" l="l"/>
              <a:pathLst>
                <a:path h="1158348" w="1206998">
                  <a:moveTo>
                    <a:pt x="44642" y="0"/>
                  </a:moveTo>
                  <a:lnTo>
                    <a:pt x="1162356" y="0"/>
                  </a:lnTo>
                  <a:cubicBezTo>
                    <a:pt x="1174195" y="0"/>
                    <a:pt x="1185550" y="4703"/>
                    <a:pt x="1193922" y="13075"/>
                  </a:cubicBezTo>
                  <a:cubicBezTo>
                    <a:pt x="1202294" y="21447"/>
                    <a:pt x="1206998" y="32802"/>
                    <a:pt x="1206998" y="44642"/>
                  </a:cubicBezTo>
                  <a:lnTo>
                    <a:pt x="1206998" y="1113706"/>
                  </a:lnTo>
                  <a:cubicBezTo>
                    <a:pt x="1206998" y="1125546"/>
                    <a:pt x="1202294" y="1136900"/>
                    <a:pt x="1193922" y="1145272"/>
                  </a:cubicBezTo>
                  <a:cubicBezTo>
                    <a:pt x="1185550" y="1153645"/>
                    <a:pt x="1174195" y="1158348"/>
                    <a:pt x="1162356" y="1158348"/>
                  </a:cubicBezTo>
                  <a:lnTo>
                    <a:pt x="44642" y="1158348"/>
                  </a:lnTo>
                  <a:cubicBezTo>
                    <a:pt x="32802" y="1158348"/>
                    <a:pt x="21447" y="1153645"/>
                    <a:pt x="13075" y="1145272"/>
                  </a:cubicBezTo>
                  <a:cubicBezTo>
                    <a:pt x="4703" y="1136900"/>
                    <a:pt x="0" y="1125546"/>
                    <a:pt x="0" y="1113706"/>
                  </a:cubicBezTo>
                  <a:lnTo>
                    <a:pt x="0" y="44642"/>
                  </a:lnTo>
                  <a:cubicBezTo>
                    <a:pt x="0" y="32802"/>
                    <a:pt x="4703" y="21447"/>
                    <a:pt x="13075" y="13075"/>
                  </a:cubicBezTo>
                  <a:cubicBezTo>
                    <a:pt x="21447" y="4703"/>
                    <a:pt x="32802" y="0"/>
                    <a:pt x="44642" y="0"/>
                  </a:cubicBezTo>
                  <a:close/>
                </a:path>
              </a:pathLst>
            </a:custGeom>
            <a:solidFill>
              <a:srgbClr val="D2E6EE"/>
            </a:solidFill>
            <a:ln w="38100" cap="sq">
              <a:solidFill>
                <a:srgbClr val="A6D1E6"/>
              </a:solidFill>
              <a:prstDash val="solid"/>
              <a:miter/>
            </a:ln>
          </p:spPr>
        </p:sp>
        <p:sp>
          <p:nvSpPr>
            <p:cNvPr name="TextBox 10" id="10"/>
            <p:cNvSpPr txBox="true"/>
            <p:nvPr/>
          </p:nvSpPr>
          <p:spPr>
            <a:xfrm>
              <a:off x="0" y="-38100"/>
              <a:ext cx="1206998" cy="1196448"/>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4763225" y="6814183"/>
            <a:ext cx="7253632" cy="2444117"/>
            <a:chOff x="0" y="0"/>
            <a:chExt cx="2524217" cy="850537"/>
          </a:xfrm>
        </p:grpSpPr>
        <p:sp>
          <p:nvSpPr>
            <p:cNvPr name="Freeform 12" id="12"/>
            <p:cNvSpPr/>
            <p:nvPr/>
          </p:nvSpPr>
          <p:spPr>
            <a:xfrm flipH="false" flipV="false" rot="0">
              <a:off x="0" y="0"/>
              <a:ext cx="2524217" cy="850537"/>
            </a:xfrm>
            <a:custGeom>
              <a:avLst/>
              <a:gdLst/>
              <a:ahLst/>
              <a:cxnLst/>
              <a:rect r="r" b="b" t="t" l="l"/>
              <a:pathLst>
                <a:path h="850537" w="2524217">
                  <a:moveTo>
                    <a:pt x="21346" y="0"/>
                  </a:moveTo>
                  <a:lnTo>
                    <a:pt x="2502870" y="0"/>
                  </a:lnTo>
                  <a:cubicBezTo>
                    <a:pt x="2514659" y="0"/>
                    <a:pt x="2524217" y="9557"/>
                    <a:pt x="2524217" y="21346"/>
                  </a:cubicBezTo>
                  <a:lnTo>
                    <a:pt x="2524217" y="829190"/>
                  </a:lnTo>
                  <a:cubicBezTo>
                    <a:pt x="2524217" y="840980"/>
                    <a:pt x="2514659" y="850537"/>
                    <a:pt x="2502870" y="850537"/>
                  </a:cubicBezTo>
                  <a:lnTo>
                    <a:pt x="21346" y="850537"/>
                  </a:lnTo>
                  <a:cubicBezTo>
                    <a:pt x="9557" y="850537"/>
                    <a:pt x="0" y="840980"/>
                    <a:pt x="0" y="829190"/>
                  </a:cubicBezTo>
                  <a:lnTo>
                    <a:pt x="0" y="21346"/>
                  </a:lnTo>
                  <a:cubicBezTo>
                    <a:pt x="0" y="9557"/>
                    <a:pt x="9557" y="0"/>
                    <a:pt x="21346" y="0"/>
                  </a:cubicBezTo>
                  <a:close/>
                </a:path>
              </a:pathLst>
            </a:custGeom>
            <a:ln w="38100" cap="sq">
              <a:solidFill>
                <a:srgbClr val="A6D1E6"/>
              </a:solidFill>
              <a:prstDash val="solid"/>
              <a:miter/>
            </a:ln>
          </p:spPr>
        </p:sp>
        <p:sp>
          <p:nvSpPr>
            <p:cNvPr name="TextBox 13" id="13"/>
            <p:cNvSpPr txBox="true"/>
            <p:nvPr/>
          </p:nvSpPr>
          <p:spPr>
            <a:xfrm>
              <a:off x="0" y="-38100"/>
              <a:ext cx="2524217" cy="888637"/>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0">
            <a:off x="4763225" y="2659714"/>
            <a:ext cx="7253632" cy="3950566"/>
            <a:chOff x="0" y="0"/>
            <a:chExt cx="2524217" cy="1374771"/>
          </a:xfrm>
        </p:grpSpPr>
        <p:sp>
          <p:nvSpPr>
            <p:cNvPr name="Freeform 15" id="15"/>
            <p:cNvSpPr/>
            <p:nvPr/>
          </p:nvSpPr>
          <p:spPr>
            <a:xfrm flipH="false" flipV="false" rot="0">
              <a:off x="0" y="0"/>
              <a:ext cx="2524217" cy="1374771"/>
            </a:xfrm>
            <a:custGeom>
              <a:avLst/>
              <a:gdLst/>
              <a:ahLst/>
              <a:cxnLst/>
              <a:rect r="r" b="b" t="t" l="l"/>
              <a:pathLst>
                <a:path h="1374771" w="2524217">
                  <a:moveTo>
                    <a:pt x="21346" y="0"/>
                  </a:moveTo>
                  <a:lnTo>
                    <a:pt x="2502870" y="0"/>
                  </a:lnTo>
                  <a:cubicBezTo>
                    <a:pt x="2514659" y="0"/>
                    <a:pt x="2524217" y="9557"/>
                    <a:pt x="2524217" y="21346"/>
                  </a:cubicBezTo>
                  <a:lnTo>
                    <a:pt x="2524217" y="1353425"/>
                  </a:lnTo>
                  <a:cubicBezTo>
                    <a:pt x="2524217" y="1365214"/>
                    <a:pt x="2514659" y="1374771"/>
                    <a:pt x="2502870" y="1374771"/>
                  </a:cubicBezTo>
                  <a:lnTo>
                    <a:pt x="21346" y="1374771"/>
                  </a:lnTo>
                  <a:cubicBezTo>
                    <a:pt x="9557" y="1374771"/>
                    <a:pt x="0" y="1365214"/>
                    <a:pt x="0" y="1353425"/>
                  </a:cubicBezTo>
                  <a:lnTo>
                    <a:pt x="0" y="21346"/>
                  </a:lnTo>
                  <a:cubicBezTo>
                    <a:pt x="0" y="9557"/>
                    <a:pt x="9557" y="0"/>
                    <a:pt x="21346" y="0"/>
                  </a:cubicBezTo>
                  <a:close/>
                </a:path>
              </a:pathLst>
            </a:custGeom>
            <a:ln w="38100" cap="sq">
              <a:solidFill>
                <a:srgbClr val="A6D1E6"/>
              </a:solidFill>
              <a:prstDash val="solid"/>
              <a:miter/>
            </a:ln>
          </p:spPr>
        </p:sp>
        <p:sp>
          <p:nvSpPr>
            <p:cNvPr name="TextBox 16" id="16"/>
            <p:cNvSpPr txBox="true"/>
            <p:nvPr/>
          </p:nvSpPr>
          <p:spPr>
            <a:xfrm>
              <a:off x="0" y="-38100"/>
              <a:ext cx="2524217" cy="1412871"/>
            </a:xfrm>
            <a:prstGeom prst="rect">
              <a:avLst/>
            </a:prstGeom>
          </p:spPr>
          <p:txBody>
            <a:bodyPr anchor="ctr" rtlCol="false" tIns="50800" lIns="50800" bIns="50800" rIns="50800"/>
            <a:lstStyle/>
            <a:p>
              <a:pPr algn="ctr">
                <a:lnSpc>
                  <a:spcPts val="2659"/>
                </a:lnSpc>
              </a:pPr>
            </a:p>
          </p:txBody>
        </p:sp>
      </p:grpSp>
      <p:sp>
        <p:nvSpPr>
          <p:cNvPr name="AutoShape 17" id="17"/>
          <p:cNvSpPr/>
          <p:nvPr/>
        </p:nvSpPr>
        <p:spPr>
          <a:xfrm>
            <a:off x="12694530" y="3611981"/>
            <a:ext cx="4128512" cy="0"/>
          </a:xfrm>
          <a:prstGeom prst="line">
            <a:avLst/>
          </a:prstGeom>
          <a:ln cap="rnd" w="19050">
            <a:solidFill>
              <a:srgbClr val="A6D1E6"/>
            </a:solidFill>
            <a:prstDash val="solid"/>
            <a:headEnd type="none" len="sm" w="sm"/>
            <a:tailEnd type="none" len="sm" w="sm"/>
          </a:ln>
        </p:spPr>
      </p:sp>
      <p:sp>
        <p:nvSpPr>
          <p:cNvPr name="AutoShape 18" id="18"/>
          <p:cNvSpPr/>
          <p:nvPr/>
        </p:nvSpPr>
        <p:spPr>
          <a:xfrm>
            <a:off x="12706860" y="6430378"/>
            <a:ext cx="4128512" cy="0"/>
          </a:xfrm>
          <a:prstGeom prst="line">
            <a:avLst/>
          </a:prstGeom>
          <a:ln cap="rnd" w="19050">
            <a:solidFill>
              <a:srgbClr val="A6D1E6"/>
            </a:solidFill>
            <a:prstDash val="solid"/>
            <a:headEnd type="none" len="sm" w="sm"/>
            <a:tailEnd type="none" len="sm" w="sm"/>
          </a:ln>
        </p:spPr>
      </p:sp>
      <p:sp>
        <p:nvSpPr>
          <p:cNvPr name="TextBox 19" id="19"/>
          <p:cNvSpPr txBox="true"/>
          <p:nvPr/>
        </p:nvSpPr>
        <p:spPr>
          <a:xfrm rot="0">
            <a:off x="1028700" y="1076325"/>
            <a:ext cx="11254232" cy="680085"/>
          </a:xfrm>
          <a:prstGeom prst="rect">
            <a:avLst/>
          </a:prstGeom>
        </p:spPr>
        <p:txBody>
          <a:bodyPr anchor="t" rtlCol="false" tIns="0" lIns="0" bIns="0" rIns="0">
            <a:spAutoFit/>
          </a:bodyPr>
          <a:lstStyle/>
          <a:p>
            <a:pPr algn="l" marL="0" indent="0" lvl="0">
              <a:lnSpc>
                <a:spcPts val="5280"/>
              </a:lnSpc>
              <a:spcBef>
                <a:spcPct val="0"/>
              </a:spcBef>
            </a:pPr>
            <a:r>
              <a:rPr lang="en-US" b="true" sz="4800" strike="noStrike" u="none">
                <a:solidFill>
                  <a:srgbClr val="3D3C42"/>
                </a:solidFill>
                <a:latin typeface="Inter Bold"/>
                <a:ea typeface="Inter Bold"/>
                <a:cs typeface="Inter Bold"/>
                <a:sym typeface="Inter Bold"/>
              </a:rPr>
              <a:t>Executive Summary</a:t>
            </a:r>
          </a:p>
        </p:txBody>
      </p:sp>
      <p:sp>
        <p:nvSpPr>
          <p:cNvPr name="TextBox 20" id="20"/>
          <p:cNvSpPr txBox="true"/>
          <p:nvPr/>
        </p:nvSpPr>
        <p:spPr>
          <a:xfrm rot="0">
            <a:off x="12719190" y="1463040"/>
            <a:ext cx="4103852" cy="293370"/>
          </a:xfrm>
          <a:prstGeom prst="rect">
            <a:avLst/>
          </a:prstGeom>
        </p:spPr>
        <p:txBody>
          <a:bodyPr anchor="t" rtlCol="false" tIns="0" lIns="0" bIns="0" rIns="0">
            <a:spAutoFit/>
          </a:bodyPr>
          <a:lstStyle/>
          <a:p>
            <a:pPr algn="l" marL="0" indent="0" lvl="0">
              <a:lnSpc>
                <a:spcPts val="2310"/>
              </a:lnSpc>
              <a:spcBef>
                <a:spcPct val="0"/>
              </a:spcBef>
            </a:pPr>
            <a:r>
              <a:rPr lang="en-US" b="true" sz="2100" strike="noStrike" u="none">
                <a:solidFill>
                  <a:srgbClr val="3D3C42"/>
                </a:solidFill>
                <a:latin typeface="Inter Bold"/>
                <a:ea typeface="Inter Bold"/>
                <a:cs typeface="Inter Bold"/>
                <a:sym typeface="Inter Bold"/>
              </a:rPr>
              <a:t>Profit at Risk</a:t>
            </a:r>
          </a:p>
        </p:txBody>
      </p:sp>
      <p:sp>
        <p:nvSpPr>
          <p:cNvPr name="TextBox 21" id="21"/>
          <p:cNvSpPr txBox="true"/>
          <p:nvPr/>
        </p:nvSpPr>
        <p:spPr>
          <a:xfrm rot="0">
            <a:off x="12694530" y="2213021"/>
            <a:ext cx="1470848" cy="450215"/>
          </a:xfrm>
          <a:prstGeom prst="rect">
            <a:avLst/>
          </a:prstGeom>
        </p:spPr>
        <p:txBody>
          <a:bodyPr anchor="t" rtlCol="false" tIns="0" lIns="0" bIns="0" rIns="0">
            <a:spAutoFit/>
          </a:bodyPr>
          <a:lstStyle/>
          <a:p>
            <a:pPr algn="l" marL="0" indent="0" lvl="0">
              <a:lnSpc>
                <a:spcPts val="3520"/>
              </a:lnSpc>
              <a:spcBef>
                <a:spcPct val="0"/>
              </a:spcBef>
            </a:pPr>
            <a:r>
              <a:rPr lang="en-US" sz="3200" strike="noStrike" u="none">
                <a:solidFill>
                  <a:srgbClr val="7F5283"/>
                </a:solidFill>
                <a:latin typeface="Inter"/>
                <a:ea typeface="Inter"/>
                <a:cs typeface="Inter"/>
                <a:sym typeface="Inter"/>
              </a:rPr>
              <a:t>$2.2M</a:t>
            </a:r>
          </a:p>
        </p:txBody>
      </p:sp>
      <p:sp>
        <p:nvSpPr>
          <p:cNvPr name="TextBox 22" id="22"/>
          <p:cNvSpPr txBox="true"/>
          <p:nvPr/>
        </p:nvSpPr>
        <p:spPr>
          <a:xfrm rot="0">
            <a:off x="14165377" y="2203496"/>
            <a:ext cx="2210700" cy="499110"/>
          </a:xfrm>
          <a:prstGeom prst="rect">
            <a:avLst/>
          </a:prstGeom>
        </p:spPr>
        <p:txBody>
          <a:bodyPr anchor="t" rtlCol="false" tIns="0" lIns="0" bIns="0" rIns="0">
            <a:spAutoFit/>
          </a:bodyPr>
          <a:lstStyle/>
          <a:p>
            <a:pPr algn="l" marL="0" indent="0" lvl="0">
              <a:lnSpc>
                <a:spcPts val="1980"/>
              </a:lnSpc>
              <a:spcBef>
                <a:spcPct val="0"/>
              </a:spcBef>
            </a:pPr>
            <a:r>
              <a:rPr lang="en-US" sz="1800" strike="noStrike" u="none">
                <a:solidFill>
                  <a:srgbClr val="3D3C42"/>
                </a:solidFill>
                <a:latin typeface="Inter"/>
                <a:ea typeface="Inter"/>
                <a:cs typeface="Inter"/>
                <a:sym typeface="Inter"/>
              </a:rPr>
              <a:t>profit carried by late orders</a:t>
            </a:r>
          </a:p>
        </p:txBody>
      </p:sp>
      <p:sp>
        <p:nvSpPr>
          <p:cNvPr name="TextBox 23" id="23"/>
          <p:cNvSpPr txBox="true"/>
          <p:nvPr/>
        </p:nvSpPr>
        <p:spPr>
          <a:xfrm rot="0">
            <a:off x="12731521" y="4281437"/>
            <a:ext cx="4103852" cy="293370"/>
          </a:xfrm>
          <a:prstGeom prst="rect">
            <a:avLst/>
          </a:prstGeom>
        </p:spPr>
        <p:txBody>
          <a:bodyPr anchor="t" rtlCol="false" tIns="0" lIns="0" bIns="0" rIns="0">
            <a:spAutoFit/>
          </a:bodyPr>
          <a:lstStyle/>
          <a:p>
            <a:pPr algn="l" marL="0" indent="0" lvl="0">
              <a:lnSpc>
                <a:spcPts val="2310"/>
              </a:lnSpc>
              <a:spcBef>
                <a:spcPct val="0"/>
              </a:spcBef>
            </a:pPr>
            <a:r>
              <a:rPr lang="en-US" b="true" sz="2100" strike="noStrike" u="none">
                <a:solidFill>
                  <a:srgbClr val="3D3C42"/>
                </a:solidFill>
                <a:latin typeface="Inter Bold"/>
                <a:ea typeface="Inter Bold"/>
                <a:cs typeface="Inter Bold"/>
                <a:sym typeface="Inter Bold"/>
              </a:rPr>
              <a:t>Worst Region</a:t>
            </a:r>
          </a:p>
        </p:txBody>
      </p:sp>
      <p:sp>
        <p:nvSpPr>
          <p:cNvPr name="TextBox 24" id="24"/>
          <p:cNvSpPr txBox="true"/>
          <p:nvPr/>
        </p:nvSpPr>
        <p:spPr>
          <a:xfrm rot="0">
            <a:off x="12706860" y="5031418"/>
            <a:ext cx="1470848" cy="450215"/>
          </a:xfrm>
          <a:prstGeom prst="rect">
            <a:avLst/>
          </a:prstGeom>
        </p:spPr>
        <p:txBody>
          <a:bodyPr anchor="t" rtlCol="false" tIns="0" lIns="0" bIns="0" rIns="0">
            <a:spAutoFit/>
          </a:bodyPr>
          <a:lstStyle/>
          <a:p>
            <a:pPr algn="l" marL="0" indent="0" lvl="0">
              <a:lnSpc>
                <a:spcPts val="3520"/>
              </a:lnSpc>
              <a:spcBef>
                <a:spcPct val="0"/>
              </a:spcBef>
            </a:pPr>
            <a:r>
              <a:rPr lang="en-US" sz="3200" strike="noStrike" u="none">
                <a:solidFill>
                  <a:srgbClr val="7F5283"/>
                </a:solidFill>
                <a:latin typeface="Inter"/>
                <a:ea typeface="Inter"/>
                <a:cs typeface="Inter"/>
                <a:sym typeface="Inter"/>
              </a:rPr>
              <a:t>65.9%</a:t>
            </a:r>
          </a:p>
        </p:txBody>
      </p:sp>
      <p:sp>
        <p:nvSpPr>
          <p:cNvPr name="TextBox 25" id="25"/>
          <p:cNvSpPr txBox="true"/>
          <p:nvPr/>
        </p:nvSpPr>
        <p:spPr>
          <a:xfrm rot="0">
            <a:off x="14177707" y="5021893"/>
            <a:ext cx="2210700" cy="499110"/>
          </a:xfrm>
          <a:prstGeom prst="rect">
            <a:avLst/>
          </a:prstGeom>
        </p:spPr>
        <p:txBody>
          <a:bodyPr anchor="t" rtlCol="false" tIns="0" lIns="0" bIns="0" rIns="0">
            <a:spAutoFit/>
          </a:bodyPr>
          <a:lstStyle/>
          <a:p>
            <a:pPr algn="l" marL="0" indent="0" lvl="0">
              <a:lnSpc>
                <a:spcPts val="1980"/>
              </a:lnSpc>
              <a:spcBef>
                <a:spcPct val="0"/>
              </a:spcBef>
            </a:pPr>
            <a:r>
              <a:rPr lang="en-US" sz="1800" strike="noStrike" u="none">
                <a:solidFill>
                  <a:srgbClr val="3D3C42"/>
                </a:solidFill>
                <a:latin typeface="Inter"/>
                <a:ea typeface="Inter"/>
                <a:cs typeface="Inter"/>
                <a:sym typeface="Inter"/>
              </a:rPr>
              <a:t>late rate in Central Asia</a:t>
            </a:r>
          </a:p>
        </p:txBody>
      </p:sp>
      <p:sp>
        <p:nvSpPr>
          <p:cNvPr name="TextBox 26" id="26"/>
          <p:cNvSpPr txBox="true"/>
          <p:nvPr/>
        </p:nvSpPr>
        <p:spPr>
          <a:xfrm rot="0">
            <a:off x="12731521" y="7099834"/>
            <a:ext cx="4103852" cy="293370"/>
          </a:xfrm>
          <a:prstGeom prst="rect">
            <a:avLst/>
          </a:prstGeom>
        </p:spPr>
        <p:txBody>
          <a:bodyPr anchor="t" rtlCol="false" tIns="0" lIns="0" bIns="0" rIns="0">
            <a:spAutoFit/>
          </a:bodyPr>
          <a:lstStyle/>
          <a:p>
            <a:pPr algn="l" marL="0" indent="0" lvl="0">
              <a:lnSpc>
                <a:spcPts val="2310"/>
              </a:lnSpc>
              <a:spcBef>
                <a:spcPct val="0"/>
              </a:spcBef>
            </a:pPr>
            <a:r>
              <a:rPr lang="en-US" b="true" sz="2100" strike="noStrike" u="none">
                <a:solidFill>
                  <a:srgbClr val="3D3C42"/>
                </a:solidFill>
                <a:latin typeface="Inter Bold"/>
                <a:ea typeface="Inter Bold"/>
                <a:cs typeface="Inter Bold"/>
                <a:sym typeface="Inter Bold"/>
              </a:rPr>
              <a:t>Model Accuracy</a:t>
            </a:r>
          </a:p>
        </p:txBody>
      </p:sp>
      <p:sp>
        <p:nvSpPr>
          <p:cNvPr name="TextBox 27" id="27"/>
          <p:cNvSpPr txBox="true"/>
          <p:nvPr/>
        </p:nvSpPr>
        <p:spPr>
          <a:xfrm rot="0">
            <a:off x="12706860" y="7849814"/>
            <a:ext cx="1470848" cy="450215"/>
          </a:xfrm>
          <a:prstGeom prst="rect">
            <a:avLst/>
          </a:prstGeom>
        </p:spPr>
        <p:txBody>
          <a:bodyPr anchor="t" rtlCol="false" tIns="0" lIns="0" bIns="0" rIns="0">
            <a:spAutoFit/>
          </a:bodyPr>
          <a:lstStyle/>
          <a:p>
            <a:pPr algn="l" marL="0" indent="0" lvl="0">
              <a:lnSpc>
                <a:spcPts val="3520"/>
              </a:lnSpc>
              <a:spcBef>
                <a:spcPct val="0"/>
              </a:spcBef>
            </a:pPr>
            <a:r>
              <a:rPr lang="en-US" sz="3200" strike="noStrike" u="none">
                <a:solidFill>
                  <a:srgbClr val="7F5283"/>
                </a:solidFill>
                <a:latin typeface="Inter"/>
                <a:ea typeface="Inter"/>
                <a:cs typeface="Inter"/>
                <a:sym typeface="Inter"/>
              </a:rPr>
              <a:t>77%</a:t>
            </a:r>
          </a:p>
        </p:txBody>
      </p:sp>
      <p:sp>
        <p:nvSpPr>
          <p:cNvPr name="TextBox 28" id="28"/>
          <p:cNvSpPr txBox="true"/>
          <p:nvPr/>
        </p:nvSpPr>
        <p:spPr>
          <a:xfrm rot="0">
            <a:off x="14177707" y="7840289"/>
            <a:ext cx="2210700" cy="499110"/>
          </a:xfrm>
          <a:prstGeom prst="rect">
            <a:avLst/>
          </a:prstGeom>
        </p:spPr>
        <p:txBody>
          <a:bodyPr anchor="t" rtlCol="false" tIns="0" lIns="0" bIns="0" rIns="0">
            <a:spAutoFit/>
          </a:bodyPr>
          <a:lstStyle/>
          <a:p>
            <a:pPr algn="l" marL="0" indent="0" lvl="0">
              <a:lnSpc>
                <a:spcPts val="1980"/>
              </a:lnSpc>
              <a:spcBef>
                <a:spcPct val="0"/>
              </a:spcBef>
            </a:pPr>
            <a:r>
              <a:rPr lang="en-US" sz="1800" strike="noStrike" u="none">
                <a:solidFill>
                  <a:srgbClr val="3D3C42"/>
                </a:solidFill>
                <a:latin typeface="Inter"/>
                <a:ea typeface="Inter"/>
                <a:cs typeface="Inter"/>
                <a:sym typeface="Inter"/>
              </a:rPr>
              <a:t>Random Forest flags late orders</a:t>
            </a:r>
          </a:p>
        </p:txBody>
      </p:sp>
      <p:sp>
        <p:nvSpPr>
          <p:cNvPr name="TextBox 29" id="29"/>
          <p:cNvSpPr txBox="true"/>
          <p:nvPr/>
        </p:nvSpPr>
        <p:spPr>
          <a:xfrm rot="0">
            <a:off x="5040148" y="3036671"/>
            <a:ext cx="6667500" cy="293370"/>
          </a:xfrm>
          <a:prstGeom prst="rect">
            <a:avLst/>
          </a:prstGeom>
        </p:spPr>
        <p:txBody>
          <a:bodyPr anchor="t" rtlCol="false" tIns="0" lIns="0" bIns="0" rIns="0">
            <a:spAutoFit/>
          </a:bodyPr>
          <a:lstStyle/>
          <a:p>
            <a:pPr algn="l" marL="0" indent="0" lvl="0">
              <a:lnSpc>
                <a:spcPts val="2310"/>
              </a:lnSpc>
              <a:spcBef>
                <a:spcPct val="0"/>
              </a:spcBef>
            </a:pPr>
            <a:r>
              <a:rPr lang="en-US" b="true" sz="2100" strike="noStrike" u="none">
                <a:solidFill>
                  <a:srgbClr val="3D3C42"/>
                </a:solidFill>
                <a:latin typeface="Inter Bold"/>
                <a:ea typeface="Inter Bold"/>
                <a:cs typeface="Inter Bold"/>
                <a:sym typeface="Inter Bold"/>
              </a:rPr>
              <a:t>Delivery Timing (share of orders)</a:t>
            </a:r>
          </a:p>
        </p:txBody>
      </p:sp>
      <p:sp>
        <p:nvSpPr>
          <p:cNvPr name="TextBox 30" id="30"/>
          <p:cNvSpPr txBox="true"/>
          <p:nvPr/>
        </p:nvSpPr>
        <p:spPr>
          <a:xfrm rot="0">
            <a:off x="1028700" y="3022489"/>
            <a:ext cx="3467825" cy="293370"/>
          </a:xfrm>
          <a:prstGeom prst="rect">
            <a:avLst/>
          </a:prstGeom>
        </p:spPr>
        <p:txBody>
          <a:bodyPr anchor="t" rtlCol="false" tIns="0" lIns="0" bIns="0" rIns="0">
            <a:spAutoFit/>
          </a:bodyPr>
          <a:lstStyle/>
          <a:p>
            <a:pPr algn="ctr" marL="0" indent="0" lvl="0">
              <a:lnSpc>
                <a:spcPts val="2310"/>
              </a:lnSpc>
              <a:spcBef>
                <a:spcPct val="0"/>
              </a:spcBef>
            </a:pPr>
            <a:r>
              <a:rPr lang="en-US" b="true" sz="2100" strike="noStrike" u="none">
                <a:solidFill>
                  <a:srgbClr val="3D3C42"/>
                </a:solidFill>
                <a:latin typeface="Inter Bold"/>
                <a:ea typeface="Inter Bold"/>
                <a:cs typeface="Inter Bold"/>
                <a:sym typeface="Inter Bold"/>
              </a:rPr>
              <a:t>Late Delivery Rate</a:t>
            </a:r>
          </a:p>
        </p:txBody>
      </p:sp>
      <p:sp>
        <p:nvSpPr>
          <p:cNvPr name="TextBox 31" id="31"/>
          <p:cNvSpPr txBox="true"/>
          <p:nvPr/>
        </p:nvSpPr>
        <p:spPr>
          <a:xfrm rot="0">
            <a:off x="5153025" y="8191500"/>
            <a:ext cx="2857500" cy="499110"/>
          </a:xfrm>
          <a:prstGeom prst="rect">
            <a:avLst/>
          </a:prstGeom>
        </p:spPr>
        <p:txBody>
          <a:bodyPr anchor="t" rtlCol="false" tIns="0" lIns="0" bIns="0" rIns="0">
            <a:spAutoFit/>
          </a:bodyPr>
          <a:lstStyle/>
          <a:p>
            <a:pPr algn="ctr" marL="0" indent="0" lvl="0">
              <a:lnSpc>
                <a:spcPts val="1980"/>
              </a:lnSpc>
              <a:spcBef>
                <a:spcPct val="0"/>
              </a:spcBef>
            </a:pPr>
            <a:r>
              <a:rPr lang="en-US" sz="1800" strike="noStrike" u="none">
                <a:solidFill>
                  <a:srgbClr val="3D3C42"/>
                </a:solidFill>
                <a:latin typeface="Inter"/>
                <a:ea typeface="Inter"/>
                <a:cs typeface="Inter"/>
                <a:sym typeface="Inter"/>
              </a:rPr>
              <a:t>of First Class and Same Day orders arrive late</a:t>
            </a:r>
          </a:p>
        </p:txBody>
      </p:sp>
      <p:sp>
        <p:nvSpPr>
          <p:cNvPr name="TextBox 32" id="32"/>
          <p:cNvSpPr txBox="true"/>
          <p:nvPr/>
        </p:nvSpPr>
        <p:spPr>
          <a:xfrm rot="0">
            <a:off x="8763000" y="8191500"/>
            <a:ext cx="2857500" cy="499110"/>
          </a:xfrm>
          <a:prstGeom prst="rect">
            <a:avLst/>
          </a:prstGeom>
        </p:spPr>
        <p:txBody>
          <a:bodyPr anchor="t" rtlCol="false" tIns="0" lIns="0" bIns="0" rIns="0">
            <a:spAutoFit/>
          </a:bodyPr>
          <a:lstStyle/>
          <a:p>
            <a:pPr algn="ctr" marL="0" indent="0" lvl="0">
              <a:lnSpc>
                <a:spcPts val="1980"/>
              </a:lnSpc>
              <a:spcBef>
                <a:spcPct val="0"/>
              </a:spcBef>
            </a:pPr>
            <a:r>
              <a:rPr lang="en-US" sz="1800" strike="noStrike" u="none">
                <a:solidFill>
                  <a:srgbClr val="3D3C42"/>
                </a:solidFill>
                <a:latin typeface="Inter"/>
                <a:ea typeface="Inter"/>
                <a:cs typeface="Inter"/>
                <a:sym typeface="Inter"/>
              </a:rPr>
              <a:t>late rate for Standard Class, the best mode</a:t>
            </a:r>
          </a:p>
        </p:txBody>
      </p:sp>
      <p:sp>
        <p:nvSpPr>
          <p:cNvPr name="TextBox 33" id="33"/>
          <p:cNvSpPr txBox="true"/>
          <p:nvPr/>
        </p:nvSpPr>
        <p:spPr>
          <a:xfrm rot="0">
            <a:off x="1333500" y="5238750"/>
            <a:ext cx="2857500" cy="251460"/>
          </a:xfrm>
          <a:prstGeom prst="rect">
            <a:avLst/>
          </a:prstGeom>
        </p:spPr>
        <p:txBody>
          <a:bodyPr anchor="t" rtlCol="false" tIns="0" lIns="0" bIns="0" rIns="0">
            <a:spAutoFit/>
          </a:bodyPr>
          <a:lstStyle/>
          <a:p>
            <a:pPr algn="ctr" marL="0" indent="0" lvl="0">
              <a:lnSpc>
                <a:spcPts val="1980"/>
              </a:lnSpc>
              <a:spcBef>
                <a:spcPct val="0"/>
              </a:spcBef>
            </a:pPr>
            <a:r>
              <a:rPr lang="en-US" sz="1800" strike="noStrike" u="none">
                <a:solidFill>
                  <a:srgbClr val="3D3C42"/>
                </a:solidFill>
                <a:latin typeface="Inter"/>
                <a:ea typeface="Inter"/>
                <a:cs typeface="Inter"/>
                <a:sym typeface="Inter"/>
              </a:rPr>
              <a:t>103,816 of 172,765 orders</a:t>
            </a:r>
          </a:p>
        </p:txBody>
      </p:sp>
      <p:sp>
        <p:nvSpPr>
          <p:cNvPr name="TextBox 34" id="34"/>
          <p:cNvSpPr txBox="true"/>
          <p:nvPr/>
        </p:nvSpPr>
        <p:spPr>
          <a:xfrm rot="0">
            <a:off x="1327942" y="7302393"/>
            <a:ext cx="2869964" cy="1242060"/>
          </a:xfrm>
          <a:prstGeom prst="rect">
            <a:avLst/>
          </a:prstGeom>
        </p:spPr>
        <p:txBody>
          <a:bodyPr anchor="t" rtlCol="false" tIns="0" lIns="0" bIns="0" rIns="0">
            <a:spAutoFit/>
          </a:bodyPr>
          <a:lstStyle/>
          <a:p>
            <a:pPr algn="l" marL="0" indent="0" lvl="0">
              <a:lnSpc>
                <a:spcPts val="1980"/>
              </a:lnSpc>
              <a:spcBef>
                <a:spcPct val="0"/>
              </a:spcBef>
            </a:pPr>
            <a:r>
              <a:rPr lang="en-US" sz="1800" strike="noStrike" u="none">
                <a:solidFill>
                  <a:srgbClr val="3D3C42"/>
                </a:solidFill>
                <a:latin typeface="Inter"/>
                <a:ea typeface="Inter"/>
                <a:cs typeface="Inter"/>
                <a:sym typeface="Inter"/>
              </a:rPr>
              <a:t>6 in 10 orders miss their scheduled date. The cause is company-wide: shipping mode and payment holds, not one region.</a:t>
            </a:r>
          </a:p>
        </p:txBody>
      </p:sp>
      <p:sp>
        <p:nvSpPr>
          <p:cNvPr name="TextBox 35" id="35"/>
          <p:cNvSpPr txBox="true"/>
          <p:nvPr/>
        </p:nvSpPr>
        <p:spPr>
          <a:xfrm rot="0">
            <a:off x="1028700" y="3886200"/>
            <a:ext cx="3467100" cy="885825"/>
          </a:xfrm>
          <a:prstGeom prst="rect">
            <a:avLst/>
          </a:prstGeom>
        </p:spPr>
        <p:txBody>
          <a:bodyPr anchor="t" rtlCol="false" tIns="0" lIns="0" bIns="0" rIns="0">
            <a:spAutoFit/>
          </a:bodyPr>
          <a:lstStyle/>
          <a:p>
            <a:pPr algn="ctr">
              <a:lnSpc>
                <a:spcPts val="6600"/>
              </a:lnSpc>
            </a:pPr>
            <a:r>
              <a:rPr lang="en-US" sz="6000" b="true">
                <a:solidFill>
                  <a:srgbClr val="7F5283"/>
                </a:solidFill>
                <a:latin typeface="Arimo Bold"/>
                <a:ea typeface="Arimo Bold"/>
                <a:cs typeface="Arimo Bold"/>
                <a:sym typeface="Arimo Bold"/>
              </a:rPr>
              <a:t>60.09%</a:t>
            </a:r>
          </a:p>
        </p:txBody>
      </p:sp>
      <p:sp>
        <p:nvSpPr>
          <p:cNvPr name="TextBox 36" id="36"/>
          <p:cNvSpPr txBox="true"/>
          <p:nvPr/>
        </p:nvSpPr>
        <p:spPr>
          <a:xfrm rot="0">
            <a:off x="5038725" y="3657600"/>
            <a:ext cx="1666875" cy="1712595"/>
          </a:xfrm>
          <a:prstGeom prst="rect">
            <a:avLst/>
          </a:prstGeom>
        </p:spPr>
        <p:txBody>
          <a:bodyPr anchor="t" rtlCol="false" tIns="0" lIns="0" bIns="0" rIns="0">
            <a:spAutoFit/>
          </a:bodyPr>
          <a:lstStyle/>
          <a:p>
            <a:pPr algn="l">
              <a:lnSpc>
                <a:spcPts val="4680"/>
              </a:lnSpc>
            </a:pPr>
            <a:r>
              <a:rPr lang="en-US" sz="1950">
                <a:solidFill>
                  <a:srgbClr val="3D3C42"/>
                </a:solidFill>
                <a:latin typeface="Arimo"/>
                <a:ea typeface="Arimo"/>
                <a:cs typeface="Arimo"/>
                <a:sym typeface="Arimo"/>
              </a:rPr>
              <a:t>Early</a:t>
            </a:r>
          </a:p>
          <a:p>
            <a:pPr algn="l">
              <a:lnSpc>
                <a:spcPts val="4680"/>
              </a:lnSpc>
            </a:pPr>
            <a:r>
              <a:rPr lang="en-US" sz="1950">
                <a:solidFill>
                  <a:srgbClr val="3D3C42"/>
                </a:solidFill>
                <a:latin typeface="Arimo"/>
                <a:ea typeface="Arimo"/>
                <a:cs typeface="Arimo"/>
                <a:sym typeface="Arimo"/>
              </a:rPr>
              <a:t>On schedule</a:t>
            </a:r>
          </a:p>
          <a:p>
            <a:pPr algn="l">
              <a:lnSpc>
                <a:spcPts val="4680"/>
              </a:lnSpc>
            </a:pPr>
            <a:r>
              <a:rPr lang="en-US" sz="1950">
                <a:solidFill>
                  <a:srgbClr val="3D3C42"/>
                </a:solidFill>
                <a:latin typeface="Arimo"/>
                <a:ea typeface="Arimo"/>
                <a:cs typeface="Arimo"/>
                <a:sym typeface="Arimo"/>
              </a:rPr>
              <a:t>Late</a:t>
            </a:r>
          </a:p>
        </p:txBody>
      </p:sp>
      <p:grpSp>
        <p:nvGrpSpPr>
          <p:cNvPr name="Group 37" id="37"/>
          <p:cNvGrpSpPr/>
          <p:nvPr/>
        </p:nvGrpSpPr>
        <p:grpSpPr>
          <a:xfrm rot="0">
            <a:off x="6810375" y="3840480"/>
            <a:ext cx="1527810" cy="381000"/>
            <a:chOff x="0" y="0"/>
            <a:chExt cx="2037080" cy="508000"/>
          </a:xfrm>
        </p:grpSpPr>
        <p:sp>
          <p:nvSpPr>
            <p:cNvPr name="Freeform 38" id="38"/>
            <p:cNvSpPr/>
            <p:nvPr/>
          </p:nvSpPr>
          <p:spPr>
            <a:xfrm flipH="false" flipV="false" rot="0">
              <a:off x="0" y="0"/>
              <a:ext cx="2037080" cy="508000"/>
            </a:xfrm>
            <a:custGeom>
              <a:avLst/>
              <a:gdLst/>
              <a:ahLst/>
              <a:cxnLst/>
              <a:rect r="r" b="b" t="t" l="l"/>
              <a:pathLst>
                <a:path h="508000" w="2037080">
                  <a:moveTo>
                    <a:pt x="47506" y="0"/>
                  </a:moveTo>
                  <a:lnTo>
                    <a:pt x="1989574" y="0"/>
                  </a:lnTo>
                  <a:cubicBezTo>
                    <a:pt x="2002173" y="0"/>
                    <a:pt x="2014257" y="5005"/>
                    <a:pt x="2023166" y="13914"/>
                  </a:cubicBezTo>
                  <a:cubicBezTo>
                    <a:pt x="2032075" y="22823"/>
                    <a:pt x="2037080" y="34907"/>
                    <a:pt x="2037080" y="47506"/>
                  </a:cubicBezTo>
                  <a:lnTo>
                    <a:pt x="2037080" y="460494"/>
                  </a:lnTo>
                  <a:cubicBezTo>
                    <a:pt x="2037080" y="486731"/>
                    <a:pt x="2015811" y="508000"/>
                    <a:pt x="1989574" y="508000"/>
                  </a:cubicBezTo>
                  <a:lnTo>
                    <a:pt x="47506" y="508000"/>
                  </a:lnTo>
                  <a:cubicBezTo>
                    <a:pt x="21269" y="508000"/>
                    <a:pt x="0" y="486731"/>
                    <a:pt x="0" y="460494"/>
                  </a:cubicBezTo>
                  <a:lnTo>
                    <a:pt x="0" y="47506"/>
                  </a:lnTo>
                  <a:cubicBezTo>
                    <a:pt x="0" y="21269"/>
                    <a:pt x="21269" y="0"/>
                    <a:pt x="47506" y="0"/>
                  </a:cubicBezTo>
                  <a:close/>
                </a:path>
              </a:pathLst>
            </a:custGeom>
            <a:solidFill>
              <a:srgbClr val="A6D1E6"/>
            </a:solidFill>
          </p:spPr>
        </p:sp>
        <p:sp>
          <p:nvSpPr>
            <p:cNvPr name="TextBox 39" id="39"/>
            <p:cNvSpPr txBox="true"/>
            <p:nvPr/>
          </p:nvSpPr>
          <p:spPr>
            <a:xfrm>
              <a:off x="0" y="-38100"/>
              <a:ext cx="2037080" cy="546100"/>
            </a:xfrm>
            <a:prstGeom prst="rect">
              <a:avLst/>
            </a:prstGeom>
          </p:spPr>
          <p:txBody>
            <a:bodyPr anchor="ctr" rtlCol="false" tIns="50800" lIns="50800" bIns="50800" rIns="50800"/>
            <a:lstStyle/>
            <a:p>
              <a:pPr algn="l">
                <a:lnSpc>
                  <a:spcPts val="1679"/>
                </a:lnSpc>
              </a:pPr>
            </a:p>
          </p:txBody>
        </p:sp>
      </p:grpSp>
      <p:sp>
        <p:nvSpPr>
          <p:cNvPr name="TextBox 40" id="40"/>
          <p:cNvSpPr txBox="true"/>
          <p:nvPr/>
        </p:nvSpPr>
        <p:spPr>
          <a:xfrm rot="0">
            <a:off x="8471535" y="3888105"/>
            <a:ext cx="1143000" cy="302895"/>
          </a:xfrm>
          <a:prstGeom prst="rect">
            <a:avLst/>
          </a:prstGeom>
        </p:spPr>
        <p:txBody>
          <a:bodyPr anchor="t" rtlCol="false" tIns="0" lIns="0" bIns="0" rIns="0">
            <a:spAutoFit/>
          </a:bodyPr>
          <a:lstStyle/>
          <a:p>
            <a:pPr algn="l">
              <a:lnSpc>
                <a:spcPts val="2310"/>
              </a:lnSpc>
            </a:pPr>
            <a:r>
              <a:rPr lang="en-US" sz="2100" b="true">
                <a:solidFill>
                  <a:srgbClr val="3D3C42"/>
                </a:solidFill>
                <a:latin typeface="Arimo Bold"/>
                <a:ea typeface="Arimo Bold"/>
                <a:cs typeface="Arimo Bold"/>
                <a:sym typeface="Arimo Bold"/>
              </a:rPr>
              <a:t>24.1%</a:t>
            </a:r>
          </a:p>
        </p:txBody>
      </p:sp>
      <p:grpSp>
        <p:nvGrpSpPr>
          <p:cNvPr name="Group 41" id="41"/>
          <p:cNvGrpSpPr/>
          <p:nvPr/>
        </p:nvGrpSpPr>
        <p:grpSpPr>
          <a:xfrm rot="0">
            <a:off x="6810375" y="4434840"/>
            <a:ext cx="1002030" cy="381000"/>
            <a:chOff x="0" y="0"/>
            <a:chExt cx="1336040" cy="508000"/>
          </a:xfrm>
        </p:grpSpPr>
        <p:sp>
          <p:nvSpPr>
            <p:cNvPr name="Freeform 42" id="42"/>
            <p:cNvSpPr/>
            <p:nvPr/>
          </p:nvSpPr>
          <p:spPr>
            <a:xfrm flipH="false" flipV="false" rot="0">
              <a:off x="0" y="0"/>
              <a:ext cx="1336040" cy="508000"/>
            </a:xfrm>
            <a:custGeom>
              <a:avLst/>
              <a:gdLst/>
              <a:ahLst/>
              <a:cxnLst/>
              <a:rect r="r" b="b" t="t" l="l"/>
              <a:pathLst>
                <a:path h="508000" w="1336040">
                  <a:moveTo>
                    <a:pt x="72433" y="0"/>
                  </a:moveTo>
                  <a:lnTo>
                    <a:pt x="1263606" y="0"/>
                  </a:lnTo>
                  <a:cubicBezTo>
                    <a:pt x="1282817" y="0"/>
                    <a:pt x="1301241" y="7631"/>
                    <a:pt x="1314825" y="21215"/>
                  </a:cubicBezTo>
                  <a:cubicBezTo>
                    <a:pt x="1328409" y="34799"/>
                    <a:pt x="1336040" y="53223"/>
                    <a:pt x="1336040" y="72433"/>
                  </a:cubicBezTo>
                  <a:lnTo>
                    <a:pt x="1336040" y="435567"/>
                  </a:lnTo>
                  <a:cubicBezTo>
                    <a:pt x="1336040" y="454777"/>
                    <a:pt x="1328409" y="473201"/>
                    <a:pt x="1314825" y="486785"/>
                  </a:cubicBezTo>
                  <a:cubicBezTo>
                    <a:pt x="1301241" y="500369"/>
                    <a:pt x="1282817" y="508000"/>
                    <a:pt x="1263606" y="508000"/>
                  </a:cubicBezTo>
                  <a:lnTo>
                    <a:pt x="72433" y="508000"/>
                  </a:lnTo>
                  <a:cubicBezTo>
                    <a:pt x="53223" y="508000"/>
                    <a:pt x="34799" y="500369"/>
                    <a:pt x="21215" y="486785"/>
                  </a:cubicBezTo>
                  <a:cubicBezTo>
                    <a:pt x="7631" y="473201"/>
                    <a:pt x="0" y="454777"/>
                    <a:pt x="0" y="435567"/>
                  </a:cubicBezTo>
                  <a:lnTo>
                    <a:pt x="0" y="72433"/>
                  </a:lnTo>
                  <a:cubicBezTo>
                    <a:pt x="0" y="53223"/>
                    <a:pt x="7631" y="34799"/>
                    <a:pt x="21215" y="21215"/>
                  </a:cubicBezTo>
                  <a:cubicBezTo>
                    <a:pt x="34799" y="7631"/>
                    <a:pt x="53223" y="0"/>
                    <a:pt x="72433" y="0"/>
                  </a:cubicBezTo>
                  <a:close/>
                </a:path>
              </a:pathLst>
            </a:custGeom>
            <a:solidFill>
              <a:srgbClr val="9DB2CE"/>
            </a:solidFill>
          </p:spPr>
        </p:sp>
        <p:sp>
          <p:nvSpPr>
            <p:cNvPr name="TextBox 43" id="43"/>
            <p:cNvSpPr txBox="true"/>
            <p:nvPr/>
          </p:nvSpPr>
          <p:spPr>
            <a:xfrm>
              <a:off x="0" y="-38100"/>
              <a:ext cx="1336040" cy="546100"/>
            </a:xfrm>
            <a:prstGeom prst="rect">
              <a:avLst/>
            </a:prstGeom>
          </p:spPr>
          <p:txBody>
            <a:bodyPr anchor="ctr" rtlCol="false" tIns="50800" lIns="50800" bIns="50800" rIns="50800"/>
            <a:lstStyle/>
            <a:p>
              <a:pPr algn="l">
                <a:lnSpc>
                  <a:spcPts val="1679"/>
                </a:lnSpc>
              </a:pPr>
            </a:p>
          </p:txBody>
        </p:sp>
      </p:grpSp>
      <p:sp>
        <p:nvSpPr>
          <p:cNvPr name="TextBox 44" id="44"/>
          <p:cNvSpPr txBox="true"/>
          <p:nvPr/>
        </p:nvSpPr>
        <p:spPr>
          <a:xfrm rot="0">
            <a:off x="7945755" y="4482465"/>
            <a:ext cx="1143000" cy="302895"/>
          </a:xfrm>
          <a:prstGeom prst="rect">
            <a:avLst/>
          </a:prstGeom>
        </p:spPr>
        <p:txBody>
          <a:bodyPr anchor="t" rtlCol="false" tIns="0" lIns="0" bIns="0" rIns="0">
            <a:spAutoFit/>
          </a:bodyPr>
          <a:lstStyle/>
          <a:p>
            <a:pPr algn="l">
              <a:lnSpc>
                <a:spcPts val="2310"/>
              </a:lnSpc>
            </a:pPr>
            <a:r>
              <a:rPr lang="en-US" sz="2100" b="true">
                <a:solidFill>
                  <a:srgbClr val="3D3C42"/>
                </a:solidFill>
                <a:latin typeface="Arimo Bold"/>
                <a:ea typeface="Arimo Bold"/>
                <a:cs typeface="Arimo Bold"/>
                <a:sym typeface="Arimo Bold"/>
              </a:rPr>
              <a:t>15.8%</a:t>
            </a:r>
          </a:p>
        </p:txBody>
      </p:sp>
      <p:grpSp>
        <p:nvGrpSpPr>
          <p:cNvPr name="Group 45" id="45"/>
          <p:cNvGrpSpPr/>
          <p:nvPr/>
        </p:nvGrpSpPr>
        <p:grpSpPr>
          <a:xfrm rot="0">
            <a:off x="6810375" y="5029200"/>
            <a:ext cx="3810000" cy="381000"/>
            <a:chOff x="0" y="0"/>
            <a:chExt cx="5080000" cy="508000"/>
          </a:xfrm>
        </p:grpSpPr>
        <p:sp>
          <p:nvSpPr>
            <p:cNvPr name="Freeform 46" id="46"/>
            <p:cNvSpPr/>
            <p:nvPr/>
          </p:nvSpPr>
          <p:spPr>
            <a:xfrm flipH="false" flipV="false" rot="0">
              <a:off x="0" y="0"/>
              <a:ext cx="5080000" cy="508000"/>
            </a:xfrm>
            <a:custGeom>
              <a:avLst/>
              <a:gdLst/>
              <a:ahLst/>
              <a:cxnLst/>
              <a:rect r="r" b="b" t="t" l="l"/>
              <a:pathLst>
                <a:path h="508000" w="5080000">
                  <a:moveTo>
                    <a:pt x="19050" y="0"/>
                  </a:moveTo>
                  <a:lnTo>
                    <a:pt x="5060950" y="0"/>
                  </a:lnTo>
                  <a:cubicBezTo>
                    <a:pt x="5071471" y="0"/>
                    <a:pt x="5080000" y="8529"/>
                    <a:pt x="5080000" y="19050"/>
                  </a:cubicBezTo>
                  <a:lnTo>
                    <a:pt x="5080000" y="488950"/>
                  </a:lnTo>
                  <a:cubicBezTo>
                    <a:pt x="5080000" y="499471"/>
                    <a:pt x="5071471" y="508000"/>
                    <a:pt x="5060950" y="508000"/>
                  </a:cubicBezTo>
                  <a:lnTo>
                    <a:pt x="19050" y="508000"/>
                  </a:lnTo>
                  <a:cubicBezTo>
                    <a:pt x="8529" y="508000"/>
                    <a:pt x="0" y="499471"/>
                    <a:pt x="0" y="488950"/>
                  </a:cubicBezTo>
                  <a:lnTo>
                    <a:pt x="0" y="19050"/>
                  </a:lnTo>
                  <a:cubicBezTo>
                    <a:pt x="0" y="8529"/>
                    <a:pt x="8529" y="0"/>
                    <a:pt x="19050" y="0"/>
                  </a:cubicBezTo>
                  <a:close/>
                </a:path>
              </a:pathLst>
            </a:custGeom>
            <a:solidFill>
              <a:srgbClr val="7F5283"/>
            </a:solidFill>
          </p:spPr>
        </p:sp>
        <p:sp>
          <p:nvSpPr>
            <p:cNvPr name="TextBox 47" id="47"/>
            <p:cNvSpPr txBox="true"/>
            <p:nvPr/>
          </p:nvSpPr>
          <p:spPr>
            <a:xfrm>
              <a:off x="0" y="-38100"/>
              <a:ext cx="5080000" cy="546100"/>
            </a:xfrm>
            <a:prstGeom prst="rect">
              <a:avLst/>
            </a:prstGeom>
          </p:spPr>
          <p:txBody>
            <a:bodyPr anchor="ctr" rtlCol="false" tIns="50800" lIns="50800" bIns="50800" rIns="50800"/>
            <a:lstStyle/>
            <a:p>
              <a:pPr algn="l">
                <a:lnSpc>
                  <a:spcPts val="1679"/>
                </a:lnSpc>
              </a:pPr>
            </a:p>
          </p:txBody>
        </p:sp>
      </p:grpSp>
      <p:sp>
        <p:nvSpPr>
          <p:cNvPr name="TextBox 48" id="48"/>
          <p:cNvSpPr txBox="true"/>
          <p:nvPr/>
        </p:nvSpPr>
        <p:spPr>
          <a:xfrm rot="0">
            <a:off x="10753725" y="5076825"/>
            <a:ext cx="1143000" cy="302895"/>
          </a:xfrm>
          <a:prstGeom prst="rect">
            <a:avLst/>
          </a:prstGeom>
        </p:spPr>
        <p:txBody>
          <a:bodyPr anchor="t" rtlCol="false" tIns="0" lIns="0" bIns="0" rIns="0">
            <a:spAutoFit/>
          </a:bodyPr>
          <a:lstStyle/>
          <a:p>
            <a:pPr algn="l">
              <a:lnSpc>
                <a:spcPts val="2310"/>
              </a:lnSpc>
            </a:pPr>
            <a:r>
              <a:rPr lang="en-US" sz="2100" b="true">
                <a:solidFill>
                  <a:srgbClr val="3D3C42"/>
                </a:solidFill>
                <a:latin typeface="Arimo Bold"/>
                <a:ea typeface="Arimo Bold"/>
                <a:cs typeface="Arimo Bold"/>
                <a:sym typeface="Arimo Bold"/>
              </a:rPr>
              <a:t>60.1%</a:t>
            </a:r>
          </a:p>
        </p:txBody>
      </p:sp>
      <p:sp>
        <p:nvSpPr>
          <p:cNvPr name="TextBox 49" id="49"/>
          <p:cNvSpPr txBox="true"/>
          <p:nvPr/>
        </p:nvSpPr>
        <p:spPr>
          <a:xfrm rot="0">
            <a:off x="5038725" y="5829300"/>
            <a:ext cx="6667500" cy="208597"/>
          </a:xfrm>
          <a:prstGeom prst="rect">
            <a:avLst/>
          </a:prstGeom>
        </p:spPr>
        <p:txBody>
          <a:bodyPr anchor="t" rtlCol="false" tIns="0" lIns="0" bIns="0" rIns="0">
            <a:spAutoFit/>
          </a:bodyPr>
          <a:lstStyle/>
          <a:p>
            <a:pPr algn="l">
              <a:lnSpc>
                <a:spcPts val="1567"/>
              </a:lnSpc>
            </a:pPr>
            <a:r>
              <a:rPr lang="en-US" sz="1425">
                <a:solidFill>
                  <a:srgbClr val="3D3C42"/>
                </a:solidFill>
                <a:latin typeface="Arimo"/>
                <a:ea typeface="Arimo"/>
                <a:cs typeface="Arimo"/>
                <a:sym typeface="Arimo"/>
              </a:rPr>
              <a:t>Late = shipped after the scheduled date (delay &gt; 0 days)</a:t>
            </a:r>
          </a:p>
        </p:txBody>
      </p:sp>
      <p:sp>
        <p:nvSpPr>
          <p:cNvPr name="TextBox 50" id="50"/>
          <p:cNvSpPr txBox="true"/>
          <p:nvPr/>
        </p:nvSpPr>
        <p:spPr>
          <a:xfrm rot="0">
            <a:off x="5153025" y="7267575"/>
            <a:ext cx="2857500" cy="699135"/>
          </a:xfrm>
          <a:prstGeom prst="rect">
            <a:avLst/>
          </a:prstGeom>
        </p:spPr>
        <p:txBody>
          <a:bodyPr anchor="t" rtlCol="false" tIns="0" lIns="0" bIns="0" rIns="0">
            <a:spAutoFit/>
          </a:bodyPr>
          <a:lstStyle/>
          <a:p>
            <a:pPr algn="ctr">
              <a:lnSpc>
                <a:spcPts val="5280"/>
              </a:lnSpc>
            </a:pPr>
            <a:r>
              <a:rPr lang="en-US" sz="4800" b="true">
                <a:solidFill>
                  <a:srgbClr val="7F5283"/>
                </a:solidFill>
                <a:latin typeface="Arimo Bold"/>
                <a:ea typeface="Arimo Bold"/>
                <a:cs typeface="Arimo Bold"/>
                <a:sym typeface="Arimo Bold"/>
              </a:rPr>
              <a:t>100%</a:t>
            </a:r>
          </a:p>
        </p:txBody>
      </p:sp>
      <p:sp>
        <p:nvSpPr>
          <p:cNvPr name="TextBox 51" id="51"/>
          <p:cNvSpPr txBox="true"/>
          <p:nvPr/>
        </p:nvSpPr>
        <p:spPr>
          <a:xfrm rot="0">
            <a:off x="8763000" y="7267575"/>
            <a:ext cx="2857500" cy="699135"/>
          </a:xfrm>
          <a:prstGeom prst="rect">
            <a:avLst/>
          </a:prstGeom>
        </p:spPr>
        <p:txBody>
          <a:bodyPr anchor="t" rtlCol="false" tIns="0" lIns="0" bIns="0" rIns="0">
            <a:spAutoFit/>
          </a:bodyPr>
          <a:lstStyle/>
          <a:p>
            <a:pPr algn="ctr">
              <a:lnSpc>
                <a:spcPts val="5280"/>
              </a:lnSpc>
            </a:pPr>
            <a:r>
              <a:rPr lang="en-US" sz="4800" b="true">
                <a:solidFill>
                  <a:srgbClr val="7F5283"/>
                </a:solidFill>
                <a:latin typeface="Arimo Bold"/>
                <a:ea typeface="Arimo Bold"/>
                <a:cs typeface="Arimo Bold"/>
                <a:sym typeface="Arimo Bold"/>
              </a:rPr>
              <a:t>39.8%</a:t>
            </a: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FEFBF6"/>
        </a:solidFill>
      </p:bgPr>
    </p:bg>
    <p:spTree>
      <p:nvGrpSpPr>
        <p:cNvPr id="1" name=""/>
        <p:cNvGrpSpPr/>
        <p:nvPr/>
      </p:nvGrpSpPr>
      <p:grpSpPr>
        <a:xfrm>
          <a:off x="0" y="0"/>
          <a:ext cx="0" cy="0"/>
          <a:chOff x="0" y="0"/>
          <a:chExt cx="0" cy="0"/>
        </a:xfrm>
      </p:grpSpPr>
      <p:grpSp>
        <p:nvGrpSpPr>
          <p:cNvPr name="Group 2" id="2"/>
          <p:cNvGrpSpPr/>
          <p:nvPr/>
        </p:nvGrpSpPr>
        <p:grpSpPr>
          <a:xfrm rot="0">
            <a:off x="12282932" y="1028700"/>
            <a:ext cx="4976368" cy="8229600"/>
            <a:chOff x="0" y="0"/>
            <a:chExt cx="1731743" cy="2863847"/>
          </a:xfrm>
        </p:grpSpPr>
        <p:sp>
          <p:nvSpPr>
            <p:cNvPr name="Freeform 3" id="3"/>
            <p:cNvSpPr/>
            <p:nvPr/>
          </p:nvSpPr>
          <p:spPr>
            <a:xfrm flipH="false" flipV="false" rot="0">
              <a:off x="0" y="0"/>
              <a:ext cx="1731743" cy="2863847"/>
            </a:xfrm>
            <a:custGeom>
              <a:avLst/>
              <a:gdLst/>
              <a:ahLst/>
              <a:cxnLst/>
              <a:rect r="r" b="b" t="t" l="l"/>
              <a:pathLst>
                <a:path h="2863847" w="1731743">
                  <a:moveTo>
                    <a:pt x="31115" y="0"/>
                  </a:moveTo>
                  <a:lnTo>
                    <a:pt x="1700629" y="0"/>
                  </a:lnTo>
                  <a:cubicBezTo>
                    <a:pt x="1717813" y="0"/>
                    <a:pt x="1731743" y="13931"/>
                    <a:pt x="1731743" y="31115"/>
                  </a:cubicBezTo>
                  <a:lnTo>
                    <a:pt x="1731743" y="2832732"/>
                  </a:lnTo>
                  <a:cubicBezTo>
                    <a:pt x="1731743" y="2849916"/>
                    <a:pt x="1717813" y="2863847"/>
                    <a:pt x="1700629" y="2863847"/>
                  </a:cubicBezTo>
                  <a:lnTo>
                    <a:pt x="31115" y="2863847"/>
                  </a:lnTo>
                  <a:cubicBezTo>
                    <a:pt x="13931" y="2863847"/>
                    <a:pt x="0" y="2849916"/>
                    <a:pt x="0" y="2832732"/>
                  </a:cubicBezTo>
                  <a:lnTo>
                    <a:pt x="0" y="31115"/>
                  </a:lnTo>
                  <a:cubicBezTo>
                    <a:pt x="0" y="13931"/>
                    <a:pt x="13931" y="0"/>
                    <a:pt x="31115" y="0"/>
                  </a:cubicBezTo>
                  <a:close/>
                </a:path>
              </a:pathLst>
            </a:custGeom>
            <a:ln w="38100" cap="sq">
              <a:solidFill>
                <a:srgbClr val="A6D1E6"/>
              </a:solidFill>
              <a:prstDash val="solid"/>
              <a:miter/>
            </a:ln>
          </p:spPr>
        </p:sp>
        <p:sp>
          <p:nvSpPr>
            <p:cNvPr name="TextBox 4" id="4"/>
            <p:cNvSpPr txBox="true"/>
            <p:nvPr/>
          </p:nvSpPr>
          <p:spPr>
            <a:xfrm>
              <a:off x="0" y="-38100"/>
              <a:ext cx="1731743" cy="2901947"/>
            </a:xfrm>
            <a:prstGeom prst="rect">
              <a:avLst/>
            </a:prstGeom>
          </p:spPr>
          <p:txBody>
            <a:bodyPr anchor="ctr" rtlCol="false" tIns="50800" lIns="50800" bIns="50800" rIns="50800"/>
            <a:lstStyle/>
            <a:p>
              <a:pPr algn="ctr">
                <a:lnSpc>
                  <a:spcPts val="2659"/>
                </a:lnSpc>
              </a:pPr>
            </a:p>
          </p:txBody>
        </p:sp>
      </p:grpSp>
      <p:sp>
        <p:nvSpPr>
          <p:cNvPr name="AutoShape 5" id="5"/>
          <p:cNvSpPr/>
          <p:nvPr/>
        </p:nvSpPr>
        <p:spPr>
          <a:xfrm>
            <a:off x="12694530" y="3611981"/>
            <a:ext cx="4128512" cy="0"/>
          </a:xfrm>
          <a:prstGeom prst="line">
            <a:avLst/>
          </a:prstGeom>
          <a:ln cap="rnd" w="19050">
            <a:solidFill>
              <a:srgbClr val="A6D1E6"/>
            </a:solidFill>
            <a:prstDash val="solid"/>
            <a:headEnd type="none" len="sm" w="sm"/>
            <a:tailEnd type="none" len="sm" w="sm"/>
          </a:ln>
        </p:spPr>
      </p:sp>
      <p:sp>
        <p:nvSpPr>
          <p:cNvPr name="AutoShape 6" id="6"/>
          <p:cNvSpPr/>
          <p:nvPr/>
        </p:nvSpPr>
        <p:spPr>
          <a:xfrm>
            <a:off x="12706860" y="6430378"/>
            <a:ext cx="4128512" cy="0"/>
          </a:xfrm>
          <a:prstGeom prst="line">
            <a:avLst/>
          </a:prstGeom>
          <a:ln cap="rnd" w="19050">
            <a:solidFill>
              <a:srgbClr val="A6D1E6"/>
            </a:solidFill>
            <a:prstDash val="solid"/>
            <a:headEnd type="none" len="sm" w="sm"/>
            <a:tailEnd type="none" len="sm" w="sm"/>
          </a:ln>
        </p:spPr>
      </p:sp>
      <p:grpSp>
        <p:nvGrpSpPr>
          <p:cNvPr name="Group 7" id="7"/>
          <p:cNvGrpSpPr/>
          <p:nvPr/>
        </p:nvGrpSpPr>
        <p:grpSpPr>
          <a:xfrm rot="0">
            <a:off x="1028700" y="2659714"/>
            <a:ext cx="3468449" cy="6598586"/>
            <a:chOff x="0" y="0"/>
            <a:chExt cx="1206998" cy="2296265"/>
          </a:xfrm>
        </p:grpSpPr>
        <p:sp>
          <p:nvSpPr>
            <p:cNvPr name="Freeform 8" id="8"/>
            <p:cNvSpPr/>
            <p:nvPr/>
          </p:nvSpPr>
          <p:spPr>
            <a:xfrm flipH="false" flipV="false" rot="0">
              <a:off x="0" y="0"/>
              <a:ext cx="1206998" cy="2296265"/>
            </a:xfrm>
            <a:custGeom>
              <a:avLst/>
              <a:gdLst/>
              <a:ahLst/>
              <a:cxnLst/>
              <a:rect r="r" b="b" t="t" l="l"/>
              <a:pathLst>
                <a:path h="2296265" w="1206998">
                  <a:moveTo>
                    <a:pt x="44642" y="0"/>
                  </a:moveTo>
                  <a:lnTo>
                    <a:pt x="1162356" y="0"/>
                  </a:lnTo>
                  <a:cubicBezTo>
                    <a:pt x="1174195" y="0"/>
                    <a:pt x="1185550" y="4703"/>
                    <a:pt x="1193922" y="13075"/>
                  </a:cubicBezTo>
                  <a:cubicBezTo>
                    <a:pt x="1202294" y="21447"/>
                    <a:pt x="1206998" y="32802"/>
                    <a:pt x="1206998" y="44642"/>
                  </a:cubicBezTo>
                  <a:lnTo>
                    <a:pt x="1206998" y="2251623"/>
                  </a:lnTo>
                  <a:cubicBezTo>
                    <a:pt x="1206998" y="2263463"/>
                    <a:pt x="1202294" y="2274818"/>
                    <a:pt x="1193922" y="2283190"/>
                  </a:cubicBezTo>
                  <a:cubicBezTo>
                    <a:pt x="1185550" y="2291561"/>
                    <a:pt x="1174195" y="2296265"/>
                    <a:pt x="1162356" y="2296265"/>
                  </a:cubicBezTo>
                  <a:lnTo>
                    <a:pt x="44642" y="2296265"/>
                  </a:lnTo>
                  <a:cubicBezTo>
                    <a:pt x="32802" y="2296265"/>
                    <a:pt x="21447" y="2291561"/>
                    <a:pt x="13075" y="2283190"/>
                  </a:cubicBezTo>
                  <a:cubicBezTo>
                    <a:pt x="4703" y="2274818"/>
                    <a:pt x="0" y="2263463"/>
                    <a:pt x="0" y="2251623"/>
                  </a:cubicBezTo>
                  <a:lnTo>
                    <a:pt x="0" y="44642"/>
                  </a:lnTo>
                  <a:cubicBezTo>
                    <a:pt x="0" y="32802"/>
                    <a:pt x="4703" y="21447"/>
                    <a:pt x="13075" y="13075"/>
                  </a:cubicBezTo>
                  <a:cubicBezTo>
                    <a:pt x="21447" y="4703"/>
                    <a:pt x="32802" y="0"/>
                    <a:pt x="44642" y="0"/>
                  </a:cubicBezTo>
                  <a:close/>
                </a:path>
              </a:pathLst>
            </a:custGeom>
            <a:ln w="38100" cap="sq">
              <a:solidFill>
                <a:srgbClr val="A6D1E6"/>
              </a:solidFill>
              <a:prstDash val="solid"/>
              <a:miter/>
            </a:ln>
          </p:spPr>
        </p:sp>
        <p:sp>
          <p:nvSpPr>
            <p:cNvPr name="TextBox 9" id="9"/>
            <p:cNvSpPr txBox="true"/>
            <p:nvPr/>
          </p:nvSpPr>
          <p:spPr>
            <a:xfrm>
              <a:off x="0" y="-38100"/>
              <a:ext cx="1206998" cy="2334365"/>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4763225" y="2659714"/>
            <a:ext cx="7253632" cy="3950566"/>
            <a:chOff x="0" y="0"/>
            <a:chExt cx="2524217" cy="1374771"/>
          </a:xfrm>
        </p:grpSpPr>
        <p:sp>
          <p:nvSpPr>
            <p:cNvPr name="Freeform 11" id="11"/>
            <p:cNvSpPr/>
            <p:nvPr/>
          </p:nvSpPr>
          <p:spPr>
            <a:xfrm flipH="false" flipV="false" rot="0">
              <a:off x="0" y="0"/>
              <a:ext cx="2524217" cy="1374771"/>
            </a:xfrm>
            <a:custGeom>
              <a:avLst/>
              <a:gdLst/>
              <a:ahLst/>
              <a:cxnLst/>
              <a:rect r="r" b="b" t="t" l="l"/>
              <a:pathLst>
                <a:path h="1374771" w="2524217">
                  <a:moveTo>
                    <a:pt x="21346" y="0"/>
                  </a:moveTo>
                  <a:lnTo>
                    <a:pt x="2502870" y="0"/>
                  </a:lnTo>
                  <a:cubicBezTo>
                    <a:pt x="2514659" y="0"/>
                    <a:pt x="2524217" y="9557"/>
                    <a:pt x="2524217" y="21346"/>
                  </a:cubicBezTo>
                  <a:lnTo>
                    <a:pt x="2524217" y="1353425"/>
                  </a:lnTo>
                  <a:cubicBezTo>
                    <a:pt x="2524217" y="1365214"/>
                    <a:pt x="2514659" y="1374771"/>
                    <a:pt x="2502870" y="1374771"/>
                  </a:cubicBezTo>
                  <a:lnTo>
                    <a:pt x="21346" y="1374771"/>
                  </a:lnTo>
                  <a:cubicBezTo>
                    <a:pt x="9557" y="1374771"/>
                    <a:pt x="0" y="1365214"/>
                    <a:pt x="0" y="1353425"/>
                  </a:cubicBezTo>
                  <a:lnTo>
                    <a:pt x="0" y="21346"/>
                  </a:lnTo>
                  <a:cubicBezTo>
                    <a:pt x="0" y="9557"/>
                    <a:pt x="9557" y="0"/>
                    <a:pt x="21346" y="0"/>
                  </a:cubicBezTo>
                  <a:close/>
                </a:path>
              </a:pathLst>
            </a:custGeom>
            <a:ln w="38100" cap="sq">
              <a:solidFill>
                <a:srgbClr val="A6D1E6"/>
              </a:solidFill>
              <a:prstDash val="solid"/>
              <a:miter/>
            </a:ln>
          </p:spPr>
        </p:sp>
        <p:sp>
          <p:nvSpPr>
            <p:cNvPr name="TextBox 12" id="12"/>
            <p:cNvSpPr txBox="true"/>
            <p:nvPr/>
          </p:nvSpPr>
          <p:spPr>
            <a:xfrm>
              <a:off x="0" y="-38100"/>
              <a:ext cx="2524217" cy="1412871"/>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4763225" y="6809320"/>
            <a:ext cx="7253632" cy="2444117"/>
            <a:chOff x="0" y="0"/>
            <a:chExt cx="2524217" cy="850537"/>
          </a:xfrm>
        </p:grpSpPr>
        <p:sp>
          <p:nvSpPr>
            <p:cNvPr name="Freeform 14" id="14"/>
            <p:cNvSpPr/>
            <p:nvPr/>
          </p:nvSpPr>
          <p:spPr>
            <a:xfrm flipH="false" flipV="false" rot="0">
              <a:off x="0" y="0"/>
              <a:ext cx="2524217" cy="850537"/>
            </a:xfrm>
            <a:custGeom>
              <a:avLst/>
              <a:gdLst/>
              <a:ahLst/>
              <a:cxnLst/>
              <a:rect r="r" b="b" t="t" l="l"/>
              <a:pathLst>
                <a:path h="850537" w="2524217">
                  <a:moveTo>
                    <a:pt x="21346" y="0"/>
                  </a:moveTo>
                  <a:lnTo>
                    <a:pt x="2502870" y="0"/>
                  </a:lnTo>
                  <a:cubicBezTo>
                    <a:pt x="2514659" y="0"/>
                    <a:pt x="2524217" y="9557"/>
                    <a:pt x="2524217" y="21346"/>
                  </a:cubicBezTo>
                  <a:lnTo>
                    <a:pt x="2524217" y="829190"/>
                  </a:lnTo>
                  <a:cubicBezTo>
                    <a:pt x="2524217" y="840980"/>
                    <a:pt x="2514659" y="850537"/>
                    <a:pt x="2502870" y="850537"/>
                  </a:cubicBezTo>
                  <a:lnTo>
                    <a:pt x="21346" y="850537"/>
                  </a:lnTo>
                  <a:cubicBezTo>
                    <a:pt x="9557" y="850537"/>
                    <a:pt x="0" y="840980"/>
                    <a:pt x="0" y="829190"/>
                  </a:cubicBezTo>
                  <a:lnTo>
                    <a:pt x="0" y="21346"/>
                  </a:lnTo>
                  <a:cubicBezTo>
                    <a:pt x="0" y="9557"/>
                    <a:pt x="9557" y="0"/>
                    <a:pt x="21346" y="0"/>
                  </a:cubicBezTo>
                  <a:close/>
                </a:path>
              </a:pathLst>
            </a:custGeom>
            <a:ln w="38100" cap="sq">
              <a:solidFill>
                <a:srgbClr val="A6D1E6"/>
              </a:solidFill>
              <a:prstDash val="solid"/>
              <a:miter/>
            </a:ln>
          </p:spPr>
        </p:sp>
        <p:sp>
          <p:nvSpPr>
            <p:cNvPr name="TextBox 15" id="15"/>
            <p:cNvSpPr txBox="true"/>
            <p:nvPr/>
          </p:nvSpPr>
          <p:spPr>
            <a:xfrm>
              <a:off x="0" y="-38100"/>
              <a:ext cx="2524217" cy="888637"/>
            </a:xfrm>
            <a:prstGeom prst="rect">
              <a:avLst/>
            </a:prstGeom>
          </p:spPr>
          <p:txBody>
            <a:bodyPr anchor="ctr" rtlCol="false" tIns="50800" lIns="50800" bIns="50800" rIns="50800"/>
            <a:lstStyle/>
            <a:p>
              <a:pPr algn="ctr">
                <a:lnSpc>
                  <a:spcPts val="2659"/>
                </a:lnSpc>
              </a:pPr>
            </a:p>
          </p:txBody>
        </p:sp>
      </p:grpSp>
      <p:sp>
        <p:nvSpPr>
          <p:cNvPr name="TextBox 16" id="16"/>
          <p:cNvSpPr txBox="true"/>
          <p:nvPr/>
        </p:nvSpPr>
        <p:spPr>
          <a:xfrm rot="0">
            <a:off x="5040148" y="8023932"/>
            <a:ext cx="2051926" cy="450215"/>
          </a:xfrm>
          <a:prstGeom prst="rect">
            <a:avLst/>
          </a:prstGeom>
        </p:spPr>
        <p:txBody>
          <a:bodyPr anchor="t" rtlCol="false" tIns="0" lIns="0" bIns="0" rIns="0">
            <a:spAutoFit/>
          </a:bodyPr>
          <a:lstStyle/>
          <a:p>
            <a:pPr algn="l" marL="0" indent="0" lvl="0">
              <a:lnSpc>
                <a:spcPts val="3520"/>
              </a:lnSpc>
              <a:spcBef>
                <a:spcPct val="0"/>
              </a:spcBef>
            </a:pPr>
            <a:r>
              <a:rPr lang="en-US" sz="3200" strike="noStrike" u="none">
                <a:solidFill>
                  <a:srgbClr val="7F5283"/>
                </a:solidFill>
                <a:latin typeface="Inter"/>
                <a:ea typeface="Inter"/>
                <a:cs typeface="Inter"/>
                <a:sym typeface="Inter"/>
              </a:rPr>
              <a:t>Jan 2015</a:t>
            </a:r>
          </a:p>
        </p:txBody>
      </p:sp>
      <p:sp>
        <p:nvSpPr>
          <p:cNvPr name="AutoShape 17" id="17"/>
          <p:cNvSpPr/>
          <p:nvPr/>
        </p:nvSpPr>
        <p:spPr>
          <a:xfrm flipV="true">
            <a:off x="7353300" y="8059103"/>
            <a:ext cx="386715" cy="381000"/>
          </a:xfrm>
          <a:prstGeom prst="line">
            <a:avLst/>
          </a:prstGeom>
          <a:ln cap="rnd" w="95250">
            <a:solidFill>
              <a:srgbClr val="7F5283"/>
            </a:solidFill>
            <a:prstDash val="solid"/>
            <a:headEnd type="none" len="sm" w="sm"/>
            <a:tailEnd type="arrow" len="sm" w="med"/>
          </a:ln>
        </p:spPr>
      </p:sp>
      <p:sp>
        <p:nvSpPr>
          <p:cNvPr name="TextBox 18" id="18"/>
          <p:cNvSpPr txBox="true"/>
          <p:nvPr/>
        </p:nvSpPr>
        <p:spPr>
          <a:xfrm rot="0">
            <a:off x="1028700" y="1076325"/>
            <a:ext cx="11254232" cy="680085"/>
          </a:xfrm>
          <a:prstGeom prst="rect">
            <a:avLst/>
          </a:prstGeom>
        </p:spPr>
        <p:txBody>
          <a:bodyPr anchor="t" rtlCol="false" tIns="0" lIns="0" bIns="0" rIns="0">
            <a:spAutoFit/>
          </a:bodyPr>
          <a:lstStyle/>
          <a:p>
            <a:pPr algn="l" marL="0" indent="0" lvl="0">
              <a:lnSpc>
                <a:spcPts val="5280"/>
              </a:lnSpc>
              <a:spcBef>
                <a:spcPct val="0"/>
              </a:spcBef>
            </a:pPr>
            <a:r>
              <a:rPr lang="en-US" b="true" sz="4800" strike="noStrike" u="none">
                <a:solidFill>
                  <a:srgbClr val="3D3C42"/>
                </a:solidFill>
                <a:latin typeface="Inter Bold"/>
                <a:ea typeface="Inter Bold"/>
                <a:cs typeface="Inter Bold"/>
                <a:sym typeface="Inter Bold"/>
              </a:rPr>
              <a:t>Business Context &amp; Data</a:t>
            </a:r>
          </a:p>
        </p:txBody>
      </p:sp>
      <p:sp>
        <p:nvSpPr>
          <p:cNvPr name="TextBox 19" id="19"/>
          <p:cNvSpPr txBox="true"/>
          <p:nvPr/>
        </p:nvSpPr>
        <p:spPr>
          <a:xfrm rot="0">
            <a:off x="12719190" y="1463040"/>
            <a:ext cx="4103852" cy="293370"/>
          </a:xfrm>
          <a:prstGeom prst="rect">
            <a:avLst/>
          </a:prstGeom>
        </p:spPr>
        <p:txBody>
          <a:bodyPr anchor="t" rtlCol="false" tIns="0" lIns="0" bIns="0" rIns="0">
            <a:spAutoFit/>
          </a:bodyPr>
          <a:lstStyle/>
          <a:p>
            <a:pPr algn="l" marL="0" indent="0" lvl="0">
              <a:lnSpc>
                <a:spcPts val="2310"/>
              </a:lnSpc>
              <a:spcBef>
                <a:spcPct val="0"/>
              </a:spcBef>
            </a:pPr>
            <a:r>
              <a:rPr lang="en-US" b="true" sz="2100" strike="noStrike" u="none">
                <a:solidFill>
                  <a:srgbClr val="3D3C42"/>
                </a:solidFill>
                <a:latin typeface="Inter Bold"/>
                <a:ea typeface="Inter Bold"/>
                <a:cs typeface="Inter Bold"/>
                <a:sym typeface="Inter Bold"/>
              </a:rPr>
              <a:t>Raw Data</a:t>
            </a:r>
          </a:p>
        </p:txBody>
      </p:sp>
      <p:sp>
        <p:nvSpPr>
          <p:cNvPr name="TextBox 20" id="20"/>
          <p:cNvSpPr txBox="true"/>
          <p:nvPr/>
        </p:nvSpPr>
        <p:spPr>
          <a:xfrm rot="0">
            <a:off x="14777281" y="2439403"/>
            <a:ext cx="2210700" cy="499110"/>
          </a:xfrm>
          <a:prstGeom prst="rect">
            <a:avLst/>
          </a:prstGeom>
        </p:spPr>
        <p:txBody>
          <a:bodyPr anchor="t" rtlCol="false" tIns="0" lIns="0" bIns="0" rIns="0">
            <a:spAutoFit/>
          </a:bodyPr>
          <a:lstStyle/>
          <a:p>
            <a:pPr algn="l" marL="0" indent="0" lvl="0">
              <a:lnSpc>
                <a:spcPts val="1980"/>
              </a:lnSpc>
              <a:spcBef>
                <a:spcPct val="0"/>
              </a:spcBef>
            </a:pPr>
            <a:r>
              <a:rPr lang="en-US" sz="1800" strike="noStrike" u="none">
                <a:solidFill>
                  <a:srgbClr val="3D3C42"/>
                </a:solidFill>
                <a:latin typeface="Inter"/>
                <a:ea typeface="Inter"/>
                <a:cs typeface="Inter"/>
                <a:sym typeface="Inter"/>
              </a:rPr>
              <a:t>rows and 53 columns</a:t>
            </a:r>
          </a:p>
        </p:txBody>
      </p:sp>
      <p:sp>
        <p:nvSpPr>
          <p:cNvPr name="TextBox 21" id="21"/>
          <p:cNvSpPr txBox="true"/>
          <p:nvPr/>
        </p:nvSpPr>
        <p:spPr>
          <a:xfrm rot="0">
            <a:off x="12731521" y="4281437"/>
            <a:ext cx="4103852" cy="293370"/>
          </a:xfrm>
          <a:prstGeom prst="rect">
            <a:avLst/>
          </a:prstGeom>
        </p:spPr>
        <p:txBody>
          <a:bodyPr anchor="t" rtlCol="false" tIns="0" lIns="0" bIns="0" rIns="0">
            <a:spAutoFit/>
          </a:bodyPr>
          <a:lstStyle/>
          <a:p>
            <a:pPr algn="l" marL="0" indent="0" lvl="0">
              <a:lnSpc>
                <a:spcPts val="2310"/>
              </a:lnSpc>
              <a:spcBef>
                <a:spcPct val="0"/>
              </a:spcBef>
            </a:pPr>
            <a:r>
              <a:rPr lang="en-US" b="true" sz="2100" strike="noStrike" u="none">
                <a:solidFill>
                  <a:srgbClr val="3D3C42"/>
                </a:solidFill>
                <a:latin typeface="Inter Bold"/>
                <a:ea typeface="Inter Bold"/>
                <a:cs typeface="Inter Bold"/>
                <a:sym typeface="Inter Bold"/>
              </a:rPr>
              <a:t>After Cleaning</a:t>
            </a:r>
          </a:p>
        </p:txBody>
      </p:sp>
      <p:sp>
        <p:nvSpPr>
          <p:cNvPr name="TextBox 22" id="22"/>
          <p:cNvSpPr txBox="true"/>
          <p:nvPr/>
        </p:nvSpPr>
        <p:spPr>
          <a:xfrm rot="0">
            <a:off x="14777281" y="5244916"/>
            <a:ext cx="2210700" cy="499110"/>
          </a:xfrm>
          <a:prstGeom prst="rect">
            <a:avLst/>
          </a:prstGeom>
        </p:spPr>
        <p:txBody>
          <a:bodyPr anchor="t" rtlCol="false" tIns="0" lIns="0" bIns="0" rIns="0">
            <a:spAutoFit/>
          </a:bodyPr>
          <a:lstStyle/>
          <a:p>
            <a:pPr algn="l" marL="0" indent="0" lvl="0">
              <a:lnSpc>
                <a:spcPts val="1980"/>
              </a:lnSpc>
              <a:spcBef>
                <a:spcPct val="0"/>
              </a:spcBef>
            </a:pPr>
            <a:r>
              <a:rPr lang="en-US" sz="1800" strike="noStrike" u="none">
                <a:solidFill>
                  <a:srgbClr val="3D3C42"/>
                </a:solidFill>
                <a:latin typeface="Inter"/>
                <a:ea typeface="Inter"/>
                <a:cs typeface="Inter"/>
                <a:sym typeface="Inter"/>
              </a:rPr>
              <a:t>orders and 22 columns</a:t>
            </a:r>
          </a:p>
        </p:txBody>
      </p:sp>
      <p:sp>
        <p:nvSpPr>
          <p:cNvPr name="TextBox 23" id="23"/>
          <p:cNvSpPr txBox="true"/>
          <p:nvPr/>
        </p:nvSpPr>
        <p:spPr>
          <a:xfrm rot="0">
            <a:off x="12731521" y="7099834"/>
            <a:ext cx="4103852" cy="293370"/>
          </a:xfrm>
          <a:prstGeom prst="rect">
            <a:avLst/>
          </a:prstGeom>
        </p:spPr>
        <p:txBody>
          <a:bodyPr anchor="t" rtlCol="false" tIns="0" lIns="0" bIns="0" rIns="0">
            <a:spAutoFit/>
          </a:bodyPr>
          <a:lstStyle/>
          <a:p>
            <a:pPr algn="l" marL="0" indent="0" lvl="0">
              <a:lnSpc>
                <a:spcPts val="2310"/>
              </a:lnSpc>
              <a:spcBef>
                <a:spcPct val="0"/>
              </a:spcBef>
            </a:pPr>
            <a:r>
              <a:rPr lang="en-US" b="true" sz="2100" strike="noStrike" u="none">
                <a:solidFill>
                  <a:srgbClr val="3D3C42"/>
                </a:solidFill>
                <a:latin typeface="Inter Bold"/>
                <a:ea typeface="Inter Bold"/>
                <a:cs typeface="Inter Bold"/>
                <a:sym typeface="Inter Bold"/>
              </a:rPr>
              <a:t>Removed</a:t>
            </a:r>
          </a:p>
        </p:txBody>
      </p:sp>
      <p:sp>
        <p:nvSpPr>
          <p:cNvPr name="TextBox 24" id="24"/>
          <p:cNvSpPr txBox="true"/>
          <p:nvPr/>
        </p:nvSpPr>
        <p:spPr>
          <a:xfrm rot="0">
            <a:off x="14777281" y="8050429"/>
            <a:ext cx="2210700" cy="746760"/>
          </a:xfrm>
          <a:prstGeom prst="rect">
            <a:avLst/>
          </a:prstGeom>
        </p:spPr>
        <p:txBody>
          <a:bodyPr anchor="t" rtlCol="false" tIns="0" lIns="0" bIns="0" rIns="0">
            <a:spAutoFit/>
          </a:bodyPr>
          <a:lstStyle/>
          <a:p>
            <a:pPr algn="l" marL="0" indent="0" lvl="0">
              <a:lnSpc>
                <a:spcPts val="1980"/>
              </a:lnSpc>
              <a:spcBef>
                <a:spcPct val="0"/>
              </a:spcBef>
            </a:pPr>
            <a:r>
              <a:rPr lang="en-US" sz="1800" strike="noStrike" u="none">
                <a:solidFill>
                  <a:srgbClr val="3D3C42"/>
                </a:solidFill>
                <a:latin typeface="Inter"/>
                <a:ea typeface="Inter"/>
                <a:cs typeface="Inter"/>
                <a:sym typeface="Inter"/>
              </a:rPr>
              <a:t>cancelled orders, plus 31 unused columns</a:t>
            </a:r>
          </a:p>
        </p:txBody>
      </p:sp>
      <p:sp>
        <p:nvSpPr>
          <p:cNvPr name="TextBox 25" id="25"/>
          <p:cNvSpPr txBox="true"/>
          <p:nvPr/>
        </p:nvSpPr>
        <p:spPr>
          <a:xfrm rot="0">
            <a:off x="5040148" y="3036671"/>
            <a:ext cx="4103852" cy="293370"/>
          </a:xfrm>
          <a:prstGeom prst="rect">
            <a:avLst/>
          </a:prstGeom>
        </p:spPr>
        <p:txBody>
          <a:bodyPr anchor="t" rtlCol="false" tIns="0" lIns="0" bIns="0" rIns="0">
            <a:spAutoFit/>
          </a:bodyPr>
          <a:lstStyle/>
          <a:p>
            <a:pPr algn="l" marL="0" indent="0" lvl="0">
              <a:lnSpc>
                <a:spcPts val="2310"/>
              </a:lnSpc>
              <a:spcBef>
                <a:spcPct val="0"/>
              </a:spcBef>
            </a:pPr>
            <a:r>
              <a:rPr lang="en-US" b="true" sz="2100" strike="noStrike" u="none">
                <a:solidFill>
                  <a:srgbClr val="3D3C42"/>
                </a:solidFill>
                <a:latin typeface="Inter Bold"/>
                <a:ea typeface="Inter Bold"/>
                <a:cs typeface="Inter Bold"/>
                <a:sym typeface="Inter Bold"/>
              </a:rPr>
              <a:t>Business Problem</a:t>
            </a:r>
          </a:p>
        </p:txBody>
      </p:sp>
      <p:sp>
        <p:nvSpPr>
          <p:cNvPr name="TextBox 26" id="26"/>
          <p:cNvSpPr txBox="true"/>
          <p:nvPr/>
        </p:nvSpPr>
        <p:spPr>
          <a:xfrm rot="0">
            <a:off x="1028700" y="3022489"/>
            <a:ext cx="3467825" cy="293370"/>
          </a:xfrm>
          <a:prstGeom prst="rect">
            <a:avLst/>
          </a:prstGeom>
        </p:spPr>
        <p:txBody>
          <a:bodyPr anchor="t" rtlCol="false" tIns="0" lIns="0" bIns="0" rIns="0">
            <a:spAutoFit/>
          </a:bodyPr>
          <a:lstStyle/>
          <a:p>
            <a:pPr algn="ctr" marL="0" indent="0" lvl="0">
              <a:lnSpc>
                <a:spcPts val="2310"/>
              </a:lnSpc>
              <a:spcBef>
                <a:spcPct val="0"/>
              </a:spcBef>
            </a:pPr>
            <a:r>
              <a:rPr lang="en-US" b="true" sz="2100" strike="noStrike" u="none">
                <a:solidFill>
                  <a:srgbClr val="3D3C42"/>
                </a:solidFill>
                <a:latin typeface="Inter Bold"/>
                <a:ea typeface="Inter Bold"/>
                <a:cs typeface="Inter Bold"/>
                <a:sym typeface="Inter Bold"/>
              </a:rPr>
              <a:t>Objectives</a:t>
            </a:r>
          </a:p>
        </p:txBody>
      </p:sp>
      <p:sp>
        <p:nvSpPr>
          <p:cNvPr name="TextBox 27" id="27"/>
          <p:cNvSpPr txBox="true"/>
          <p:nvPr/>
        </p:nvSpPr>
        <p:spPr>
          <a:xfrm rot="0">
            <a:off x="1417533" y="4302392"/>
            <a:ext cx="2857500" cy="499110"/>
          </a:xfrm>
          <a:prstGeom prst="rect">
            <a:avLst/>
          </a:prstGeom>
        </p:spPr>
        <p:txBody>
          <a:bodyPr anchor="t" rtlCol="false" tIns="0" lIns="0" bIns="0" rIns="0">
            <a:spAutoFit/>
          </a:bodyPr>
          <a:lstStyle/>
          <a:p>
            <a:pPr algn="l" marL="0" indent="0" lvl="0">
              <a:lnSpc>
                <a:spcPts val="1980"/>
              </a:lnSpc>
              <a:spcBef>
                <a:spcPct val="0"/>
              </a:spcBef>
            </a:pPr>
            <a:r>
              <a:rPr lang="en-US" sz="1800" strike="noStrike" u="none">
                <a:solidFill>
                  <a:srgbClr val="3D3C42"/>
                </a:solidFill>
                <a:latin typeface="Inter"/>
                <a:ea typeface="Inter"/>
                <a:cs typeface="Inter"/>
                <a:sym typeface="Inter"/>
              </a:rPr>
              <a:t>Measure delivery performance</a:t>
            </a:r>
          </a:p>
        </p:txBody>
      </p:sp>
      <p:sp>
        <p:nvSpPr>
          <p:cNvPr name="TextBox 28" id="28"/>
          <p:cNvSpPr txBox="true"/>
          <p:nvPr/>
        </p:nvSpPr>
        <p:spPr>
          <a:xfrm rot="0">
            <a:off x="1417533" y="3771025"/>
            <a:ext cx="1344786" cy="450215"/>
          </a:xfrm>
          <a:prstGeom prst="rect">
            <a:avLst/>
          </a:prstGeom>
        </p:spPr>
        <p:txBody>
          <a:bodyPr anchor="t" rtlCol="false" tIns="0" lIns="0" bIns="0" rIns="0">
            <a:spAutoFit/>
          </a:bodyPr>
          <a:lstStyle/>
          <a:p>
            <a:pPr algn="l">
              <a:lnSpc>
                <a:spcPts val="3520"/>
              </a:lnSpc>
            </a:pPr>
            <a:r>
              <a:rPr lang="en-US" b="true" sz="3200">
                <a:solidFill>
                  <a:srgbClr val="7F5283"/>
                </a:solidFill>
                <a:latin typeface="Inter Bold"/>
                <a:ea typeface="Inter Bold"/>
                <a:cs typeface="Inter Bold"/>
                <a:sym typeface="Inter Bold"/>
              </a:rPr>
              <a:t>01</a:t>
            </a:r>
          </a:p>
        </p:txBody>
      </p:sp>
      <p:sp>
        <p:nvSpPr>
          <p:cNvPr name="TextBox 29" id="29"/>
          <p:cNvSpPr txBox="true"/>
          <p:nvPr/>
        </p:nvSpPr>
        <p:spPr>
          <a:xfrm rot="0">
            <a:off x="1417533" y="5720027"/>
            <a:ext cx="2857500" cy="251460"/>
          </a:xfrm>
          <a:prstGeom prst="rect">
            <a:avLst/>
          </a:prstGeom>
        </p:spPr>
        <p:txBody>
          <a:bodyPr anchor="t" rtlCol="false" tIns="0" lIns="0" bIns="0" rIns="0">
            <a:spAutoFit/>
          </a:bodyPr>
          <a:lstStyle/>
          <a:p>
            <a:pPr algn="l" marL="0" indent="0" lvl="0">
              <a:lnSpc>
                <a:spcPts val="1980"/>
              </a:lnSpc>
              <a:spcBef>
                <a:spcPct val="0"/>
              </a:spcBef>
            </a:pPr>
            <a:r>
              <a:rPr lang="en-US" sz="1800" strike="noStrike" u="none">
                <a:solidFill>
                  <a:srgbClr val="3D3C42"/>
                </a:solidFill>
                <a:latin typeface="Inter"/>
                <a:ea typeface="Inter"/>
                <a:cs typeface="Inter"/>
                <a:sym typeface="Inter"/>
              </a:rPr>
              <a:t>Quantify the profit impact</a:t>
            </a:r>
          </a:p>
        </p:txBody>
      </p:sp>
      <p:sp>
        <p:nvSpPr>
          <p:cNvPr name="TextBox 30" id="30"/>
          <p:cNvSpPr txBox="true"/>
          <p:nvPr/>
        </p:nvSpPr>
        <p:spPr>
          <a:xfrm rot="0">
            <a:off x="1417533" y="5188661"/>
            <a:ext cx="1344786" cy="450215"/>
          </a:xfrm>
          <a:prstGeom prst="rect">
            <a:avLst/>
          </a:prstGeom>
        </p:spPr>
        <p:txBody>
          <a:bodyPr anchor="t" rtlCol="false" tIns="0" lIns="0" bIns="0" rIns="0">
            <a:spAutoFit/>
          </a:bodyPr>
          <a:lstStyle/>
          <a:p>
            <a:pPr algn="l">
              <a:lnSpc>
                <a:spcPts val="3520"/>
              </a:lnSpc>
            </a:pPr>
            <a:r>
              <a:rPr lang="en-US" b="true" sz="3200">
                <a:solidFill>
                  <a:srgbClr val="7F5283"/>
                </a:solidFill>
                <a:latin typeface="Inter Bold"/>
                <a:ea typeface="Inter Bold"/>
                <a:cs typeface="Inter Bold"/>
                <a:sym typeface="Inter Bold"/>
              </a:rPr>
              <a:t>02</a:t>
            </a:r>
          </a:p>
        </p:txBody>
      </p:sp>
      <p:sp>
        <p:nvSpPr>
          <p:cNvPr name="TextBox 31" id="31"/>
          <p:cNvSpPr txBox="true"/>
          <p:nvPr/>
        </p:nvSpPr>
        <p:spPr>
          <a:xfrm rot="0">
            <a:off x="1417533" y="7137663"/>
            <a:ext cx="2857500" cy="499110"/>
          </a:xfrm>
          <a:prstGeom prst="rect">
            <a:avLst/>
          </a:prstGeom>
        </p:spPr>
        <p:txBody>
          <a:bodyPr anchor="t" rtlCol="false" tIns="0" lIns="0" bIns="0" rIns="0">
            <a:spAutoFit/>
          </a:bodyPr>
          <a:lstStyle/>
          <a:p>
            <a:pPr algn="l" marL="0" indent="0" lvl="0">
              <a:lnSpc>
                <a:spcPts val="1980"/>
              </a:lnSpc>
              <a:spcBef>
                <a:spcPct val="0"/>
              </a:spcBef>
            </a:pPr>
            <a:r>
              <a:rPr lang="en-US" sz="1800" strike="noStrike" u="none">
                <a:solidFill>
                  <a:srgbClr val="3D3C42"/>
                </a:solidFill>
                <a:latin typeface="Inter"/>
                <a:ea typeface="Inter"/>
                <a:cs typeface="Inter"/>
                <a:sym typeface="Inter"/>
              </a:rPr>
              <a:t>Find bottlenecks and root causes</a:t>
            </a:r>
          </a:p>
        </p:txBody>
      </p:sp>
      <p:sp>
        <p:nvSpPr>
          <p:cNvPr name="TextBox 32" id="32"/>
          <p:cNvSpPr txBox="true"/>
          <p:nvPr/>
        </p:nvSpPr>
        <p:spPr>
          <a:xfrm rot="0">
            <a:off x="1417533" y="6606297"/>
            <a:ext cx="1344786" cy="450215"/>
          </a:xfrm>
          <a:prstGeom prst="rect">
            <a:avLst/>
          </a:prstGeom>
        </p:spPr>
        <p:txBody>
          <a:bodyPr anchor="t" rtlCol="false" tIns="0" lIns="0" bIns="0" rIns="0">
            <a:spAutoFit/>
          </a:bodyPr>
          <a:lstStyle/>
          <a:p>
            <a:pPr algn="l">
              <a:lnSpc>
                <a:spcPts val="3520"/>
              </a:lnSpc>
            </a:pPr>
            <a:r>
              <a:rPr lang="en-US" b="true" sz="3200">
                <a:solidFill>
                  <a:srgbClr val="7F5283"/>
                </a:solidFill>
                <a:latin typeface="Inter Bold"/>
                <a:ea typeface="Inter Bold"/>
                <a:cs typeface="Inter Bold"/>
                <a:sym typeface="Inter Bold"/>
              </a:rPr>
              <a:t>03</a:t>
            </a:r>
          </a:p>
        </p:txBody>
      </p:sp>
      <p:sp>
        <p:nvSpPr>
          <p:cNvPr name="TextBox 33" id="33"/>
          <p:cNvSpPr txBox="true"/>
          <p:nvPr/>
        </p:nvSpPr>
        <p:spPr>
          <a:xfrm rot="0">
            <a:off x="1417533" y="8555299"/>
            <a:ext cx="2857500" cy="499110"/>
          </a:xfrm>
          <a:prstGeom prst="rect">
            <a:avLst/>
          </a:prstGeom>
        </p:spPr>
        <p:txBody>
          <a:bodyPr anchor="t" rtlCol="false" tIns="0" lIns="0" bIns="0" rIns="0">
            <a:spAutoFit/>
          </a:bodyPr>
          <a:lstStyle/>
          <a:p>
            <a:pPr algn="l" marL="0" indent="0" lvl="0">
              <a:lnSpc>
                <a:spcPts val="1980"/>
              </a:lnSpc>
              <a:spcBef>
                <a:spcPct val="0"/>
              </a:spcBef>
            </a:pPr>
            <a:r>
              <a:rPr lang="en-US" sz="1800" strike="noStrike" u="none">
                <a:solidFill>
                  <a:srgbClr val="3D3C42"/>
                </a:solidFill>
                <a:latin typeface="Inter"/>
                <a:ea typeface="Inter"/>
                <a:cs typeface="Inter"/>
                <a:sym typeface="Inter"/>
              </a:rPr>
              <a:t>Predict late orders, recommend fixes</a:t>
            </a:r>
          </a:p>
        </p:txBody>
      </p:sp>
      <p:sp>
        <p:nvSpPr>
          <p:cNvPr name="TextBox 34" id="34"/>
          <p:cNvSpPr txBox="true"/>
          <p:nvPr/>
        </p:nvSpPr>
        <p:spPr>
          <a:xfrm rot="0">
            <a:off x="1417533" y="8023932"/>
            <a:ext cx="1344786" cy="450215"/>
          </a:xfrm>
          <a:prstGeom prst="rect">
            <a:avLst/>
          </a:prstGeom>
        </p:spPr>
        <p:txBody>
          <a:bodyPr anchor="t" rtlCol="false" tIns="0" lIns="0" bIns="0" rIns="0">
            <a:spAutoFit/>
          </a:bodyPr>
          <a:lstStyle/>
          <a:p>
            <a:pPr algn="l">
              <a:lnSpc>
                <a:spcPts val="3520"/>
              </a:lnSpc>
            </a:pPr>
            <a:r>
              <a:rPr lang="en-US" b="true" sz="3200">
                <a:solidFill>
                  <a:srgbClr val="7F5283"/>
                </a:solidFill>
                <a:latin typeface="Inter Bold"/>
                <a:ea typeface="Inter Bold"/>
                <a:cs typeface="Inter Bold"/>
                <a:sym typeface="Inter Bold"/>
              </a:rPr>
              <a:t>04</a:t>
            </a:r>
          </a:p>
        </p:txBody>
      </p:sp>
      <p:sp>
        <p:nvSpPr>
          <p:cNvPr name="TextBox 35" id="35"/>
          <p:cNvSpPr txBox="true"/>
          <p:nvPr/>
        </p:nvSpPr>
        <p:spPr>
          <a:xfrm rot="0">
            <a:off x="5040148" y="7272918"/>
            <a:ext cx="6215387" cy="293370"/>
          </a:xfrm>
          <a:prstGeom prst="rect">
            <a:avLst/>
          </a:prstGeom>
        </p:spPr>
        <p:txBody>
          <a:bodyPr anchor="t" rtlCol="false" tIns="0" lIns="0" bIns="0" rIns="0">
            <a:spAutoFit/>
          </a:bodyPr>
          <a:lstStyle/>
          <a:p>
            <a:pPr algn="l" marL="0" indent="0" lvl="0">
              <a:lnSpc>
                <a:spcPts val="2310"/>
              </a:lnSpc>
              <a:spcBef>
                <a:spcPct val="0"/>
              </a:spcBef>
            </a:pPr>
            <a:r>
              <a:rPr lang="en-US" b="true" sz="2100" strike="noStrike" u="none">
                <a:solidFill>
                  <a:srgbClr val="3D3C42"/>
                </a:solidFill>
                <a:latin typeface="Inter Bold"/>
                <a:ea typeface="Inter Bold"/>
                <a:cs typeface="Inter Bold"/>
                <a:sym typeface="Inter Bold"/>
              </a:rPr>
              <a:t>Analysis Window</a:t>
            </a:r>
          </a:p>
        </p:txBody>
      </p:sp>
      <p:sp>
        <p:nvSpPr>
          <p:cNvPr name="TextBox 36" id="36"/>
          <p:cNvSpPr txBox="true"/>
          <p:nvPr/>
        </p:nvSpPr>
        <p:spPr>
          <a:xfrm rot="0">
            <a:off x="5040148" y="8541631"/>
            <a:ext cx="2930713" cy="251460"/>
          </a:xfrm>
          <a:prstGeom prst="rect">
            <a:avLst/>
          </a:prstGeom>
        </p:spPr>
        <p:txBody>
          <a:bodyPr anchor="t" rtlCol="false" tIns="0" lIns="0" bIns="0" rIns="0">
            <a:spAutoFit/>
          </a:bodyPr>
          <a:lstStyle/>
          <a:p>
            <a:pPr algn="l" marL="0" indent="0" lvl="0">
              <a:lnSpc>
                <a:spcPts val="1980"/>
              </a:lnSpc>
              <a:spcBef>
                <a:spcPct val="0"/>
              </a:spcBef>
            </a:pPr>
            <a:r>
              <a:rPr lang="en-US" sz="1800" strike="noStrike" u="none">
                <a:solidFill>
                  <a:srgbClr val="3D3C42"/>
                </a:solidFill>
                <a:latin typeface="Inter"/>
                <a:ea typeface="Inter"/>
                <a:cs typeface="Inter"/>
                <a:sym typeface="Inter"/>
              </a:rPr>
              <a:t>first order date</a:t>
            </a:r>
          </a:p>
        </p:txBody>
      </p:sp>
      <p:sp>
        <p:nvSpPr>
          <p:cNvPr name="TextBox 37" id="37"/>
          <p:cNvSpPr txBox="true"/>
          <p:nvPr/>
        </p:nvSpPr>
        <p:spPr>
          <a:xfrm rot="0">
            <a:off x="8390041" y="8023932"/>
            <a:ext cx="2051926" cy="450215"/>
          </a:xfrm>
          <a:prstGeom prst="rect">
            <a:avLst/>
          </a:prstGeom>
        </p:spPr>
        <p:txBody>
          <a:bodyPr anchor="t" rtlCol="false" tIns="0" lIns="0" bIns="0" rIns="0">
            <a:spAutoFit/>
          </a:bodyPr>
          <a:lstStyle/>
          <a:p>
            <a:pPr algn="l" marL="0" indent="0" lvl="0">
              <a:lnSpc>
                <a:spcPts val="3520"/>
              </a:lnSpc>
              <a:spcBef>
                <a:spcPct val="0"/>
              </a:spcBef>
            </a:pPr>
            <a:r>
              <a:rPr lang="en-US" sz="3200" strike="noStrike" u="none">
                <a:solidFill>
                  <a:srgbClr val="9DB2CE"/>
                </a:solidFill>
                <a:latin typeface="Inter"/>
                <a:ea typeface="Inter"/>
                <a:cs typeface="Inter"/>
                <a:sym typeface="Inter"/>
              </a:rPr>
              <a:t>Jan 2018</a:t>
            </a:r>
          </a:p>
        </p:txBody>
      </p:sp>
      <p:sp>
        <p:nvSpPr>
          <p:cNvPr name="TextBox 38" id="38"/>
          <p:cNvSpPr txBox="true"/>
          <p:nvPr/>
        </p:nvSpPr>
        <p:spPr>
          <a:xfrm rot="0">
            <a:off x="8390041" y="8541631"/>
            <a:ext cx="2930713" cy="251460"/>
          </a:xfrm>
          <a:prstGeom prst="rect">
            <a:avLst/>
          </a:prstGeom>
        </p:spPr>
        <p:txBody>
          <a:bodyPr anchor="t" rtlCol="false" tIns="0" lIns="0" bIns="0" rIns="0">
            <a:spAutoFit/>
          </a:bodyPr>
          <a:lstStyle/>
          <a:p>
            <a:pPr algn="l" marL="0" indent="0" lvl="0">
              <a:lnSpc>
                <a:spcPts val="1980"/>
              </a:lnSpc>
              <a:spcBef>
                <a:spcPct val="0"/>
              </a:spcBef>
            </a:pPr>
            <a:r>
              <a:rPr lang="en-US" sz="1800" strike="noStrike" u="none">
                <a:solidFill>
                  <a:srgbClr val="3D3C42"/>
                </a:solidFill>
                <a:latin typeface="Inter"/>
                <a:ea typeface="Inter"/>
                <a:cs typeface="Inter"/>
                <a:sym typeface="Inter"/>
              </a:rPr>
              <a:t>last order date</a:t>
            </a:r>
          </a:p>
        </p:txBody>
      </p:sp>
      <p:sp>
        <p:nvSpPr>
          <p:cNvPr name="TextBox 39" id="39"/>
          <p:cNvSpPr txBox="true"/>
          <p:nvPr/>
        </p:nvSpPr>
        <p:spPr>
          <a:xfrm rot="0">
            <a:off x="5038725" y="3562350"/>
            <a:ext cx="6667500" cy="1584960"/>
          </a:xfrm>
          <a:prstGeom prst="rect">
            <a:avLst/>
          </a:prstGeom>
        </p:spPr>
        <p:txBody>
          <a:bodyPr anchor="t" rtlCol="false" tIns="0" lIns="0" bIns="0" rIns="0">
            <a:spAutoFit/>
          </a:bodyPr>
          <a:lstStyle/>
          <a:p>
            <a:pPr algn="l">
              <a:lnSpc>
                <a:spcPts val="2535"/>
              </a:lnSpc>
            </a:pPr>
            <a:r>
              <a:rPr lang="en-US" sz="1950">
                <a:solidFill>
                  <a:srgbClr val="3D3C42"/>
                </a:solidFill>
                <a:latin typeface="Arimo"/>
                <a:ea typeface="Arimo"/>
                <a:cs typeface="Arimo"/>
                <a:sym typeface="Arimo"/>
              </a:rPr>
              <a:t>A global e-commerce company sells sporting goods, fitness gear, outdoor equipment, footwear and apparel across many regions. Actual shipping times often miss the scheduled window. This erodes customer trust, squeezes order profit and makes delivery promises unreliable.</a:t>
            </a:r>
          </a:p>
        </p:txBody>
      </p:sp>
      <p:sp>
        <p:nvSpPr>
          <p:cNvPr name="TextBox 40" id="40"/>
          <p:cNvSpPr txBox="true"/>
          <p:nvPr/>
        </p:nvSpPr>
        <p:spPr>
          <a:xfrm rot="0">
            <a:off x="12715875" y="2428875"/>
            <a:ext cx="1952625" cy="499110"/>
          </a:xfrm>
          <a:prstGeom prst="rect">
            <a:avLst/>
          </a:prstGeom>
        </p:spPr>
        <p:txBody>
          <a:bodyPr anchor="t" rtlCol="false" tIns="0" lIns="0" bIns="0" rIns="0">
            <a:spAutoFit/>
          </a:bodyPr>
          <a:lstStyle/>
          <a:p>
            <a:pPr algn="l">
              <a:lnSpc>
                <a:spcPts val="3630"/>
              </a:lnSpc>
            </a:pPr>
            <a:r>
              <a:rPr lang="en-US" sz="3300" b="true">
                <a:solidFill>
                  <a:srgbClr val="7F5283"/>
                </a:solidFill>
                <a:latin typeface="Arimo Bold"/>
                <a:ea typeface="Arimo Bold"/>
                <a:cs typeface="Arimo Bold"/>
                <a:sym typeface="Arimo Bold"/>
              </a:rPr>
              <a:t>180,519</a:t>
            </a:r>
          </a:p>
        </p:txBody>
      </p:sp>
      <p:sp>
        <p:nvSpPr>
          <p:cNvPr name="TextBox 41" id="41"/>
          <p:cNvSpPr txBox="true"/>
          <p:nvPr/>
        </p:nvSpPr>
        <p:spPr>
          <a:xfrm rot="0">
            <a:off x="12715875" y="5238750"/>
            <a:ext cx="1952625" cy="499110"/>
          </a:xfrm>
          <a:prstGeom prst="rect">
            <a:avLst/>
          </a:prstGeom>
        </p:spPr>
        <p:txBody>
          <a:bodyPr anchor="t" rtlCol="false" tIns="0" lIns="0" bIns="0" rIns="0">
            <a:spAutoFit/>
          </a:bodyPr>
          <a:lstStyle/>
          <a:p>
            <a:pPr algn="l">
              <a:lnSpc>
                <a:spcPts val="3630"/>
              </a:lnSpc>
            </a:pPr>
            <a:r>
              <a:rPr lang="en-US" sz="3300" b="true">
                <a:solidFill>
                  <a:srgbClr val="7F5283"/>
                </a:solidFill>
                <a:latin typeface="Arimo Bold"/>
                <a:ea typeface="Arimo Bold"/>
                <a:cs typeface="Arimo Bold"/>
                <a:sym typeface="Arimo Bold"/>
              </a:rPr>
              <a:t>172,765</a:t>
            </a:r>
          </a:p>
        </p:txBody>
      </p:sp>
      <p:sp>
        <p:nvSpPr>
          <p:cNvPr name="TextBox 42" id="42"/>
          <p:cNvSpPr txBox="true"/>
          <p:nvPr/>
        </p:nvSpPr>
        <p:spPr>
          <a:xfrm rot="0">
            <a:off x="12715875" y="8039100"/>
            <a:ext cx="1952625" cy="499110"/>
          </a:xfrm>
          <a:prstGeom prst="rect">
            <a:avLst/>
          </a:prstGeom>
        </p:spPr>
        <p:txBody>
          <a:bodyPr anchor="t" rtlCol="false" tIns="0" lIns="0" bIns="0" rIns="0">
            <a:spAutoFit/>
          </a:bodyPr>
          <a:lstStyle/>
          <a:p>
            <a:pPr algn="l">
              <a:lnSpc>
                <a:spcPts val="3630"/>
              </a:lnSpc>
            </a:pPr>
            <a:r>
              <a:rPr lang="en-US" sz="3300" b="true">
                <a:solidFill>
                  <a:srgbClr val="7F5283"/>
                </a:solidFill>
                <a:latin typeface="Arimo Bold"/>
                <a:ea typeface="Arimo Bold"/>
                <a:cs typeface="Arimo Bold"/>
                <a:sym typeface="Arimo Bold"/>
              </a:rPr>
              <a:t>7,754</a:t>
            </a:r>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FEFBF6"/>
        </a:solidFill>
      </p:bgPr>
    </p:bg>
    <p:spTree>
      <p:nvGrpSpPr>
        <p:cNvPr id="1" name=""/>
        <p:cNvGrpSpPr/>
        <p:nvPr/>
      </p:nvGrpSpPr>
      <p:grpSpPr>
        <a:xfrm>
          <a:off x="0" y="0"/>
          <a:ext cx="0" cy="0"/>
          <a:chOff x="0" y="0"/>
          <a:chExt cx="0" cy="0"/>
        </a:xfrm>
      </p:grpSpPr>
      <p:sp>
        <p:nvSpPr>
          <p:cNvPr name="TextBox 2" id="2"/>
          <p:cNvSpPr txBox="true"/>
          <p:nvPr/>
        </p:nvSpPr>
        <p:spPr>
          <a:xfrm rot="0">
            <a:off x="1028700" y="1076325"/>
            <a:ext cx="11254232" cy="680085"/>
          </a:xfrm>
          <a:prstGeom prst="rect">
            <a:avLst/>
          </a:prstGeom>
        </p:spPr>
        <p:txBody>
          <a:bodyPr anchor="t" rtlCol="false" tIns="0" lIns="0" bIns="0" rIns="0">
            <a:spAutoFit/>
          </a:bodyPr>
          <a:lstStyle/>
          <a:p>
            <a:pPr algn="l" marL="0" indent="0" lvl="0">
              <a:lnSpc>
                <a:spcPts val="5280"/>
              </a:lnSpc>
              <a:spcBef>
                <a:spcPct val="0"/>
              </a:spcBef>
            </a:pPr>
            <a:r>
              <a:rPr lang="en-US" b="true" sz="4800" strike="noStrike" u="none">
                <a:solidFill>
                  <a:srgbClr val="3D3C42"/>
                </a:solidFill>
                <a:latin typeface="Inter Bold"/>
                <a:ea typeface="Inter Bold"/>
                <a:cs typeface="Inter Bold"/>
                <a:sym typeface="Inter Bold"/>
              </a:rPr>
              <a:t>Key Performance Indicators</a:t>
            </a:r>
          </a:p>
        </p:txBody>
      </p:sp>
      <p:grpSp>
        <p:nvGrpSpPr>
          <p:cNvPr name="Group 3" id="3"/>
          <p:cNvGrpSpPr/>
          <p:nvPr/>
        </p:nvGrpSpPr>
        <p:grpSpPr>
          <a:xfrm rot="0">
            <a:off x="1028700" y="2659714"/>
            <a:ext cx="3879668" cy="1067885"/>
            <a:chOff x="0" y="0"/>
            <a:chExt cx="1350099" cy="371617"/>
          </a:xfrm>
        </p:grpSpPr>
        <p:sp>
          <p:nvSpPr>
            <p:cNvPr name="Freeform 4" id="4"/>
            <p:cNvSpPr/>
            <p:nvPr/>
          </p:nvSpPr>
          <p:spPr>
            <a:xfrm flipH="false" flipV="false" rot="0">
              <a:off x="0" y="0"/>
              <a:ext cx="1350099" cy="371617"/>
            </a:xfrm>
            <a:custGeom>
              <a:avLst/>
              <a:gdLst/>
              <a:ahLst/>
              <a:cxnLst/>
              <a:rect r="r" b="b" t="t" l="l"/>
              <a:pathLst>
                <a:path h="371617" w="1350099">
                  <a:moveTo>
                    <a:pt x="39910" y="0"/>
                  </a:moveTo>
                  <a:lnTo>
                    <a:pt x="1310189" y="0"/>
                  </a:lnTo>
                  <a:cubicBezTo>
                    <a:pt x="1320774" y="0"/>
                    <a:pt x="1330925" y="4205"/>
                    <a:pt x="1338410" y="11689"/>
                  </a:cubicBezTo>
                  <a:cubicBezTo>
                    <a:pt x="1345894" y="19174"/>
                    <a:pt x="1350099" y="29325"/>
                    <a:pt x="1350099" y="39910"/>
                  </a:cubicBezTo>
                  <a:lnTo>
                    <a:pt x="1350099" y="331707"/>
                  </a:lnTo>
                  <a:cubicBezTo>
                    <a:pt x="1350099" y="342292"/>
                    <a:pt x="1345894" y="352443"/>
                    <a:pt x="1338410" y="359928"/>
                  </a:cubicBezTo>
                  <a:cubicBezTo>
                    <a:pt x="1330925" y="367412"/>
                    <a:pt x="1320774" y="371617"/>
                    <a:pt x="1310189" y="371617"/>
                  </a:cubicBezTo>
                  <a:lnTo>
                    <a:pt x="39910" y="371617"/>
                  </a:lnTo>
                  <a:cubicBezTo>
                    <a:pt x="29325" y="371617"/>
                    <a:pt x="19174" y="367412"/>
                    <a:pt x="11689" y="359928"/>
                  </a:cubicBezTo>
                  <a:cubicBezTo>
                    <a:pt x="4205" y="352443"/>
                    <a:pt x="0" y="342292"/>
                    <a:pt x="0" y="331707"/>
                  </a:cubicBezTo>
                  <a:lnTo>
                    <a:pt x="0" y="39910"/>
                  </a:lnTo>
                  <a:cubicBezTo>
                    <a:pt x="0" y="29325"/>
                    <a:pt x="4205" y="19174"/>
                    <a:pt x="11689" y="11689"/>
                  </a:cubicBezTo>
                  <a:cubicBezTo>
                    <a:pt x="19174" y="4205"/>
                    <a:pt x="29325" y="0"/>
                    <a:pt x="39910" y="0"/>
                  </a:cubicBezTo>
                  <a:close/>
                </a:path>
              </a:pathLst>
            </a:custGeom>
            <a:solidFill>
              <a:srgbClr val="A6D1E6"/>
            </a:solidFill>
            <a:ln w="38100" cap="sq">
              <a:solidFill>
                <a:srgbClr val="A6D1E6"/>
              </a:solidFill>
              <a:prstDash val="solid"/>
              <a:miter/>
            </a:ln>
          </p:spPr>
        </p:sp>
        <p:sp>
          <p:nvSpPr>
            <p:cNvPr name="TextBox 5" id="5"/>
            <p:cNvSpPr txBox="true"/>
            <p:nvPr/>
          </p:nvSpPr>
          <p:spPr>
            <a:xfrm>
              <a:off x="0" y="-38100"/>
              <a:ext cx="1350099" cy="409717"/>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5145677" y="2659714"/>
            <a:ext cx="3879668" cy="1067885"/>
            <a:chOff x="0" y="0"/>
            <a:chExt cx="1350099" cy="371617"/>
          </a:xfrm>
        </p:grpSpPr>
        <p:sp>
          <p:nvSpPr>
            <p:cNvPr name="Freeform 7" id="7"/>
            <p:cNvSpPr/>
            <p:nvPr/>
          </p:nvSpPr>
          <p:spPr>
            <a:xfrm flipH="false" flipV="false" rot="0">
              <a:off x="0" y="0"/>
              <a:ext cx="1350099" cy="371617"/>
            </a:xfrm>
            <a:custGeom>
              <a:avLst/>
              <a:gdLst/>
              <a:ahLst/>
              <a:cxnLst/>
              <a:rect r="r" b="b" t="t" l="l"/>
              <a:pathLst>
                <a:path h="371617" w="1350099">
                  <a:moveTo>
                    <a:pt x="39910" y="0"/>
                  </a:moveTo>
                  <a:lnTo>
                    <a:pt x="1310189" y="0"/>
                  </a:lnTo>
                  <a:cubicBezTo>
                    <a:pt x="1320774" y="0"/>
                    <a:pt x="1330925" y="4205"/>
                    <a:pt x="1338410" y="11689"/>
                  </a:cubicBezTo>
                  <a:cubicBezTo>
                    <a:pt x="1345894" y="19174"/>
                    <a:pt x="1350099" y="29325"/>
                    <a:pt x="1350099" y="39910"/>
                  </a:cubicBezTo>
                  <a:lnTo>
                    <a:pt x="1350099" y="331707"/>
                  </a:lnTo>
                  <a:cubicBezTo>
                    <a:pt x="1350099" y="342292"/>
                    <a:pt x="1345894" y="352443"/>
                    <a:pt x="1338410" y="359928"/>
                  </a:cubicBezTo>
                  <a:cubicBezTo>
                    <a:pt x="1330925" y="367412"/>
                    <a:pt x="1320774" y="371617"/>
                    <a:pt x="1310189" y="371617"/>
                  </a:cubicBezTo>
                  <a:lnTo>
                    <a:pt x="39910" y="371617"/>
                  </a:lnTo>
                  <a:cubicBezTo>
                    <a:pt x="29325" y="371617"/>
                    <a:pt x="19174" y="367412"/>
                    <a:pt x="11689" y="359928"/>
                  </a:cubicBezTo>
                  <a:cubicBezTo>
                    <a:pt x="4205" y="352443"/>
                    <a:pt x="0" y="342292"/>
                    <a:pt x="0" y="331707"/>
                  </a:cubicBezTo>
                  <a:lnTo>
                    <a:pt x="0" y="39910"/>
                  </a:lnTo>
                  <a:cubicBezTo>
                    <a:pt x="0" y="29325"/>
                    <a:pt x="4205" y="19174"/>
                    <a:pt x="11689" y="11689"/>
                  </a:cubicBezTo>
                  <a:cubicBezTo>
                    <a:pt x="19174" y="4205"/>
                    <a:pt x="29325" y="0"/>
                    <a:pt x="39910" y="0"/>
                  </a:cubicBezTo>
                  <a:close/>
                </a:path>
              </a:pathLst>
            </a:custGeom>
            <a:solidFill>
              <a:srgbClr val="A6D1E6"/>
            </a:solidFill>
            <a:ln w="38100" cap="sq">
              <a:solidFill>
                <a:srgbClr val="A6D1E6"/>
              </a:solidFill>
              <a:prstDash val="solid"/>
              <a:miter/>
            </a:ln>
          </p:spPr>
        </p:sp>
        <p:sp>
          <p:nvSpPr>
            <p:cNvPr name="TextBox 8" id="8"/>
            <p:cNvSpPr txBox="true"/>
            <p:nvPr/>
          </p:nvSpPr>
          <p:spPr>
            <a:xfrm>
              <a:off x="0" y="-38100"/>
              <a:ext cx="1350099" cy="409717"/>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262655" y="2659714"/>
            <a:ext cx="3879668" cy="1067885"/>
            <a:chOff x="0" y="0"/>
            <a:chExt cx="1350099" cy="371617"/>
          </a:xfrm>
        </p:grpSpPr>
        <p:sp>
          <p:nvSpPr>
            <p:cNvPr name="Freeform 10" id="10"/>
            <p:cNvSpPr/>
            <p:nvPr/>
          </p:nvSpPr>
          <p:spPr>
            <a:xfrm flipH="false" flipV="false" rot="0">
              <a:off x="0" y="0"/>
              <a:ext cx="1350099" cy="371617"/>
            </a:xfrm>
            <a:custGeom>
              <a:avLst/>
              <a:gdLst/>
              <a:ahLst/>
              <a:cxnLst/>
              <a:rect r="r" b="b" t="t" l="l"/>
              <a:pathLst>
                <a:path h="371617" w="1350099">
                  <a:moveTo>
                    <a:pt x="39910" y="0"/>
                  </a:moveTo>
                  <a:lnTo>
                    <a:pt x="1310189" y="0"/>
                  </a:lnTo>
                  <a:cubicBezTo>
                    <a:pt x="1320774" y="0"/>
                    <a:pt x="1330925" y="4205"/>
                    <a:pt x="1338410" y="11689"/>
                  </a:cubicBezTo>
                  <a:cubicBezTo>
                    <a:pt x="1345894" y="19174"/>
                    <a:pt x="1350099" y="29325"/>
                    <a:pt x="1350099" y="39910"/>
                  </a:cubicBezTo>
                  <a:lnTo>
                    <a:pt x="1350099" y="331707"/>
                  </a:lnTo>
                  <a:cubicBezTo>
                    <a:pt x="1350099" y="342292"/>
                    <a:pt x="1345894" y="352443"/>
                    <a:pt x="1338410" y="359928"/>
                  </a:cubicBezTo>
                  <a:cubicBezTo>
                    <a:pt x="1330925" y="367412"/>
                    <a:pt x="1320774" y="371617"/>
                    <a:pt x="1310189" y="371617"/>
                  </a:cubicBezTo>
                  <a:lnTo>
                    <a:pt x="39910" y="371617"/>
                  </a:lnTo>
                  <a:cubicBezTo>
                    <a:pt x="29325" y="371617"/>
                    <a:pt x="19174" y="367412"/>
                    <a:pt x="11689" y="359928"/>
                  </a:cubicBezTo>
                  <a:cubicBezTo>
                    <a:pt x="4205" y="352443"/>
                    <a:pt x="0" y="342292"/>
                    <a:pt x="0" y="331707"/>
                  </a:cubicBezTo>
                  <a:lnTo>
                    <a:pt x="0" y="39910"/>
                  </a:lnTo>
                  <a:cubicBezTo>
                    <a:pt x="0" y="29325"/>
                    <a:pt x="4205" y="19174"/>
                    <a:pt x="11689" y="11689"/>
                  </a:cubicBezTo>
                  <a:cubicBezTo>
                    <a:pt x="19174" y="4205"/>
                    <a:pt x="29325" y="0"/>
                    <a:pt x="39910" y="0"/>
                  </a:cubicBezTo>
                  <a:close/>
                </a:path>
              </a:pathLst>
            </a:custGeom>
            <a:solidFill>
              <a:srgbClr val="A6D1E6"/>
            </a:solidFill>
            <a:ln w="38100" cap="sq">
              <a:solidFill>
                <a:srgbClr val="A6D1E6"/>
              </a:solidFill>
              <a:prstDash val="solid"/>
              <a:miter/>
            </a:ln>
          </p:spPr>
        </p:sp>
        <p:sp>
          <p:nvSpPr>
            <p:cNvPr name="TextBox 11" id="11"/>
            <p:cNvSpPr txBox="true"/>
            <p:nvPr/>
          </p:nvSpPr>
          <p:spPr>
            <a:xfrm>
              <a:off x="0" y="-38100"/>
              <a:ext cx="1350099" cy="409717"/>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13379632" y="2659714"/>
            <a:ext cx="3879668" cy="1067885"/>
            <a:chOff x="0" y="0"/>
            <a:chExt cx="1350099" cy="371617"/>
          </a:xfrm>
        </p:grpSpPr>
        <p:sp>
          <p:nvSpPr>
            <p:cNvPr name="Freeform 13" id="13"/>
            <p:cNvSpPr/>
            <p:nvPr/>
          </p:nvSpPr>
          <p:spPr>
            <a:xfrm flipH="false" flipV="false" rot="0">
              <a:off x="0" y="0"/>
              <a:ext cx="1350099" cy="371617"/>
            </a:xfrm>
            <a:custGeom>
              <a:avLst/>
              <a:gdLst/>
              <a:ahLst/>
              <a:cxnLst/>
              <a:rect r="r" b="b" t="t" l="l"/>
              <a:pathLst>
                <a:path h="371617" w="1350099">
                  <a:moveTo>
                    <a:pt x="39910" y="0"/>
                  </a:moveTo>
                  <a:lnTo>
                    <a:pt x="1310189" y="0"/>
                  </a:lnTo>
                  <a:cubicBezTo>
                    <a:pt x="1320774" y="0"/>
                    <a:pt x="1330925" y="4205"/>
                    <a:pt x="1338410" y="11689"/>
                  </a:cubicBezTo>
                  <a:cubicBezTo>
                    <a:pt x="1345894" y="19174"/>
                    <a:pt x="1350099" y="29325"/>
                    <a:pt x="1350099" y="39910"/>
                  </a:cubicBezTo>
                  <a:lnTo>
                    <a:pt x="1350099" y="331707"/>
                  </a:lnTo>
                  <a:cubicBezTo>
                    <a:pt x="1350099" y="342292"/>
                    <a:pt x="1345894" y="352443"/>
                    <a:pt x="1338410" y="359928"/>
                  </a:cubicBezTo>
                  <a:cubicBezTo>
                    <a:pt x="1330925" y="367412"/>
                    <a:pt x="1320774" y="371617"/>
                    <a:pt x="1310189" y="371617"/>
                  </a:cubicBezTo>
                  <a:lnTo>
                    <a:pt x="39910" y="371617"/>
                  </a:lnTo>
                  <a:cubicBezTo>
                    <a:pt x="29325" y="371617"/>
                    <a:pt x="19174" y="367412"/>
                    <a:pt x="11689" y="359928"/>
                  </a:cubicBezTo>
                  <a:cubicBezTo>
                    <a:pt x="4205" y="352443"/>
                    <a:pt x="0" y="342292"/>
                    <a:pt x="0" y="331707"/>
                  </a:cubicBezTo>
                  <a:lnTo>
                    <a:pt x="0" y="39910"/>
                  </a:lnTo>
                  <a:cubicBezTo>
                    <a:pt x="0" y="29325"/>
                    <a:pt x="4205" y="19174"/>
                    <a:pt x="11689" y="11689"/>
                  </a:cubicBezTo>
                  <a:cubicBezTo>
                    <a:pt x="19174" y="4205"/>
                    <a:pt x="29325" y="0"/>
                    <a:pt x="39910" y="0"/>
                  </a:cubicBezTo>
                  <a:close/>
                </a:path>
              </a:pathLst>
            </a:custGeom>
            <a:solidFill>
              <a:srgbClr val="A6D1E6"/>
            </a:solidFill>
            <a:ln w="38100" cap="sq">
              <a:solidFill>
                <a:srgbClr val="A6D1E6"/>
              </a:solidFill>
              <a:prstDash val="solid"/>
              <a:miter/>
            </a:ln>
          </p:spPr>
        </p:sp>
        <p:sp>
          <p:nvSpPr>
            <p:cNvPr name="TextBox 14" id="14"/>
            <p:cNvSpPr txBox="true"/>
            <p:nvPr/>
          </p:nvSpPr>
          <p:spPr>
            <a:xfrm>
              <a:off x="0" y="-38100"/>
              <a:ext cx="1350099" cy="409717"/>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1028700" y="3957997"/>
            <a:ext cx="3879668" cy="5300303"/>
            <a:chOff x="0" y="0"/>
            <a:chExt cx="1350099" cy="1844471"/>
          </a:xfrm>
        </p:grpSpPr>
        <p:sp>
          <p:nvSpPr>
            <p:cNvPr name="Freeform 16" id="16"/>
            <p:cNvSpPr/>
            <p:nvPr/>
          </p:nvSpPr>
          <p:spPr>
            <a:xfrm flipH="false" flipV="false" rot="0">
              <a:off x="0" y="0"/>
              <a:ext cx="1350099" cy="1844471"/>
            </a:xfrm>
            <a:custGeom>
              <a:avLst/>
              <a:gdLst/>
              <a:ahLst/>
              <a:cxnLst/>
              <a:rect r="r" b="b" t="t" l="l"/>
              <a:pathLst>
                <a:path h="1844471" w="1350099">
                  <a:moveTo>
                    <a:pt x="39910" y="0"/>
                  </a:moveTo>
                  <a:lnTo>
                    <a:pt x="1310189" y="0"/>
                  </a:lnTo>
                  <a:cubicBezTo>
                    <a:pt x="1320774" y="0"/>
                    <a:pt x="1330925" y="4205"/>
                    <a:pt x="1338410" y="11689"/>
                  </a:cubicBezTo>
                  <a:cubicBezTo>
                    <a:pt x="1345894" y="19174"/>
                    <a:pt x="1350099" y="29325"/>
                    <a:pt x="1350099" y="39910"/>
                  </a:cubicBezTo>
                  <a:lnTo>
                    <a:pt x="1350099" y="1804561"/>
                  </a:lnTo>
                  <a:cubicBezTo>
                    <a:pt x="1350099" y="1815145"/>
                    <a:pt x="1345894" y="1825297"/>
                    <a:pt x="1338410" y="1832781"/>
                  </a:cubicBezTo>
                  <a:cubicBezTo>
                    <a:pt x="1330925" y="1840266"/>
                    <a:pt x="1320774" y="1844471"/>
                    <a:pt x="1310189" y="1844471"/>
                  </a:cubicBezTo>
                  <a:lnTo>
                    <a:pt x="39910" y="1844471"/>
                  </a:lnTo>
                  <a:cubicBezTo>
                    <a:pt x="29325" y="1844471"/>
                    <a:pt x="19174" y="1840266"/>
                    <a:pt x="11689" y="1832781"/>
                  </a:cubicBezTo>
                  <a:cubicBezTo>
                    <a:pt x="4205" y="1825297"/>
                    <a:pt x="0" y="1815145"/>
                    <a:pt x="0" y="1804561"/>
                  </a:cubicBezTo>
                  <a:lnTo>
                    <a:pt x="0" y="39910"/>
                  </a:lnTo>
                  <a:cubicBezTo>
                    <a:pt x="0" y="29325"/>
                    <a:pt x="4205" y="19174"/>
                    <a:pt x="11689" y="11689"/>
                  </a:cubicBezTo>
                  <a:cubicBezTo>
                    <a:pt x="19174" y="4205"/>
                    <a:pt x="29325" y="0"/>
                    <a:pt x="39910" y="0"/>
                  </a:cubicBezTo>
                  <a:close/>
                </a:path>
              </a:pathLst>
            </a:custGeom>
            <a:ln w="38100" cap="sq">
              <a:solidFill>
                <a:srgbClr val="A6D1E6"/>
              </a:solidFill>
              <a:prstDash val="solid"/>
              <a:miter/>
            </a:ln>
          </p:spPr>
        </p:sp>
        <p:sp>
          <p:nvSpPr>
            <p:cNvPr name="TextBox 17" id="17"/>
            <p:cNvSpPr txBox="true"/>
            <p:nvPr/>
          </p:nvSpPr>
          <p:spPr>
            <a:xfrm>
              <a:off x="0" y="-38100"/>
              <a:ext cx="1350099" cy="1882571"/>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0">
            <a:off x="5145677" y="3957997"/>
            <a:ext cx="3879668" cy="5300303"/>
            <a:chOff x="0" y="0"/>
            <a:chExt cx="1350099" cy="1844471"/>
          </a:xfrm>
        </p:grpSpPr>
        <p:sp>
          <p:nvSpPr>
            <p:cNvPr name="Freeform 19" id="19"/>
            <p:cNvSpPr/>
            <p:nvPr/>
          </p:nvSpPr>
          <p:spPr>
            <a:xfrm flipH="false" flipV="false" rot="0">
              <a:off x="0" y="0"/>
              <a:ext cx="1350099" cy="1844471"/>
            </a:xfrm>
            <a:custGeom>
              <a:avLst/>
              <a:gdLst/>
              <a:ahLst/>
              <a:cxnLst/>
              <a:rect r="r" b="b" t="t" l="l"/>
              <a:pathLst>
                <a:path h="1844471" w="1350099">
                  <a:moveTo>
                    <a:pt x="39910" y="0"/>
                  </a:moveTo>
                  <a:lnTo>
                    <a:pt x="1310189" y="0"/>
                  </a:lnTo>
                  <a:cubicBezTo>
                    <a:pt x="1320774" y="0"/>
                    <a:pt x="1330925" y="4205"/>
                    <a:pt x="1338410" y="11689"/>
                  </a:cubicBezTo>
                  <a:cubicBezTo>
                    <a:pt x="1345894" y="19174"/>
                    <a:pt x="1350099" y="29325"/>
                    <a:pt x="1350099" y="39910"/>
                  </a:cubicBezTo>
                  <a:lnTo>
                    <a:pt x="1350099" y="1804561"/>
                  </a:lnTo>
                  <a:cubicBezTo>
                    <a:pt x="1350099" y="1815145"/>
                    <a:pt x="1345894" y="1825297"/>
                    <a:pt x="1338410" y="1832781"/>
                  </a:cubicBezTo>
                  <a:cubicBezTo>
                    <a:pt x="1330925" y="1840266"/>
                    <a:pt x="1320774" y="1844471"/>
                    <a:pt x="1310189" y="1844471"/>
                  </a:cubicBezTo>
                  <a:lnTo>
                    <a:pt x="39910" y="1844471"/>
                  </a:lnTo>
                  <a:cubicBezTo>
                    <a:pt x="29325" y="1844471"/>
                    <a:pt x="19174" y="1840266"/>
                    <a:pt x="11689" y="1832781"/>
                  </a:cubicBezTo>
                  <a:cubicBezTo>
                    <a:pt x="4205" y="1825297"/>
                    <a:pt x="0" y="1815145"/>
                    <a:pt x="0" y="1804561"/>
                  </a:cubicBezTo>
                  <a:lnTo>
                    <a:pt x="0" y="39910"/>
                  </a:lnTo>
                  <a:cubicBezTo>
                    <a:pt x="0" y="29325"/>
                    <a:pt x="4205" y="19174"/>
                    <a:pt x="11689" y="11689"/>
                  </a:cubicBezTo>
                  <a:cubicBezTo>
                    <a:pt x="19174" y="4205"/>
                    <a:pt x="29325" y="0"/>
                    <a:pt x="39910" y="0"/>
                  </a:cubicBezTo>
                  <a:close/>
                </a:path>
              </a:pathLst>
            </a:custGeom>
            <a:ln w="38100" cap="sq">
              <a:solidFill>
                <a:srgbClr val="A6D1E6"/>
              </a:solidFill>
              <a:prstDash val="solid"/>
              <a:miter/>
            </a:ln>
          </p:spPr>
        </p:sp>
        <p:sp>
          <p:nvSpPr>
            <p:cNvPr name="TextBox 20" id="20"/>
            <p:cNvSpPr txBox="true"/>
            <p:nvPr/>
          </p:nvSpPr>
          <p:spPr>
            <a:xfrm>
              <a:off x="0" y="-38100"/>
              <a:ext cx="1350099" cy="1882571"/>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0">
            <a:off x="9262655" y="3957997"/>
            <a:ext cx="3879668" cy="5300303"/>
            <a:chOff x="0" y="0"/>
            <a:chExt cx="1350099" cy="1844471"/>
          </a:xfrm>
        </p:grpSpPr>
        <p:sp>
          <p:nvSpPr>
            <p:cNvPr name="Freeform 22" id="22"/>
            <p:cNvSpPr/>
            <p:nvPr/>
          </p:nvSpPr>
          <p:spPr>
            <a:xfrm flipH="false" flipV="false" rot="0">
              <a:off x="0" y="0"/>
              <a:ext cx="1350099" cy="1844471"/>
            </a:xfrm>
            <a:custGeom>
              <a:avLst/>
              <a:gdLst/>
              <a:ahLst/>
              <a:cxnLst/>
              <a:rect r="r" b="b" t="t" l="l"/>
              <a:pathLst>
                <a:path h="1844471" w="1350099">
                  <a:moveTo>
                    <a:pt x="39910" y="0"/>
                  </a:moveTo>
                  <a:lnTo>
                    <a:pt x="1310189" y="0"/>
                  </a:lnTo>
                  <a:cubicBezTo>
                    <a:pt x="1320774" y="0"/>
                    <a:pt x="1330925" y="4205"/>
                    <a:pt x="1338410" y="11689"/>
                  </a:cubicBezTo>
                  <a:cubicBezTo>
                    <a:pt x="1345894" y="19174"/>
                    <a:pt x="1350099" y="29325"/>
                    <a:pt x="1350099" y="39910"/>
                  </a:cubicBezTo>
                  <a:lnTo>
                    <a:pt x="1350099" y="1804561"/>
                  </a:lnTo>
                  <a:cubicBezTo>
                    <a:pt x="1350099" y="1815145"/>
                    <a:pt x="1345894" y="1825297"/>
                    <a:pt x="1338410" y="1832781"/>
                  </a:cubicBezTo>
                  <a:cubicBezTo>
                    <a:pt x="1330925" y="1840266"/>
                    <a:pt x="1320774" y="1844471"/>
                    <a:pt x="1310189" y="1844471"/>
                  </a:cubicBezTo>
                  <a:lnTo>
                    <a:pt x="39910" y="1844471"/>
                  </a:lnTo>
                  <a:cubicBezTo>
                    <a:pt x="29325" y="1844471"/>
                    <a:pt x="19174" y="1840266"/>
                    <a:pt x="11689" y="1832781"/>
                  </a:cubicBezTo>
                  <a:cubicBezTo>
                    <a:pt x="4205" y="1825297"/>
                    <a:pt x="0" y="1815145"/>
                    <a:pt x="0" y="1804561"/>
                  </a:cubicBezTo>
                  <a:lnTo>
                    <a:pt x="0" y="39910"/>
                  </a:lnTo>
                  <a:cubicBezTo>
                    <a:pt x="0" y="29325"/>
                    <a:pt x="4205" y="19174"/>
                    <a:pt x="11689" y="11689"/>
                  </a:cubicBezTo>
                  <a:cubicBezTo>
                    <a:pt x="19174" y="4205"/>
                    <a:pt x="29325" y="0"/>
                    <a:pt x="39910" y="0"/>
                  </a:cubicBezTo>
                  <a:close/>
                </a:path>
              </a:pathLst>
            </a:custGeom>
            <a:ln w="38100" cap="sq">
              <a:solidFill>
                <a:srgbClr val="A6D1E6"/>
              </a:solidFill>
              <a:prstDash val="solid"/>
              <a:miter/>
            </a:ln>
          </p:spPr>
        </p:sp>
        <p:sp>
          <p:nvSpPr>
            <p:cNvPr name="TextBox 23" id="23"/>
            <p:cNvSpPr txBox="true"/>
            <p:nvPr/>
          </p:nvSpPr>
          <p:spPr>
            <a:xfrm>
              <a:off x="0" y="-38100"/>
              <a:ext cx="1350099" cy="1882571"/>
            </a:xfrm>
            <a:prstGeom prst="rect">
              <a:avLst/>
            </a:prstGeom>
          </p:spPr>
          <p:txBody>
            <a:bodyPr anchor="ctr" rtlCol="false" tIns="50800" lIns="50800" bIns="50800" rIns="50800"/>
            <a:lstStyle/>
            <a:p>
              <a:pPr algn="ctr">
                <a:lnSpc>
                  <a:spcPts val="2659"/>
                </a:lnSpc>
              </a:pPr>
            </a:p>
          </p:txBody>
        </p:sp>
      </p:grpSp>
      <p:grpSp>
        <p:nvGrpSpPr>
          <p:cNvPr name="Group 24" id="24"/>
          <p:cNvGrpSpPr/>
          <p:nvPr/>
        </p:nvGrpSpPr>
        <p:grpSpPr>
          <a:xfrm rot="0">
            <a:off x="13379632" y="3957997"/>
            <a:ext cx="3879668" cy="5300303"/>
            <a:chOff x="0" y="0"/>
            <a:chExt cx="1350099" cy="1844471"/>
          </a:xfrm>
        </p:grpSpPr>
        <p:sp>
          <p:nvSpPr>
            <p:cNvPr name="Freeform 25" id="25"/>
            <p:cNvSpPr/>
            <p:nvPr/>
          </p:nvSpPr>
          <p:spPr>
            <a:xfrm flipH="false" flipV="false" rot="0">
              <a:off x="0" y="0"/>
              <a:ext cx="1350099" cy="1844471"/>
            </a:xfrm>
            <a:custGeom>
              <a:avLst/>
              <a:gdLst/>
              <a:ahLst/>
              <a:cxnLst/>
              <a:rect r="r" b="b" t="t" l="l"/>
              <a:pathLst>
                <a:path h="1844471" w="1350099">
                  <a:moveTo>
                    <a:pt x="39910" y="0"/>
                  </a:moveTo>
                  <a:lnTo>
                    <a:pt x="1310189" y="0"/>
                  </a:lnTo>
                  <a:cubicBezTo>
                    <a:pt x="1320774" y="0"/>
                    <a:pt x="1330925" y="4205"/>
                    <a:pt x="1338410" y="11689"/>
                  </a:cubicBezTo>
                  <a:cubicBezTo>
                    <a:pt x="1345894" y="19174"/>
                    <a:pt x="1350099" y="29325"/>
                    <a:pt x="1350099" y="39910"/>
                  </a:cubicBezTo>
                  <a:lnTo>
                    <a:pt x="1350099" y="1804561"/>
                  </a:lnTo>
                  <a:cubicBezTo>
                    <a:pt x="1350099" y="1815145"/>
                    <a:pt x="1345894" y="1825297"/>
                    <a:pt x="1338410" y="1832781"/>
                  </a:cubicBezTo>
                  <a:cubicBezTo>
                    <a:pt x="1330925" y="1840266"/>
                    <a:pt x="1320774" y="1844471"/>
                    <a:pt x="1310189" y="1844471"/>
                  </a:cubicBezTo>
                  <a:lnTo>
                    <a:pt x="39910" y="1844471"/>
                  </a:lnTo>
                  <a:cubicBezTo>
                    <a:pt x="29325" y="1844471"/>
                    <a:pt x="19174" y="1840266"/>
                    <a:pt x="11689" y="1832781"/>
                  </a:cubicBezTo>
                  <a:cubicBezTo>
                    <a:pt x="4205" y="1825297"/>
                    <a:pt x="0" y="1815145"/>
                    <a:pt x="0" y="1804561"/>
                  </a:cubicBezTo>
                  <a:lnTo>
                    <a:pt x="0" y="39910"/>
                  </a:lnTo>
                  <a:cubicBezTo>
                    <a:pt x="0" y="29325"/>
                    <a:pt x="4205" y="19174"/>
                    <a:pt x="11689" y="11689"/>
                  </a:cubicBezTo>
                  <a:cubicBezTo>
                    <a:pt x="19174" y="4205"/>
                    <a:pt x="29325" y="0"/>
                    <a:pt x="39910" y="0"/>
                  </a:cubicBezTo>
                  <a:close/>
                </a:path>
              </a:pathLst>
            </a:custGeom>
            <a:ln w="38100" cap="sq">
              <a:solidFill>
                <a:srgbClr val="A6D1E6"/>
              </a:solidFill>
              <a:prstDash val="solid"/>
              <a:miter/>
            </a:ln>
          </p:spPr>
        </p:sp>
        <p:sp>
          <p:nvSpPr>
            <p:cNvPr name="TextBox 26" id="26"/>
            <p:cNvSpPr txBox="true"/>
            <p:nvPr/>
          </p:nvSpPr>
          <p:spPr>
            <a:xfrm>
              <a:off x="0" y="-38100"/>
              <a:ext cx="1350099" cy="1882571"/>
            </a:xfrm>
            <a:prstGeom prst="rect">
              <a:avLst/>
            </a:prstGeom>
          </p:spPr>
          <p:txBody>
            <a:bodyPr anchor="ctr" rtlCol="false" tIns="50800" lIns="50800" bIns="50800" rIns="50800"/>
            <a:lstStyle/>
            <a:p>
              <a:pPr algn="ctr">
                <a:lnSpc>
                  <a:spcPts val="2659"/>
                </a:lnSpc>
              </a:pPr>
            </a:p>
          </p:txBody>
        </p:sp>
      </p:grpSp>
      <p:sp>
        <p:nvSpPr>
          <p:cNvPr name="TextBox 27" id="27"/>
          <p:cNvSpPr txBox="true"/>
          <p:nvPr/>
        </p:nvSpPr>
        <p:spPr>
          <a:xfrm rot="0">
            <a:off x="1028700" y="3056496"/>
            <a:ext cx="3878852" cy="293370"/>
          </a:xfrm>
          <a:prstGeom prst="rect">
            <a:avLst/>
          </a:prstGeom>
        </p:spPr>
        <p:txBody>
          <a:bodyPr anchor="t" rtlCol="false" tIns="0" lIns="0" bIns="0" rIns="0">
            <a:spAutoFit/>
          </a:bodyPr>
          <a:lstStyle/>
          <a:p>
            <a:pPr algn="ctr" marL="0" indent="0" lvl="0">
              <a:lnSpc>
                <a:spcPts val="2310"/>
              </a:lnSpc>
              <a:spcBef>
                <a:spcPct val="0"/>
              </a:spcBef>
            </a:pPr>
            <a:r>
              <a:rPr lang="en-US" b="true" sz="2100" strike="noStrike" u="none">
                <a:solidFill>
                  <a:srgbClr val="3D3C42"/>
                </a:solidFill>
                <a:latin typeface="Inter Bold"/>
                <a:ea typeface="Inter Bold"/>
                <a:cs typeface="Inter Bold"/>
                <a:sym typeface="Inter Bold"/>
              </a:rPr>
              <a:t>Order Volume</a:t>
            </a:r>
          </a:p>
        </p:txBody>
      </p:sp>
      <p:sp>
        <p:nvSpPr>
          <p:cNvPr name="TextBox 28" id="28"/>
          <p:cNvSpPr txBox="true"/>
          <p:nvPr/>
        </p:nvSpPr>
        <p:spPr>
          <a:xfrm rot="0">
            <a:off x="5145677" y="3056496"/>
            <a:ext cx="3878852" cy="293370"/>
          </a:xfrm>
          <a:prstGeom prst="rect">
            <a:avLst/>
          </a:prstGeom>
        </p:spPr>
        <p:txBody>
          <a:bodyPr anchor="t" rtlCol="false" tIns="0" lIns="0" bIns="0" rIns="0">
            <a:spAutoFit/>
          </a:bodyPr>
          <a:lstStyle/>
          <a:p>
            <a:pPr algn="ctr" marL="0" indent="0" lvl="0">
              <a:lnSpc>
                <a:spcPts val="2310"/>
              </a:lnSpc>
              <a:spcBef>
                <a:spcPct val="0"/>
              </a:spcBef>
            </a:pPr>
            <a:r>
              <a:rPr lang="en-US" b="true" sz="2100" strike="noStrike" u="none">
                <a:solidFill>
                  <a:srgbClr val="3D3C42"/>
                </a:solidFill>
                <a:latin typeface="Inter Bold"/>
                <a:ea typeface="Inter Bold"/>
                <a:cs typeface="Inter Bold"/>
                <a:sym typeface="Inter Bold"/>
              </a:rPr>
              <a:t>Delivery Performance</a:t>
            </a:r>
          </a:p>
        </p:txBody>
      </p:sp>
      <p:sp>
        <p:nvSpPr>
          <p:cNvPr name="TextBox 29" id="29"/>
          <p:cNvSpPr txBox="true"/>
          <p:nvPr/>
        </p:nvSpPr>
        <p:spPr>
          <a:xfrm rot="0">
            <a:off x="9262655" y="3056496"/>
            <a:ext cx="3878852" cy="293370"/>
          </a:xfrm>
          <a:prstGeom prst="rect">
            <a:avLst/>
          </a:prstGeom>
        </p:spPr>
        <p:txBody>
          <a:bodyPr anchor="t" rtlCol="false" tIns="0" lIns="0" bIns="0" rIns="0">
            <a:spAutoFit/>
          </a:bodyPr>
          <a:lstStyle/>
          <a:p>
            <a:pPr algn="ctr" marL="0" indent="0" lvl="0">
              <a:lnSpc>
                <a:spcPts val="2310"/>
              </a:lnSpc>
              <a:spcBef>
                <a:spcPct val="0"/>
              </a:spcBef>
            </a:pPr>
            <a:r>
              <a:rPr lang="en-US" b="true" sz="2100" strike="noStrike" u="none">
                <a:solidFill>
                  <a:srgbClr val="3D3C42"/>
                </a:solidFill>
                <a:latin typeface="Inter Bold"/>
                <a:ea typeface="Inter Bold"/>
                <a:cs typeface="Inter Bold"/>
                <a:sym typeface="Inter Bold"/>
              </a:rPr>
              <a:t>Profitability</a:t>
            </a:r>
          </a:p>
        </p:txBody>
      </p:sp>
      <p:sp>
        <p:nvSpPr>
          <p:cNvPr name="TextBox 30" id="30"/>
          <p:cNvSpPr txBox="true"/>
          <p:nvPr/>
        </p:nvSpPr>
        <p:spPr>
          <a:xfrm rot="0">
            <a:off x="13379632" y="3056496"/>
            <a:ext cx="3878852" cy="293370"/>
          </a:xfrm>
          <a:prstGeom prst="rect">
            <a:avLst/>
          </a:prstGeom>
        </p:spPr>
        <p:txBody>
          <a:bodyPr anchor="t" rtlCol="false" tIns="0" lIns="0" bIns="0" rIns="0">
            <a:spAutoFit/>
          </a:bodyPr>
          <a:lstStyle/>
          <a:p>
            <a:pPr algn="ctr" marL="0" indent="0" lvl="0">
              <a:lnSpc>
                <a:spcPts val="2310"/>
              </a:lnSpc>
              <a:spcBef>
                <a:spcPct val="0"/>
              </a:spcBef>
            </a:pPr>
            <a:r>
              <a:rPr lang="en-US" b="true" sz="2100" strike="noStrike" u="none">
                <a:solidFill>
                  <a:srgbClr val="3D3C42"/>
                </a:solidFill>
                <a:latin typeface="Inter Bold"/>
                <a:ea typeface="Inter Bold"/>
                <a:cs typeface="Inter Bold"/>
                <a:sym typeface="Inter Bold"/>
              </a:rPr>
              <a:t>Shipping Time</a:t>
            </a:r>
          </a:p>
        </p:txBody>
      </p:sp>
      <p:sp>
        <p:nvSpPr>
          <p:cNvPr name="TextBox 31" id="31"/>
          <p:cNvSpPr txBox="true"/>
          <p:nvPr/>
        </p:nvSpPr>
        <p:spPr>
          <a:xfrm rot="0">
            <a:off x="1028700" y="8458200"/>
            <a:ext cx="3878852" cy="251460"/>
          </a:xfrm>
          <a:prstGeom prst="rect">
            <a:avLst/>
          </a:prstGeom>
        </p:spPr>
        <p:txBody>
          <a:bodyPr anchor="t" rtlCol="false" tIns="0" lIns="0" bIns="0" rIns="0">
            <a:spAutoFit/>
          </a:bodyPr>
          <a:lstStyle/>
          <a:p>
            <a:pPr algn="ctr" marL="0" indent="0" lvl="0">
              <a:lnSpc>
                <a:spcPts val="1980"/>
              </a:lnSpc>
              <a:spcBef>
                <a:spcPct val="0"/>
              </a:spcBef>
            </a:pPr>
            <a:r>
              <a:rPr lang="en-US" sz="1800" strike="noStrike" u="none">
                <a:solidFill>
                  <a:srgbClr val="3D3C42"/>
                </a:solidFill>
                <a:latin typeface="Inter"/>
                <a:ea typeface="Inter"/>
                <a:cs typeface="Inter"/>
                <a:sym typeface="Inter"/>
              </a:rPr>
              <a:t>On-Time Deliveries</a:t>
            </a:r>
          </a:p>
        </p:txBody>
      </p:sp>
      <p:sp>
        <p:nvSpPr>
          <p:cNvPr name="TextBox 32" id="32"/>
          <p:cNvSpPr txBox="true"/>
          <p:nvPr/>
        </p:nvSpPr>
        <p:spPr>
          <a:xfrm rot="0">
            <a:off x="1028700" y="6696075"/>
            <a:ext cx="3878852" cy="251460"/>
          </a:xfrm>
          <a:prstGeom prst="rect">
            <a:avLst/>
          </a:prstGeom>
        </p:spPr>
        <p:txBody>
          <a:bodyPr anchor="t" rtlCol="false" tIns="0" lIns="0" bIns="0" rIns="0">
            <a:spAutoFit/>
          </a:bodyPr>
          <a:lstStyle/>
          <a:p>
            <a:pPr algn="ctr" marL="0" indent="0" lvl="0">
              <a:lnSpc>
                <a:spcPts val="1980"/>
              </a:lnSpc>
              <a:spcBef>
                <a:spcPct val="0"/>
              </a:spcBef>
            </a:pPr>
            <a:r>
              <a:rPr lang="en-US" sz="1800" strike="noStrike" u="none">
                <a:solidFill>
                  <a:srgbClr val="3D3C42"/>
                </a:solidFill>
                <a:latin typeface="Inter"/>
                <a:ea typeface="Inter"/>
                <a:cs typeface="Inter"/>
                <a:sym typeface="Inter"/>
              </a:rPr>
              <a:t>Late Deliveries</a:t>
            </a:r>
          </a:p>
        </p:txBody>
      </p:sp>
      <p:sp>
        <p:nvSpPr>
          <p:cNvPr name="TextBox 33" id="33"/>
          <p:cNvSpPr txBox="true"/>
          <p:nvPr/>
        </p:nvSpPr>
        <p:spPr>
          <a:xfrm rot="0">
            <a:off x="5143500" y="8458200"/>
            <a:ext cx="3878852" cy="251460"/>
          </a:xfrm>
          <a:prstGeom prst="rect">
            <a:avLst/>
          </a:prstGeom>
        </p:spPr>
        <p:txBody>
          <a:bodyPr anchor="t" rtlCol="false" tIns="0" lIns="0" bIns="0" rIns="0">
            <a:spAutoFit/>
          </a:bodyPr>
          <a:lstStyle/>
          <a:p>
            <a:pPr algn="ctr" marL="0" indent="0" lvl="0">
              <a:lnSpc>
                <a:spcPts val="1980"/>
              </a:lnSpc>
              <a:spcBef>
                <a:spcPct val="0"/>
              </a:spcBef>
            </a:pPr>
            <a:r>
              <a:rPr lang="en-US" sz="1800" strike="noStrike" u="none">
                <a:solidFill>
                  <a:srgbClr val="3D3C42"/>
                </a:solidFill>
                <a:latin typeface="Inter"/>
                <a:ea typeface="Inter"/>
                <a:cs typeface="Inter"/>
                <a:sym typeface="Inter"/>
              </a:rPr>
              <a:t>90th Percentile Delay</a:t>
            </a:r>
          </a:p>
        </p:txBody>
      </p:sp>
      <p:sp>
        <p:nvSpPr>
          <p:cNvPr name="TextBox 34" id="34"/>
          <p:cNvSpPr txBox="true"/>
          <p:nvPr/>
        </p:nvSpPr>
        <p:spPr>
          <a:xfrm rot="0">
            <a:off x="5143500" y="6696075"/>
            <a:ext cx="3878852" cy="251460"/>
          </a:xfrm>
          <a:prstGeom prst="rect">
            <a:avLst/>
          </a:prstGeom>
        </p:spPr>
        <p:txBody>
          <a:bodyPr anchor="t" rtlCol="false" tIns="0" lIns="0" bIns="0" rIns="0">
            <a:spAutoFit/>
          </a:bodyPr>
          <a:lstStyle/>
          <a:p>
            <a:pPr algn="ctr" marL="0" indent="0" lvl="0">
              <a:lnSpc>
                <a:spcPts val="1980"/>
              </a:lnSpc>
              <a:spcBef>
                <a:spcPct val="0"/>
              </a:spcBef>
            </a:pPr>
            <a:r>
              <a:rPr lang="en-US" sz="1800" strike="noStrike" u="none">
                <a:solidFill>
                  <a:srgbClr val="3D3C42"/>
                </a:solidFill>
                <a:latin typeface="Inter"/>
                <a:ea typeface="Inter"/>
                <a:cs typeface="Inter"/>
                <a:sym typeface="Inter"/>
              </a:rPr>
              <a:t>On-Time Rate</a:t>
            </a:r>
          </a:p>
        </p:txBody>
      </p:sp>
      <p:sp>
        <p:nvSpPr>
          <p:cNvPr name="TextBox 35" id="35"/>
          <p:cNvSpPr txBox="true"/>
          <p:nvPr/>
        </p:nvSpPr>
        <p:spPr>
          <a:xfrm rot="0">
            <a:off x="9258300" y="8458200"/>
            <a:ext cx="3878852" cy="251460"/>
          </a:xfrm>
          <a:prstGeom prst="rect">
            <a:avLst/>
          </a:prstGeom>
        </p:spPr>
        <p:txBody>
          <a:bodyPr anchor="t" rtlCol="false" tIns="0" lIns="0" bIns="0" rIns="0">
            <a:spAutoFit/>
          </a:bodyPr>
          <a:lstStyle/>
          <a:p>
            <a:pPr algn="ctr" marL="0" indent="0" lvl="0">
              <a:lnSpc>
                <a:spcPts val="1980"/>
              </a:lnSpc>
              <a:spcBef>
                <a:spcPct val="0"/>
              </a:spcBef>
            </a:pPr>
            <a:r>
              <a:rPr lang="en-US" sz="1800" strike="noStrike" u="none">
                <a:solidFill>
                  <a:srgbClr val="3D3C42"/>
                </a:solidFill>
                <a:latin typeface="Inter"/>
                <a:ea typeface="Inter"/>
                <a:cs typeface="Inter"/>
                <a:sym typeface="Inter"/>
              </a:rPr>
              <a:t>Avg Profit per Order</a:t>
            </a:r>
          </a:p>
        </p:txBody>
      </p:sp>
      <p:sp>
        <p:nvSpPr>
          <p:cNvPr name="TextBox 36" id="36"/>
          <p:cNvSpPr txBox="true"/>
          <p:nvPr/>
        </p:nvSpPr>
        <p:spPr>
          <a:xfrm rot="0">
            <a:off x="9258300" y="6696075"/>
            <a:ext cx="3878852" cy="251460"/>
          </a:xfrm>
          <a:prstGeom prst="rect">
            <a:avLst/>
          </a:prstGeom>
        </p:spPr>
        <p:txBody>
          <a:bodyPr anchor="t" rtlCol="false" tIns="0" lIns="0" bIns="0" rIns="0">
            <a:spAutoFit/>
          </a:bodyPr>
          <a:lstStyle/>
          <a:p>
            <a:pPr algn="ctr" marL="0" indent="0" lvl="0">
              <a:lnSpc>
                <a:spcPts val="1980"/>
              </a:lnSpc>
              <a:spcBef>
                <a:spcPct val="0"/>
              </a:spcBef>
            </a:pPr>
            <a:r>
              <a:rPr lang="en-US" sz="1800" strike="noStrike" u="none">
                <a:solidFill>
                  <a:srgbClr val="3D3C42"/>
                </a:solidFill>
                <a:latin typeface="Inter"/>
                <a:ea typeface="Inter"/>
                <a:cs typeface="Inter"/>
                <a:sym typeface="Inter"/>
              </a:rPr>
              <a:t>Profit on Late Orders</a:t>
            </a:r>
          </a:p>
        </p:txBody>
      </p:sp>
      <p:sp>
        <p:nvSpPr>
          <p:cNvPr name="TextBox 37" id="37"/>
          <p:cNvSpPr txBox="true"/>
          <p:nvPr/>
        </p:nvSpPr>
        <p:spPr>
          <a:xfrm rot="0">
            <a:off x="13382625" y="8458200"/>
            <a:ext cx="3878852" cy="251460"/>
          </a:xfrm>
          <a:prstGeom prst="rect">
            <a:avLst/>
          </a:prstGeom>
        </p:spPr>
        <p:txBody>
          <a:bodyPr anchor="t" rtlCol="false" tIns="0" lIns="0" bIns="0" rIns="0">
            <a:spAutoFit/>
          </a:bodyPr>
          <a:lstStyle/>
          <a:p>
            <a:pPr algn="ctr" marL="0" indent="0" lvl="0">
              <a:lnSpc>
                <a:spcPts val="1980"/>
              </a:lnSpc>
              <a:spcBef>
                <a:spcPct val="0"/>
              </a:spcBef>
            </a:pPr>
            <a:r>
              <a:rPr lang="en-US" sz="1800" strike="noStrike" u="none">
                <a:solidFill>
                  <a:srgbClr val="3D3C42"/>
                </a:solidFill>
                <a:latin typeface="Inter"/>
                <a:ea typeface="Inter"/>
                <a:cs typeface="Inter"/>
                <a:sym typeface="Inter"/>
              </a:rPr>
              <a:t>Avg Delay vs Schedule</a:t>
            </a:r>
          </a:p>
        </p:txBody>
      </p:sp>
      <p:sp>
        <p:nvSpPr>
          <p:cNvPr name="TextBox 38" id="38"/>
          <p:cNvSpPr txBox="true"/>
          <p:nvPr/>
        </p:nvSpPr>
        <p:spPr>
          <a:xfrm rot="0">
            <a:off x="13382625" y="6696075"/>
            <a:ext cx="3878852" cy="251460"/>
          </a:xfrm>
          <a:prstGeom prst="rect">
            <a:avLst/>
          </a:prstGeom>
        </p:spPr>
        <p:txBody>
          <a:bodyPr anchor="t" rtlCol="false" tIns="0" lIns="0" bIns="0" rIns="0">
            <a:spAutoFit/>
          </a:bodyPr>
          <a:lstStyle/>
          <a:p>
            <a:pPr algn="ctr" marL="0" indent="0" lvl="0">
              <a:lnSpc>
                <a:spcPts val="1980"/>
              </a:lnSpc>
              <a:spcBef>
                <a:spcPct val="0"/>
              </a:spcBef>
            </a:pPr>
            <a:r>
              <a:rPr lang="en-US" sz="1800" strike="noStrike" u="none">
                <a:solidFill>
                  <a:srgbClr val="3D3C42"/>
                </a:solidFill>
                <a:latin typeface="Inter"/>
                <a:ea typeface="Inter"/>
                <a:cs typeface="Inter"/>
                <a:sym typeface="Inter"/>
              </a:rPr>
              <a:t>Avg Scheduled Shipping</a:t>
            </a:r>
          </a:p>
        </p:txBody>
      </p:sp>
      <p:sp>
        <p:nvSpPr>
          <p:cNvPr name="TextBox 39" id="39"/>
          <p:cNvSpPr txBox="true"/>
          <p:nvPr/>
        </p:nvSpPr>
        <p:spPr>
          <a:xfrm rot="0">
            <a:off x="1157288" y="4933950"/>
            <a:ext cx="3619500" cy="251460"/>
          </a:xfrm>
          <a:prstGeom prst="rect">
            <a:avLst/>
          </a:prstGeom>
        </p:spPr>
        <p:txBody>
          <a:bodyPr anchor="t" rtlCol="false" tIns="0" lIns="0" bIns="0" rIns="0">
            <a:spAutoFit/>
          </a:bodyPr>
          <a:lstStyle/>
          <a:p>
            <a:pPr algn="ctr" marL="0" indent="0" lvl="0">
              <a:lnSpc>
                <a:spcPts val="1980"/>
              </a:lnSpc>
              <a:spcBef>
                <a:spcPct val="0"/>
              </a:spcBef>
            </a:pPr>
            <a:r>
              <a:rPr lang="en-US" sz="1800" strike="noStrike" u="none">
                <a:solidFill>
                  <a:srgbClr val="3D3C42"/>
                </a:solidFill>
                <a:latin typeface="Inter"/>
                <a:ea typeface="Inter"/>
                <a:cs typeface="Inter"/>
                <a:sym typeface="Inter"/>
              </a:rPr>
              <a:t>Total Orders</a:t>
            </a:r>
          </a:p>
        </p:txBody>
      </p:sp>
      <p:sp>
        <p:nvSpPr>
          <p:cNvPr name="TextBox 40" id="40"/>
          <p:cNvSpPr txBox="true"/>
          <p:nvPr/>
        </p:nvSpPr>
        <p:spPr>
          <a:xfrm rot="0">
            <a:off x="5272088" y="4933950"/>
            <a:ext cx="3619500" cy="251460"/>
          </a:xfrm>
          <a:prstGeom prst="rect">
            <a:avLst/>
          </a:prstGeom>
        </p:spPr>
        <p:txBody>
          <a:bodyPr anchor="t" rtlCol="false" tIns="0" lIns="0" bIns="0" rIns="0">
            <a:spAutoFit/>
          </a:bodyPr>
          <a:lstStyle/>
          <a:p>
            <a:pPr algn="ctr" marL="0" indent="0" lvl="0">
              <a:lnSpc>
                <a:spcPts val="1980"/>
              </a:lnSpc>
              <a:spcBef>
                <a:spcPct val="0"/>
              </a:spcBef>
            </a:pPr>
            <a:r>
              <a:rPr lang="en-US" sz="1800" strike="noStrike" u="none">
                <a:solidFill>
                  <a:srgbClr val="3D3C42"/>
                </a:solidFill>
                <a:latin typeface="Inter"/>
                <a:ea typeface="Inter"/>
                <a:cs typeface="Inter"/>
                <a:sym typeface="Inter"/>
              </a:rPr>
              <a:t>Late Delivery Rate</a:t>
            </a:r>
          </a:p>
        </p:txBody>
      </p:sp>
      <p:sp>
        <p:nvSpPr>
          <p:cNvPr name="TextBox 41" id="41"/>
          <p:cNvSpPr txBox="true"/>
          <p:nvPr/>
        </p:nvSpPr>
        <p:spPr>
          <a:xfrm rot="0">
            <a:off x="9386888" y="4933950"/>
            <a:ext cx="3619500" cy="251460"/>
          </a:xfrm>
          <a:prstGeom prst="rect">
            <a:avLst/>
          </a:prstGeom>
        </p:spPr>
        <p:txBody>
          <a:bodyPr anchor="t" rtlCol="false" tIns="0" lIns="0" bIns="0" rIns="0">
            <a:spAutoFit/>
          </a:bodyPr>
          <a:lstStyle/>
          <a:p>
            <a:pPr algn="ctr" marL="0" indent="0" lvl="0">
              <a:lnSpc>
                <a:spcPts val="1980"/>
              </a:lnSpc>
              <a:spcBef>
                <a:spcPct val="0"/>
              </a:spcBef>
            </a:pPr>
            <a:r>
              <a:rPr lang="en-US" sz="1800" strike="noStrike" u="none">
                <a:solidFill>
                  <a:srgbClr val="3D3C42"/>
                </a:solidFill>
                <a:latin typeface="Inter"/>
                <a:ea typeface="Inter"/>
                <a:cs typeface="Inter"/>
                <a:sym typeface="Inter"/>
              </a:rPr>
              <a:t>Total Profit (profitable orders)</a:t>
            </a:r>
          </a:p>
        </p:txBody>
      </p:sp>
      <p:sp>
        <p:nvSpPr>
          <p:cNvPr name="TextBox 42" id="42"/>
          <p:cNvSpPr txBox="true"/>
          <p:nvPr/>
        </p:nvSpPr>
        <p:spPr>
          <a:xfrm rot="0">
            <a:off x="13511212" y="4933950"/>
            <a:ext cx="3619500" cy="251460"/>
          </a:xfrm>
          <a:prstGeom prst="rect">
            <a:avLst/>
          </a:prstGeom>
        </p:spPr>
        <p:txBody>
          <a:bodyPr anchor="t" rtlCol="false" tIns="0" lIns="0" bIns="0" rIns="0">
            <a:spAutoFit/>
          </a:bodyPr>
          <a:lstStyle/>
          <a:p>
            <a:pPr algn="ctr" marL="0" indent="0" lvl="0">
              <a:lnSpc>
                <a:spcPts val="1980"/>
              </a:lnSpc>
              <a:spcBef>
                <a:spcPct val="0"/>
              </a:spcBef>
            </a:pPr>
            <a:r>
              <a:rPr lang="en-US" sz="1800" strike="noStrike" u="none">
                <a:solidFill>
                  <a:srgbClr val="3D3C42"/>
                </a:solidFill>
                <a:latin typeface="Inter"/>
                <a:ea typeface="Inter"/>
                <a:cs typeface="Inter"/>
                <a:sym typeface="Inter"/>
              </a:rPr>
              <a:t>Avg Actual Shipping</a:t>
            </a:r>
          </a:p>
        </p:txBody>
      </p:sp>
      <p:sp>
        <p:nvSpPr>
          <p:cNvPr name="TextBox 43" id="43"/>
          <p:cNvSpPr txBox="true"/>
          <p:nvPr/>
        </p:nvSpPr>
        <p:spPr>
          <a:xfrm rot="0">
            <a:off x="1028700" y="4295775"/>
            <a:ext cx="3876675" cy="531495"/>
          </a:xfrm>
          <a:prstGeom prst="rect">
            <a:avLst/>
          </a:prstGeom>
        </p:spPr>
        <p:txBody>
          <a:bodyPr anchor="t" rtlCol="false" tIns="0" lIns="0" bIns="0" rIns="0">
            <a:spAutoFit/>
          </a:bodyPr>
          <a:lstStyle/>
          <a:p>
            <a:pPr algn="ctr">
              <a:lnSpc>
                <a:spcPts val="3960"/>
              </a:lnSpc>
            </a:pPr>
            <a:r>
              <a:rPr lang="en-US" sz="3600" b="true">
                <a:solidFill>
                  <a:srgbClr val="7F5283"/>
                </a:solidFill>
                <a:latin typeface="Arimo Bold"/>
                <a:ea typeface="Arimo Bold"/>
                <a:cs typeface="Arimo Bold"/>
                <a:sym typeface="Arimo Bold"/>
              </a:rPr>
              <a:t>172,765</a:t>
            </a:r>
          </a:p>
        </p:txBody>
      </p:sp>
      <p:sp>
        <p:nvSpPr>
          <p:cNvPr name="TextBox 44" id="44"/>
          <p:cNvSpPr txBox="true"/>
          <p:nvPr/>
        </p:nvSpPr>
        <p:spPr>
          <a:xfrm rot="0">
            <a:off x="1028700" y="6057900"/>
            <a:ext cx="3876675" cy="531495"/>
          </a:xfrm>
          <a:prstGeom prst="rect">
            <a:avLst/>
          </a:prstGeom>
        </p:spPr>
        <p:txBody>
          <a:bodyPr anchor="t" rtlCol="false" tIns="0" lIns="0" bIns="0" rIns="0">
            <a:spAutoFit/>
          </a:bodyPr>
          <a:lstStyle/>
          <a:p>
            <a:pPr algn="ctr">
              <a:lnSpc>
                <a:spcPts val="3960"/>
              </a:lnSpc>
            </a:pPr>
            <a:r>
              <a:rPr lang="en-US" sz="3600" b="true">
                <a:solidFill>
                  <a:srgbClr val="7F5283"/>
                </a:solidFill>
                <a:latin typeface="Arimo Bold"/>
                <a:ea typeface="Arimo Bold"/>
                <a:cs typeface="Arimo Bold"/>
                <a:sym typeface="Arimo Bold"/>
              </a:rPr>
              <a:t>103,816</a:t>
            </a:r>
          </a:p>
        </p:txBody>
      </p:sp>
      <p:sp>
        <p:nvSpPr>
          <p:cNvPr name="TextBox 45" id="45"/>
          <p:cNvSpPr txBox="true"/>
          <p:nvPr/>
        </p:nvSpPr>
        <p:spPr>
          <a:xfrm rot="0">
            <a:off x="1028700" y="7820025"/>
            <a:ext cx="3876675" cy="531495"/>
          </a:xfrm>
          <a:prstGeom prst="rect">
            <a:avLst/>
          </a:prstGeom>
        </p:spPr>
        <p:txBody>
          <a:bodyPr anchor="t" rtlCol="false" tIns="0" lIns="0" bIns="0" rIns="0">
            <a:spAutoFit/>
          </a:bodyPr>
          <a:lstStyle/>
          <a:p>
            <a:pPr algn="ctr">
              <a:lnSpc>
                <a:spcPts val="3960"/>
              </a:lnSpc>
            </a:pPr>
            <a:r>
              <a:rPr lang="en-US" sz="3600" b="true">
                <a:solidFill>
                  <a:srgbClr val="7F5283"/>
                </a:solidFill>
                <a:latin typeface="Arimo Bold"/>
                <a:ea typeface="Arimo Bold"/>
                <a:cs typeface="Arimo Bold"/>
                <a:sym typeface="Arimo Bold"/>
              </a:rPr>
              <a:t>68,949</a:t>
            </a:r>
          </a:p>
        </p:txBody>
      </p:sp>
      <p:sp>
        <p:nvSpPr>
          <p:cNvPr name="TextBox 46" id="46"/>
          <p:cNvSpPr txBox="true"/>
          <p:nvPr/>
        </p:nvSpPr>
        <p:spPr>
          <a:xfrm rot="0">
            <a:off x="5143500" y="4295775"/>
            <a:ext cx="3876675" cy="531495"/>
          </a:xfrm>
          <a:prstGeom prst="rect">
            <a:avLst/>
          </a:prstGeom>
        </p:spPr>
        <p:txBody>
          <a:bodyPr anchor="t" rtlCol="false" tIns="0" lIns="0" bIns="0" rIns="0">
            <a:spAutoFit/>
          </a:bodyPr>
          <a:lstStyle/>
          <a:p>
            <a:pPr algn="ctr">
              <a:lnSpc>
                <a:spcPts val="3960"/>
              </a:lnSpc>
            </a:pPr>
            <a:r>
              <a:rPr lang="en-US" sz="3600" b="true">
                <a:solidFill>
                  <a:srgbClr val="7F5283"/>
                </a:solidFill>
                <a:latin typeface="Arimo Bold"/>
                <a:ea typeface="Arimo Bold"/>
                <a:cs typeface="Arimo Bold"/>
                <a:sym typeface="Arimo Bold"/>
              </a:rPr>
              <a:t>60.09%</a:t>
            </a:r>
          </a:p>
        </p:txBody>
      </p:sp>
      <p:sp>
        <p:nvSpPr>
          <p:cNvPr name="TextBox 47" id="47"/>
          <p:cNvSpPr txBox="true"/>
          <p:nvPr/>
        </p:nvSpPr>
        <p:spPr>
          <a:xfrm rot="0">
            <a:off x="5143500" y="6057900"/>
            <a:ext cx="3876675" cy="531495"/>
          </a:xfrm>
          <a:prstGeom prst="rect">
            <a:avLst/>
          </a:prstGeom>
        </p:spPr>
        <p:txBody>
          <a:bodyPr anchor="t" rtlCol="false" tIns="0" lIns="0" bIns="0" rIns="0">
            <a:spAutoFit/>
          </a:bodyPr>
          <a:lstStyle/>
          <a:p>
            <a:pPr algn="ctr">
              <a:lnSpc>
                <a:spcPts val="3960"/>
              </a:lnSpc>
            </a:pPr>
            <a:r>
              <a:rPr lang="en-US" sz="3600" b="true">
                <a:solidFill>
                  <a:srgbClr val="7F5283"/>
                </a:solidFill>
                <a:latin typeface="Arimo Bold"/>
                <a:ea typeface="Arimo Bold"/>
                <a:cs typeface="Arimo Bold"/>
                <a:sym typeface="Arimo Bold"/>
              </a:rPr>
              <a:t>39.91%</a:t>
            </a:r>
          </a:p>
        </p:txBody>
      </p:sp>
      <p:sp>
        <p:nvSpPr>
          <p:cNvPr name="TextBox 48" id="48"/>
          <p:cNvSpPr txBox="true"/>
          <p:nvPr/>
        </p:nvSpPr>
        <p:spPr>
          <a:xfrm rot="0">
            <a:off x="5143500" y="7820025"/>
            <a:ext cx="3876675" cy="531495"/>
          </a:xfrm>
          <a:prstGeom prst="rect">
            <a:avLst/>
          </a:prstGeom>
        </p:spPr>
        <p:txBody>
          <a:bodyPr anchor="t" rtlCol="false" tIns="0" lIns="0" bIns="0" rIns="0">
            <a:spAutoFit/>
          </a:bodyPr>
          <a:lstStyle/>
          <a:p>
            <a:pPr algn="ctr">
              <a:lnSpc>
                <a:spcPts val="3960"/>
              </a:lnSpc>
            </a:pPr>
            <a:r>
              <a:rPr lang="en-US" sz="3600" b="true">
                <a:solidFill>
                  <a:srgbClr val="7F5283"/>
                </a:solidFill>
                <a:latin typeface="Arimo Bold"/>
                <a:ea typeface="Arimo Bold"/>
                <a:cs typeface="Arimo Bold"/>
                <a:sym typeface="Arimo Bold"/>
              </a:rPr>
              <a:t>3 days</a:t>
            </a:r>
          </a:p>
        </p:txBody>
      </p:sp>
      <p:sp>
        <p:nvSpPr>
          <p:cNvPr name="TextBox 49" id="49"/>
          <p:cNvSpPr txBox="true"/>
          <p:nvPr/>
        </p:nvSpPr>
        <p:spPr>
          <a:xfrm rot="0">
            <a:off x="9258300" y="4295775"/>
            <a:ext cx="3876675" cy="531495"/>
          </a:xfrm>
          <a:prstGeom prst="rect">
            <a:avLst/>
          </a:prstGeom>
        </p:spPr>
        <p:txBody>
          <a:bodyPr anchor="t" rtlCol="false" tIns="0" lIns="0" bIns="0" rIns="0">
            <a:spAutoFit/>
          </a:bodyPr>
          <a:lstStyle/>
          <a:p>
            <a:pPr algn="ctr">
              <a:lnSpc>
                <a:spcPts val="3960"/>
              </a:lnSpc>
            </a:pPr>
            <a:r>
              <a:rPr lang="en-US" sz="3600" b="true">
                <a:solidFill>
                  <a:srgbClr val="7F5283"/>
                </a:solidFill>
                <a:latin typeface="Arimo Bold"/>
                <a:ea typeface="Arimo Bold"/>
                <a:cs typeface="Arimo Bold"/>
                <a:sym typeface="Arimo Bold"/>
              </a:rPr>
              <a:t>$7.5M</a:t>
            </a:r>
          </a:p>
        </p:txBody>
      </p:sp>
      <p:sp>
        <p:nvSpPr>
          <p:cNvPr name="TextBox 50" id="50"/>
          <p:cNvSpPr txBox="true"/>
          <p:nvPr/>
        </p:nvSpPr>
        <p:spPr>
          <a:xfrm rot="0">
            <a:off x="9258300" y="6057900"/>
            <a:ext cx="3876675" cy="531495"/>
          </a:xfrm>
          <a:prstGeom prst="rect">
            <a:avLst/>
          </a:prstGeom>
        </p:spPr>
        <p:txBody>
          <a:bodyPr anchor="t" rtlCol="false" tIns="0" lIns="0" bIns="0" rIns="0">
            <a:spAutoFit/>
          </a:bodyPr>
          <a:lstStyle/>
          <a:p>
            <a:pPr algn="ctr">
              <a:lnSpc>
                <a:spcPts val="3960"/>
              </a:lnSpc>
            </a:pPr>
            <a:r>
              <a:rPr lang="en-US" sz="3600" b="true">
                <a:solidFill>
                  <a:srgbClr val="7F5283"/>
                </a:solidFill>
                <a:latin typeface="Arimo Bold"/>
                <a:ea typeface="Arimo Bold"/>
                <a:cs typeface="Arimo Bold"/>
                <a:sym typeface="Arimo Bold"/>
              </a:rPr>
              <a:t>$2.2M</a:t>
            </a:r>
          </a:p>
        </p:txBody>
      </p:sp>
      <p:sp>
        <p:nvSpPr>
          <p:cNvPr name="TextBox 51" id="51"/>
          <p:cNvSpPr txBox="true"/>
          <p:nvPr/>
        </p:nvSpPr>
        <p:spPr>
          <a:xfrm rot="0">
            <a:off x="9258300" y="7820025"/>
            <a:ext cx="3876675" cy="531495"/>
          </a:xfrm>
          <a:prstGeom prst="rect">
            <a:avLst/>
          </a:prstGeom>
        </p:spPr>
        <p:txBody>
          <a:bodyPr anchor="t" rtlCol="false" tIns="0" lIns="0" bIns="0" rIns="0">
            <a:spAutoFit/>
          </a:bodyPr>
          <a:lstStyle/>
          <a:p>
            <a:pPr algn="ctr">
              <a:lnSpc>
                <a:spcPts val="3960"/>
              </a:lnSpc>
            </a:pPr>
            <a:r>
              <a:rPr lang="en-US" sz="3600" b="true">
                <a:solidFill>
                  <a:srgbClr val="7F5283"/>
                </a:solidFill>
                <a:latin typeface="Arimo Bold"/>
                <a:ea typeface="Arimo Bold"/>
                <a:cs typeface="Arimo Bold"/>
                <a:sym typeface="Arimo Bold"/>
              </a:rPr>
              <a:t>$22.03</a:t>
            </a:r>
          </a:p>
        </p:txBody>
      </p:sp>
      <p:sp>
        <p:nvSpPr>
          <p:cNvPr name="TextBox 52" id="52"/>
          <p:cNvSpPr txBox="true"/>
          <p:nvPr/>
        </p:nvSpPr>
        <p:spPr>
          <a:xfrm rot="0">
            <a:off x="13382625" y="4295775"/>
            <a:ext cx="3876675" cy="531495"/>
          </a:xfrm>
          <a:prstGeom prst="rect">
            <a:avLst/>
          </a:prstGeom>
        </p:spPr>
        <p:txBody>
          <a:bodyPr anchor="t" rtlCol="false" tIns="0" lIns="0" bIns="0" rIns="0">
            <a:spAutoFit/>
          </a:bodyPr>
          <a:lstStyle/>
          <a:p>
            <a:pPr algn="ctr">
              <a:lnSpc>
                <a:spcPts val="3960"/>
              </a:lnSpc>
            </a:pPr>
            <a:r>
              <a:rPr lang="en-US" sz="3600" b="true">
                <a:solidFill>
                  <a:srgbClr val="7F5283"/>
                </a:solidFill>
                <a:latin typeface="Arimo Bold"/>
                <a:ea typeface="Arimo Bold"/>
                <a:cs typeface="Arimo Bold"/>
                <a:sym typeface="Arimo Bold"/>
              </a:rPr>
              <a:t>3.50 days</a:t>
            </a:r>
          </a:p>
        </p:txBody>
      </p:sp>
      <p:sp>
        <p:nvSpPr>
          <p:cNvPr name="TextBox 53" id="53"/>
          <p:cNvSpPr txBox="true"/>
          <p:nvPr/>
        </p:nvSpPr>
        <p:spPr>
          <a:xfrm rot="0">
            <a:off x="13382625" y="6057900"/>
            <a:ext cx="3876675" cy="531495"/>
          </a:xfrm>
          <a:prstGeom prst="rect">
            <a:avLst/>
          </a:prstGeom>
        </p:spPr>
        <p:txBody>
          <a:bodyPr anchor="t" rtlCol="false" tIns="0" lIns="0" bIns="0" rIns="0">
            <a:spAutoFit/>
          </a:bodyPr>
          <a:lstStyle/>
          <a:p>
            <a:pPr algn="ctr">
              <a:lnSpc>
                <a:spcPts val="3960"/>
              </a:lnSpc>
            </a:pPr>
            <a:r>
              <a:rPr lang="en-US" sz="3600" b="true">
                <a:solidFill>
                  <a:srgbClr val="7F5283"/>
                </a:solidFill>
                <a:latin typeface="Arimo Bold"/>
                <a:ea typeface="Arimo Bold"/>
                <a:cs typeface="Arimo Bold"/>
                <a:sym typeface="Arimo Bold"/>
              </a:rPr>
              <a:t>2.93 days</a:t>
            </a:r>
          </a:p>
        </p:txBody>
      </p:sp>
      <p:sp>
        <p:nvSpPr>
          <p:cNvPr name="TextBox 54" id="54"/>
          <p:cNvSpPr txBox="true"/>
          <p:nvPr/>
        </p:nvSpPr>
        <p:spPr>
          <a:xfrm rot="0">
            <a:off x="13382625" y="7820025"/>
            <a:ext cx="3876675" cy="531495"/>
          </a:xfrm>
          <a:prstGeom prst="rect">
            <a:avLst/>
          </a:prstGeom>
        </p:spPr>
        <p:txBody>
          <a:bodyPr anchor="t" rtlCol="false" tIns="0" lIns="0" bIns="0" rIns="0">
            <a:spAutoFit/>
          </a:bodyPr>
          <a:lstStyle/>
          <a:p>
            <a:pPr algn="ctr">
              <a:lnSpc>
                <a:spcPts val="3960"/>
              </a:lnSpc>
            </a:pPr>
            <a:r>
              <a:rPr lang="en-US" sz="3600" b="true">
                <a:solidFill>
                  <a:srgbClr val="7F5283"/>
                </a:solidFill>
                <a:latin typeface="Arimo Bold"/>
                <a:ea typeface="Arimo Bold"/>
                <a:cs typeface="Arimo Bold"/>
                <a:sym typeface="Arimo Bold"/>
              </a:rPr>
              <a:t>+0.57 days</a:t>
            </a:r>
          </a:p>
        </p:txBody>
      </p:sp>
    </p:spTree>
  </p:cSld>
  <p:clrMapOvr>
    <a:masterClrMapping/>
  </p:clrMapOvr>
</p:sld>
</file>

<file path=ppt/slides/slide6.xml><?xml version="1.0" encoding="utf-8"?>
<p:sld xmlns:p="http://schemas.openxmlformats.org/presentationml/2006/main" xmlns:a="http://schemas.openxmlformats.org/drawingml/2006/main">
  <p:cSld>
    <p:bg>
      <p:bgPr>
        <a:solidFill>
          <a:srgbClr val="FEFBF6"/>
        </a:solidFill>
      </p:bgPr>
    </p:bg>
    <p:spTree>
      <p:nvGrpSpPr>
        <p:cNvPr id="1" name=""/>
        <p:cNvGrpSpPr/>
        <p:nvPr/>
      </p:nvGrpSpPr>
      <p:grpSpPr>
        <a:xfrm>
          <a:off x="0" y="0"/>
          <a:ext cx="0" cy="0"/>
          <a:chOff x="0" y="0"/>
          <a:chExt cx="0" cy="0"/>
        </a:xfrm>
      </p:grpSpPr>
      <p:grpSp>
        <p:nvGrpSpPr>
          <p:cNvPr name="Group 2" id="2"/>
          <p:cNvGrpSpPr/>
          <p:nvPr/>
        </p:nvGrpSpPr>
        <p:grpSpPr>
          <a:xfrm rot="0">
            <a:off x="12282932" y="1028700"/>
            <a:ext cx="4976368" cy="8229600"/>
            <a:chOff x="0" y="0"/>
            <a:chExt cx="1731743" cy="2863847"/>
          </a:xfrm>
        </p:grpSpPr>
        <p:sp>
          <p:nvSpPr>
            <p:cNvPr name="Freeform 3" id="3"/>
            <p:cNvSpPr/>
            <p:nvPr/>
          </p:nvSpPr>
          <p:spPr>
            <a:xfrm flipH="false" flipV="false" rot="0">
              <a:off x="0" y="0"/>
              <a:ext cx="1731743" cy="2863847"/>
            </a:xfrm>
            <a:custGeom>
              <a:avLst/>
              <a:gdLst/>
              <a:ahLst/>
              <a:cxnLst/>
              <a:rect r="r" b="b" t="t" l="l"/>
              <a:pathLst>
                <a:path h="2863847" w="1731743">
                  <a:moveTo>
                    <a:pt x="31115" y="0"/>
                  </a:moveTo>
                  <a:lnTo>
                    <a:pt x="1700629" y="0"/>
                  </a:lnTo>
                  <a:cubicBezTo>
                    <a:pt x="1717813" y="0"/>
                    <a:pt x="1731743" y="13931"/>
                    <a:pt x="1731743" y="31115"/>
                  </a:cubicBezTo>
                  <a:lnTo>
                    <a:pt x="1731743" y="2832732"/>
                  </a:lnTo>
                  <a:cubicBezTo>
                    <a:pt x="1731743" y="2849916"/>
                    <a:pt x="1717813" y="2863847"/>
                    <a:pt x="1700629" y="2863847"/>
                  </a:cubicBezTo>
                  <a:lnTo>
                    <a:pt x="31115" y="2863847"/>
                  </a:lnTo>
                  <a:cubicBezTo>
                    <a:pt x="13931" y="2863847"/>
                    <a:pt x="0" y="2849916"/>
                    <a:pt x="0" y="2832732"/>
                  </a:cubicBezTo>
                  <a:lnTo>
                    <a:pt x="0" y="31115"/>
                  </a:lnTo>
                  <a:cubicBezTo>
                    <a:pt x="0" y="13931"/>
                    <a:pt x="13931" y="0"/>
                    <a:pt x="31115" y="0"/>
                  </a:cubicBezTo>
                  <a:close/>
                </a:path>
              </a:pathLst>
            </a:custGeom>
            <a:ln w="38100" cap="sq">
              <a:solidFill>
                <a:srgbClr val="A6D1E6"/>
              </a:solidFill>
              <a:prstDash val="solid"/>
              <a:miter/>
            </a:ln>
          </p:spPr>
        </p:sp>
        <p:sp>
          <p:nvSpPr>
            <p:cNvPr name="TextBox 4" id="4"/>
            <p:cNvSpPr txBox="true"/>
            <p:nvPr/>
          </p:nvSpPr>
          <p:spPr>
            <a:xfrm>
              <a:off x="0" y="-38100"/>
              <a:ext cx="1731743" cy="2901947"/>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028700" y="2659714"/>
            <a:ext cx="10988157" cy="3950566"/>
            <a:chOff x="0" y="0"/>
            <a:chExt cx="3823807" cy="1374771"/>
          </a:xfrm>
        </p:grpSpPr>
        <p:sp>
          <p:nvSpPr>
            <p:cNvPr name="Freeform 6" id="6"/>
            <p:cNvSpPr/>
            <p:nvPr/>
          </p:nvSpPr>
          <p:spPr>
            <a:xfrm flipH="false" flipV="false" rot="0">
              <a:off x="0" y="0"/>
              <a:ext cx="3823807" cy="1374771"/>
            </a:xfrm>
            <a:custGeom>
              <a:avLst/>
              <a:gdLst/>
              <a:ahLst/>
              <a:cxnLst/>
              <a:rect r="r" b="b" t="t" l="l"/>
              <a:pathLst>
                <a:path h="1374771" w="3823807">
                  <a:moveTo>
                    <a:pt x="14091" y="0"/>
                  </a:moveTo>
                  <a:lnTo>
                    <a:pt x="3809715" y="0"/>
                  </a:lnTo>
                  <a:cubicBezTo>
                    <a:pt x="3813453" y="0"/>
                    <a:pt x="3817037" y="1485"/>
                    <a:pt x="3819679" y="4127"/>
                  </a:cubicBezTo>
                  <a:cubicBezTo>
                    <a:pt x="3822322" y="6770"/>
                    <a:pt x="3823807" y="10354"/>
                    <a:pt x="3823807" y="14091"/>
                  </a:cubicBezTo>
                  <a:lnTo>
                    <a:pt x="3823807" y="1360680"/>
                  </a:lnTo>
                  <a:cubicBezTo>
                    <a:pt x="3823807" y="1364417"/>
                    <a:pt x="3822322" y="1368001"/>
                    <a:pt x="3819679" y="1370644"/>
                  </a:cubicBezTo>
                  <a:cubicBezTo>
                    <a:pt x="3817037" y="1373287"/>
                    <a:pt x="3813453" y="1374771"/>
                    <a:pt x="3809715" y="1374771"/>
                  </a:cubicBezTo>
                  <a:lnTo>
                    <a:pt x="14091" y="1374771"/>
                  </a:lnTo>
                  <a:cubicBezTo>
                    <a:pt x="10354" y="1374771"/>
                    <a:pt x="6770" y="1373287"/>
                    <a:pt x="4127" y="1370644"/>
                  </a:cubicBezTo>
                  <a:cubicBezTo>
                    <a:pt x="1485" y="1368001"/>
                    <a:pt x="0" y="1364417"/>
                    <a:pt x="0" y="1360680"/>
                  </a:cubicBezTo>
                  <a:lnTo>
                    <a:pt x="0" y="14091"/>
                  </a:lnTo>
                  <a:cubicBezTo>
                    <a:pt x="0" y="10354"/>
                    <a:pt x="1485" y="6770"/>
                    <a:pt x="4127" y="4127"/>
                  </a:cubicBezTo>
                  <a:cubicBezTo>
                    <a:pt x="6770" y="1485"/>
                    <a:pt x="10354" y="0"/>
                    <a:pt x="14091" y="0"/>
                  </a:cubicBezTo>
                  <a:close/>
                </a:path>
              </a:pathLst>
            </a:custGeom>
            <a:ln w="38100" cap="sq">
              <a:solidFill>
                <a:srgbClr val="A6D1E6"/>
              </a:solidFill>
              <a:prstDash val="solid"/>
              <a:miter/>
            </a:ln>
          </p:spPr>
        </p:sp>
        <p:sp>
          <p:nvSpPr>
            <p:cNvPr name="TextBox 7" id="7"/>
            <p:cNvSpPr txBox="true"/>
            <p:nvPr/>
          </p:nvSpPr>
          <p:spPr>
            <a:xfrm>
              <a:off x="0" y="-38100"/>
              <a:ext cx="3823807" cy="1412871"/>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1421469" y="3197041"/>
            <a:ext cx="6216715" cy="293370"/>
          </a:xfrm>
          <a:prstGeom prst="rect">
            <a:avLst/>
          </a:prstGeom>
        </p:spPr>
        <p:txBody>
          <a:bodyPr anchor="t" rtlCol="false" tIns="0" lIns="0" bIns="0" rIns="0">
            <a:spAutoFit/>
          </a:bodyPr>
          <a:lstStyle/>
          <a:p>
            <a:pPr algn="l" marL="0" indent="0" lvl="0">
              <a:lnSpc>
                <a:spcPts val="2310"/>
              </a:lnSpc>
              <a:spcBef>
                <a:spcPct val="0"/>
              </a:spcBef>
            </a:pPr>
            <a:r>
              <a:rPr lang="en-US" b="true" sz="2100" strike="noStrike" u="none">
                <a:solidFill>
                  <a:srgbClr val="3D3C42"/>
                </a:solidFill>
                <a:latin typeface="Inter Bold"/>
                <a:ea typeface="Inter Bold"/>
                <a:cs typeface="Inter Bold"/>
                <a:sym typeface="Inter Bold"/>
              </a:rPr>
              <a:t>Delay Distribution</a:t>
            </a:r>
          </a:p>
        </p:txBody>
      </p:sp>
      <p:grpSp>
        <p:nvGrpSpPr>
          <p:cNvPr name="Group 9" id="9"/>
          <p:cNvGrpSpPr/>
          <p:nvPr/>
        </p:nvGrpSpPr>
        <p:grpSpPr>
          <a:xfrm rot="0">
            <a:off x="1028700" y="6814183"/>
            <a:ext cx="10988157" cy="2444117"/>
            <a:chOff x="0" y="0"/>
            <a:chExt cx="3823807" cy="850537"/>
          </a:xfrm>
        </p:grpSpPr>
        <p:sp>
          <p:nvSpPr>
            <p:cNvPr name="Freeform 10" id="10"/>
            <p:cNvSpPr/>
            <p:nvPr/>
          </p:nvSpPr>
          <p:spPr>
            <a:xfrm flipH="false" flipV="false" rot="0">
              <a:off x="0" y="0"/>
              <a:ext cx="3823807" cy="850537"/>
            </a:xfrm>
            <a:custGeom>
              <a:avLst/>
              <a:gdLst/>
              <a:ahLst/>
              <a:cxnLst/>
              <a:rect r="r" b="b" t="t" l="l"/>
              <a:pathLst>
                <a:path h="850537" w="3823807">
                  <a:moveTo>
                    <a:pt x="14091" y="0"/>
                  </a:moveTo>
                  <a:lnTo>
                    <a:pt x="3809715" y="0"/>
                  </a:lnTo>
                  <a:cubicBezTo>
                    <a:pt x="3813453" y="0"/>
                    <a:pt x="3817037" y="1485"/>
                    <a:pt x="3819679" y="4127"/>
                  </a:cubicBezTo>
                  <a:cubicBezTo>
                    <a:pt x="3822322" y="6770"/>
                    <a:pt x="3823807" y="10354"/>
                    <a:pt x="3823807" y="14091"/>
                  </a:cubicBezTo>
                  <a:lnTo>
                    <a:pt x="3823807" y="836445"/>
                  </a:lnTo>
                  <a:cubicBezTo>
                    <a:pt x="3823807" y="840183"/>
                    <a:pt x="3822322" y="843767"/>
                    <a:pt x="3819679" y="846409"/>
                  </a:cubicBezTo>
                  <a:cubicBezTo>
                    <a:pt x="3817037" y="849052"/>
                    <a:pt x="3813453" y="850537"/>
                    <a:pt x="3809715" y="850537"/>
                  </a:cubicBezTo>
                  <a:lnTo>
                    <a:pt x="14091" y="850537"/>
                  </a:lnTo>
                  <a:cubicBezTo>
                    <a:pt x="10354" y="850537"/>
                    <a:pt x="6770" y="849052"/>
                    <a:pt x="4127" y="846409"/>
                  </a:cubicBezTo>
                  <a:cubicBezTo>
                    <a:pt x="1485" y="843767"/>
                    <a:pt x="0" y="840183"/>
                    <a:pt x="0" y="836445"/>
                  </a:cubicBezTo>
                  <a:lnTo>
                    <a:pt x="0" y="14091"/>
                  </a:lnTo>
                  <a:cubicBezTo>
                    <a:pt x="0" y="10354"/>
                    <a:pt x="1485" y="6770"/>
                    <a:pt x="4127" y="4127"/>
                  </a:cubicBezTo>
                  <a:cubicBezTo>
                    <a:pt x="6770" y="1485"/>
                    <a:pt x="10354" y="0"/>
                    <a:pt x="14091" y="0"/>
                  </a:cubicBezTo>
                  <a:close/>
                </a:path>
              </a:pathLst>
            </a:custGeom>
            <a:ln w="38100" cap="sq">
              <a:solidFill>
                <a:srgbClr val="A6D1E6"/>
              </a:solidFill>
              <a:prstDash val="solid"/>
              <a:miter/>
            </a:ln>
          </p:spPr>
        </p:sp>
        <p:sp>
          <p:nvSpPr>
            <p:cNvPr name="TextBox 11" id="11"/>
            <p:cNvSpPr txBox="true"/>
            <p:nvPr/>
          </p:nvSpPr>
          <p:spPr>
            <a:xfrm>
              <a:off x="0" y="-38100"/>
              <a:ext cx="3823807" cy="888637"/>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13217459" y="6339770"/>
            <a:ext cx="270510" cy="270510"/>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F5283"/>
            </a:solidFill>
          </p:spPr>
        </p:sp>
        <p:sp>
          <p:nvSpPr>
            <p:cNvPr name="TextBox 14" id="14"/>
            <p:cNvSpPr txBox="true"/>
            <p:nvPr/>
          </p:nvSpPr>
          <p:spPr>
            <a:xfrm>
              <a:off x="76200" y="95250"/>
              <a:ext cx="660400" cy="641350"/>
            </a:xfrm>
            <a:prstGeom prst="rect">
              <a:avLst/>
            </a:prstGeom>
          </p:spPr>
          <p:txBody>
            <a:bodyPr anchor="ctr" rtlCol="false" tIns="50800" lIns="50800" bIns="50800" rIns="50800"/>
            <a:lstStyle/>
            <a:p>
              <a:pPr algn="ctr">
                <a:lnSpc>
                  <a:spcPts val="1980"/>
                </a:lnSpc>
              </a:pPr>
            </a:p>
          </p:txBody>
        </p:sp>
      </p:grpSp>
      <p:grpSp>
        <p:nvGrpSpPr>
          <p:cNvPr name="Group 15" id="15"/>
          <p:cNvGrpSpPr/>
          <p:nvPr/>
        </p:nvGrpSpPr>
        <p:grpSpPr>
          <a:xfrm rot="0">
            <a:off x="13217459" y="6814183"/>
            <a:ext cx="270510" cy="270510"/>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DB2CE"/>
            </a:solidFill>
          </p:spPr>
        </p:sp>
        <p:sp>
          <p:nvSpPr>
            <p:cNvPr name="TextBox 17" id="17"/>
            <p:cNvSpPr txBox="true"/>
            <p:nvPr/>
          </p:nvSpPr>
          <p:spPr>
            <a:xfrm>
              <a:off x="76200" y="95250"/>
              <a:ext cx="660400" cy="641350"/>
            </a:xfrm>
            <a:prstGeom prst="rect">
              <a:avLst/>
            </a:prstGeom>
          </p:spPr>
          <p:txBody>
            <a:bodyPr anchor="ctr" rtlCol="false" tIns="50800" lIns="50800" bIns="50800" rIns="50800"/>
            <a:lstStyle/>
            <a:p>
              <a:pPr algn="ctr">
                <a:lnSpc>
                  <a:spcPts val="1980"/>
                </a:lnSpc>
              </a:pPr>
            </a:p>
          </p:txBody>
        </p:sp>
      </p:grpSp>
      <p:grpSp>
        <p:nvGrpSpPr>
          <p:cNvPr name="Group 18" id="18"/>
          <p:cNvGrpSpPr/>
          <p:nvPr/>
        </p:nvGrpSpPr>
        <p:grpSpPr>
          <a:xfrm rot="0">
            <a:off x="13217459" y="7288596"/>
            <a:ext cx="270510" cy="270510"/>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6D1E6"/>
            </a:solidFill>
          </p:spPr>
        </p:sp>
        <p:sp>
          <p:nvSpPr>
            <p:cNvPr name="TextBox 20" id="20"/>
            <p:cNvSpPr txBox="true"/>
            <p:nvPr/>
          </p:nvSpPr>
          <p:spPr>
            <a:xfrm>
              <a:off x="76200" y="95250"/>
              <a:ext cx="660400" cy="641350"/>
            </a:xfrm>
            <a:prstGeom prst="rect">
              <a:avLst/>
            </a:prstGeom>
          </p:spPr>
          <p:txBody>
            <a:bodyPr anchor="ctr" rtlCol="false" tIns="50800" lIns="50800" bIns="50800" rIns="50800"/>
            <a:lstStyle/>
            <a:p>
              <a:pPr algn="ctr">
                <a:lnSpc>
                  <a:spcPts val="1980"/>
                </a:lnSpc>
              </a:pPr>
            </a:p>
          </p:txBody>
        </p:sp>
      </p:grpSp>
      <p:sp>
        <p:nvSpPr>
          <p:cNvPr name="TextBox 21" id="21"/>
          <p:cNvSpPr txBox="true"/>
          <p:nvPr/>
        </p:nvSpPr>
        <p:spPr>
          <a:xfrm rot="0">
            <a:off x="1028700" y="1076325"/>
            <a:ext cx="11254232" cy="680085"/>
          </a:xfrm>
          <a:prstGeom prst="rect">
            <a:avLst/>
          </a:prstGeom>
        </p:spPr>
        <p:txBody>
          <a:bodyPr anchor="t" rtlCol="false" tIns="0" lIns="0" bIns="0" rIns="0">
            <a:spAutoFit/>
          </a:bodyPr>
          <a:lstStyle/>
          <a:p>
            <a:pPr algn="l" marL="0" indent="0" lvl="0">
              <a:lnSpc>
                <a:spcPts val="5280"/>
              </a:lnSpc>
              <a:spcBef>
                <a:spcPct val="0"/>
              </a:spcBef>
            </a:pPr>
            <a:r>
              <a:rPr lang="en-US" b="true" sz="4800" strike="noStrike" u="none">
                <a:solidFill>
                  <a:srgbClr val="3D3C42"/>
                </a:solidFill>
                <a:latin typeface="Inter Bold"/>
                <a:ea typeface="Inter Bold"/>
                <a:cs typeface="Inter Bold"/>
                <a:sym typeface="Inter Bold"/>
              </a:rPr>
              <a:t>Profit vs Delivery Time</a:t>
            </a:r>
          </a:p>
        </p:txBody>
      </p:sp>
      <p:sp>
        <p:nvSpPr>
          <p:cNvPr name="TextBox 22" id="22"/>
          <p:cNvSpPr txBox="true"/>
          <p:nvPr/>
        </p:nvSpPr>
        <p:spPr>
          <a:xfrm rot="0">
            <a:off x="12719190" y="1463040"/>
            <a:ext cx="4103852" cy="293370"/>
          </a:xfrm>
          <a:prstGeom prst="rect">
            <a:avLst/>
          </a:prstGeom>
        </p:spPr>
        <p:txBody>
          <a:bodyPr anchor="t" rtlCol="false" tIns="0" lIns="0" bIns="0" rIns="0">
            <a:spAutoFit/>
          </a:bodyPr>
          <a:lstStyle/>
          <a:p>
            <a:pPr algn="l" marL="0" indent="0" lvl="0">
              <a:lnSpc>
                <a:spcPts val="2310"/>
              </a:lnSpc>
              <a:spcBef>
                <a:spcPct val="0"/>
              </a:spcBef>
            </a:pPr>
            <a:r>
              <a:rPr lang="en-US" b="true" sz="2100" strike="noStrike" u="none">
                <a:solidFill>
                  <a:srgbClr val="3D3C42"/>
                </a:solidFill>
                <a:latin typeface="Inter Bold"/>
                <a:ea typeface="Inter Bold"/>
                <a:cs typeface="Inter Bold"/>
                <a:sym typeface="Inter Bold"/>
              </a:rPr>
              <a:t>Order Profitability</a:t>
            </a:r>
          </a:p>
        </p:txBody>
      </p:sp>
      <p:sp>
        <p:nvSpPr>
          <p:cNvPr name="TextBox 23" id="23"/>
          <p:cNvSpPr txBox="true"/>
          <p:nvPr/>
        </p:nvSpPr>
        <p:spPr>
          <a:xfrm rot="0">
            <a:off x="1421469" y="3901440"/>
            <a:ext cx="2476332" cy="994410"/>
          </a:xfrm>
          <a:prstGeom prst="rect">
            <a:avLst/>
          </a:prstGeom>
        </p:spPr>
        <p:txBody>
          <a:bodyPr anchor="t" rtlCol="false" tIns="0" lIns="0" bIns="0" rIns="0">
            <a:spAutoFit/>
          </a:bodyPr>
          <a:lstStyle/>
          <a:p>
            <a:pPr algn="l" marL="0" indent="0" lvl="0">
              <a:lnSpc>
                <a:spcPts val="1980"/>
              </a:lnSpc>
              <a:spcBef>
                <a:spcPct val="0"/>
              </a:spcBef>
            </a:pPr>
            <a:r>
              <a:rPr lang="en-US" sz="1800" strike="noStrike" u="none">
                <a:solidFill>
                  <a:srgbClr val="3D3C42"/>
                </a:solidFill>
                <a:latin typeface="Inter"/>
                <a:ea typeface="Inter"/>
                <a:cs typeface="Inter"/>
                <a:sym typeface="Inter"/>
              </a:rPr>
              <a:t>31.0% of orders arrive exactly 1 day late, the largest group. In total, 60.1% arrive late.</a:t>
            </a:r>
          </a:p>
        </p:txBody>
      </p:sp>
      <p:sp>
        <p:nvSpPr>
          <p:cNvPr name="TextBox 24" id="24"/>
          <p:cNvSpPr txBox="true"/>
          <p:nvPr/>
        </p:nvSpPr>
        <p:spPr>
          <a:xfrm rot="0">
            <a:off x="5095875" y="8286750"/>
            <a:ext cx="2857500" cy="251460"/>
          </a:xfrm>
          <a:prstGeom prst="rect">
            <a:avLst/>
          </a:prstGeom>
        </p:spPr>
        <p:txBody>
          <a:bodyPr anchor="t" rtlCol="false" tIns="0" lIns="0" bIns="0" rIns="0">
            <a:spAutoFit/>
          </a:bodyPr>
          <a:lstStyle/>
          <a:p>
            <a:pPr algn="ctr" marL="0" indent="0" lvl="0">
              <a:lnSpc>
                <a:spcPts val="1980"/>
              </a:lnSpc>
              <a:spcBef>
                <a:spcPct val="0"/>
              </a:spcBef>
            </a:pPr>
            <a:r>
              <a:rPr lang="en-US" sz="1800" strike="noStrike" u="none">
                <a:solidFill>
                  <a:srgbClr val="3D3C42"/>
                </a:solidFill>
                <a:latin typeface="Inter"/>
                <a:ea typeface="Inter"/>
                <a:cs typeface="Inter"/>
                <a:sym typeface="Inter"/>
              </a:rPr>
              <a:t>avg profit per late order</a:t>
            </a:r>
          </a:p>
        </p:txBody>
      </p:sp>
      <p:sp>
        <p:nvSpPr>
          <p:cNvPr name="TextBox 25" id="25"/>
          <p:cNvSpPr txBox="true"/>
          <p:nvPr/>
        </p:nvSpPr>
        <p:spPr>
          <a:xfrm rot="0">
            <a:off x="8705850" y="8286750"/>
            <a:ext cx="2857500" cy="499110"/>
          </a:xfrm>
          <a:prstGeom prst="rect">
            <a:avLst/>
          </a:prstGeom>
        </p:spPr>
        <p:txBody>
          <a:bodyPr anchor="t" rtlCol="false" tIns="0" lIns="0" bIns="0" rIns="0">
            <a:spAutoFit/>
          </a:bodyPr>
          <a:lstStyle/>
          <a:p>
            <a:pPr algn="ctr" marL="0" indent="0" lvl="0">
              <a:lnSpc>
                <a:spcPts val="1980"/>
              </a:lnSpc>
              <a:spcBef>
                <a:spcPct val="0"/>
              </a:spcBef>
            </a:pPr>
            <a:r>
              <a:rPr lang="en-US" sz="1800" strike="noStrike" u="none">
                <a:solidFill>
                  <a:srgbClr val="3D3C42"/>
                </a:solidFill>
                <a:latin typeface="Inter"/>
                <a:ea typeface="Inter"/>
                <a:cs typeface="Inter"/>
                <a:sym typeface="Inter"/>
              </a:rPr>
              <a:t>lowest avg profit (3 days late)</a:t>
            </a:r>
          </a:p>
        </p:txBody>
      </p:sp>
      <p:sp>
        <p:nvSpPr>
          <p:cNvPr name="TextBox 26" id="26"/>
          <p:cNvSpPr txBox="true"/>
          <p:nvPr/>
        </p:nvSpPr>
        <p:spPr>
          <a:xfrm rot="0">
            <a:off x="1485900" y="8286750"/>
            <a:ext cx="2857500" cy="499110"/>
          </a:xfrm>
          <a:prstGeom prst="rect">
            <a:avLst/>
          </a:prstGeom>
        </p:spPr>
        <p:txBody>
          <a:bodyPr anchor="t" rtlCol="false" tIns="0" lIns="0" bIns="0" rIns="0">
            <a:spAutoFit/>
          </a:bodyPr>
          <a:lstStyle/>
          <a:p>
            <a:pPr algn="ctr" marL="0" indent="0" lvl="0">
              <a:lnSpc>
                <a:spcPts val="1980"/>
              </a:lnSpc>
              <a:spcBef>
                <a:spcPct val="0"/>
              </a:spcBef>
            </a:pPr>
            <a:r>
              <a:rPr lang="en-US" sz="1800" strike="noStrike" u="none">
                <a:solidFill>
                  <a:srgbClr val="3D3C42"/>
                </a:solidFill>
                <a:latin typeface="Inter"/>
                <a:ea typeface="Inter"/>
                <a:cs typeface="Inter"/>
                <a:sym typeface="Inter"/>
              </a:rPr>
              <a:t>avg profit per early or on-time order</a:t>
            </a:r>
          </a:p>
        </p:txBody>
      </p:sp>
      <p:sp>
        <p:nvSpPr>
          <p:cNvPr name="TextBox 27" id="27"/>
          <p:cNvSpPr txBox="true"/>
          <p:nvPr/>
        </p:nvSpPr>
        <p:spPr>
          <a:xfrm rot="0">
            <a:off x="13771129" y="6358820"/>
            <a:ext cx="3195090" cy="251460"/>
          </a:xfrm>
          <a:prstGeom prst="rect">
            <a:avLst/>
          </a:prstGeom>
        </p:spPr>
        <p:txBody>
          <a:bodyPr anchor="t" rtlCol="false" tIns="0" lIns="0" bIns="0" rIns="0">
            <a:spAutoFit/>
          </a:bodyPr>
          <a:lstStyle/>
          <a:p>
            <a:pPr algn="l" marL="0" indent="0" lvl="0">
              <a:lnSpc>
                <a:spcPts val="1980"/>
              </a:lnSpc>
              <a:spcBef>
                <a:spcPct val="0"/>
              </a:spcBef>
            </a:pPr>
            <a:r>
              <a:rPr lang="en-US" sz="1800" strike="noStrike" u="none">
                <a:solidFill>
                  <a:srgbClr val="3D3C42"/>
                </a:solidFill>
                <a:latin typeface="Inter"/>
                <a:ea typeface="Inter"/>
                <a:cs typeface="Inter"/>
                <a:sym typeface="Inter"/>
              </a:rPr>
              <a:t>Profitable: 80.7%</a:t>
            </a:r>
          </a:p>
        </p:txBody>
      </p:sp>
      <p:sp>
        <p:nvSpPr>
          <p:cNvPr name="TextBox 28" id="28"/>
          <p:cNvSpPr txBox="true"/>
          <p:nvPr/>
        </p:nvSpPr>
        <p:spPr>
          <a:xfrm rot="0">
            <a:off x="13771129" y="6833233"/>
            <a:ext cx="3195090" cy="251460"/>
          </a:xfrm>
          <a:prstGeom prst="rect">
            <a:avLst/>
          </a:prstGeom>
        </p:spPr>
        <p:txBody>
          <a:bodyPr anchor="t" rtlCol="false" tIns="0" lIns="0" bIns="0" rIns="0">
            <a:spAutoFit/>
          </a:bodyPr>
          <a:lstStyle/>
          <a:p>
            <a:pPr algn="l" marL="0" indent="0" lvl="0">
              <a:lnSpc>
                <a:spcPts val="1980"/>
              </a:lnSpc>
              <a:spcBef>
                <a:spcPct val="0"/>
              </a:spcBef>
            </a:pPr>
            <a:r>
              <a:rPr lang="en-US" sz="1800" strike="noStrike" u="none">
                <a:solidFill>
                  <a:srgbClr val="3D3C42"/>
                </a:solidFill>
                <a:latin typeface="Inter"/>
                <a:ea typeface="Inter"/>
                <a:cs typeface="Inter"/>
                <a:sym typeface="Inter"/>
              </a:rPr>
              <a:t>Loss-making: 18.7%</a:t>
            </a:r>
          </a:p>
        </p:txBody>
      </p:sp>
      <p:sp>
        <p:nvSpPr>
          <p:cNvPr name="TextBox 29" id="29"/>
          <p:cNvSpPr txBox="true"/>
          <p:nvPr/>
        </p:nvSpPr>
        <p:spPr>
          <a:xfrm rot="0">
            <a:off x="13771129" y="7307646"/>
            <a:ext cx="3195090" cy="251460"/>
          </a:xfrm>
          <a:prstGeom prst="rect">
            <a:avLst/>
          </a:prstGeom>
        </p:spPr>
        <p:txBody>
          <a:bodyPr anchor="t" rtlCol="false" tIns="0" lIns="0" bIns="0" rIns="0">
            <a:spAutoFit/>
          </a:bodyPr>
          <a:lstStyle/>
          <a:p>
            <a:pPr algn="l" marL="0" indent="0" lvl="0">
              <a:lnSpc>
                <a:spcPts val="1980"/>
              </a:lnSpc>
              <a:spcBef>
                <a:spcPct val="0"/>
              </a:spcBef>
            </a:pPr>
            <a:r>
              <a:rPr lang="en-US" sz="1800" strike="noStrike" u="none">
                <a:solidFill>
                  <a:srgbClr val="3D3C42"/>
                </a:solidFill>
                <a:latin typeface="Inter"/>
                <a:ea typeface="Inter"/>
                <a:cs typeface="Inter"/>
                <a:sym typeface="Inter"/>
              </a:rPr>
              <a:t>Break-even: 0.6%</a:t>
            </a:r>
          </a:p>
        </p:txBody>
      </p:sp>
      <p:sp>
        <p:nvSpPr>
          <p:cNvPr name="TextBox 30" id="30"/>
          <p:cNvSpPr txBox="true"/>
          <p:nvPr/>
        </p:nvSpPr>
        <p:spPr>
          <a:xfrm rot="0">
            <a:off x="12647602" y="8055291"/>
            <a:ext cx="4247028" cy="499110"/>
          </a:xfrm>
          <a:prstGeom prst="rect">
            <a:avLst/>
          </a:prstGeom>
        </p:spPr>
        <p:txBody>
          <a:bodyPr anchor="t" rtlCol="false" tIns="0" lIns="0" bIns="0" rIns="0">
            <a:spAutoFit/>
          </a:bodyPr>
          <a:lstStyle/>
          <a:p>
            <a:pPr algn="l" marL="0" indent="0" lvl="0">
              <a:lnSpc>
                <a:spcPts val="1980"/>
              </a:lnSpc>
              <a:spcBef>
                <a:spcPct val="0"/>
              </a:spcBef>
            </a:pPr>
            <a:r>
              <a:rPr lang="en-US" sz="1800" strike="noStrike" u="none">
                <a:solidFill>
                  <a:srgbClr val="3D3C42"/>
                </a:solidFill>
                <a:latin typeface="Inter"/>
                <a:ea typeface="Inter"/>
                <a:cs typeface="Inter"/>
                <a:sym typeface="Inter"/>
              </a:rPr>
              <a:t>Loss-making orders wipe out about $3.7M, half of the $7.5M gross profit.</a:t>
            </a:r>
          </a:p>
        </p:txBody>
      </p:sp>
      <p:sp>
        <p:nvSpPr>
          <p:cNvPr name="TextBox 31" id="31"/>
          <p:cNvSpPr txBox="true"/>
          <p:nvPr/>
        </p:nvSpPr>
        <p:spPr>
          <a:xfrm rot="0">
            <a:off x="4095750" y="3228975"/>
            <a:ext cx="1905000" cy="3171825"/>
          </a:xfrm>
          <a:prstGeom prst="rect">
            <a:avLst/>
          </a:prstGeom>
        </p:spPr>
        <p:txBody>
          <a:bodyPr anchor="t" rtlCol="false" tIns="0" lIns="0" bIns="0" rIns="0">
            <a:spAutoFit/>
          </a:bodyPr>
          <a:lstStyle/>
          <a:p>
            <a:pPr algn="r">
              <a:lnSpc>
                <a:spcPts val="3150"/>
              </a:lnSpc>
            </a:pPr>
            <a:r>
              <a:rPr lang="en-US" sz="1500">
                <a:solidFill>
                  <a:srgbClr val="3D3C42"/>
                </a:solidFill>
                <a:latin typeface="Arimo"/>
                <a:ea typeface="Arimo"/>
                <a:cs typeface="Arimo"/>
                <a:sym typeface="Arimo"/>
              </a:rPr>
              <a:t>2 days early</a:t>
            </a:r>
          </a:p>
          <a:p>
            <a:pPr algn="r">
              <a:lnSpc>
                <a:spcPts val="3150"/>
              </a:lnSpc>
            </a:pPr>
            <a:r>
              <a:rPr lang="en-US" sz="1500">
                <a:solidFill>
                  <a:srgbClr val="3D3C42"/>
                </a:solidFill>
                <a:latin typeface="Arimo"/>
                <a:ea typeface="Arimo"/>
                <a:cs typeface="Arimo"/>
                <a:sym typeface="Arimo"/>
              </a:rPr>
              <a:t>1 day early</a:t>
            </a:r>
          </a:p>
          <a:p>
            <a:pPr algn="r">
              <a:lnSpc>
                <a:spcPts val="3150"/>
              </a:lnSpc>
            </a:pPr>
            <a:r>
              <a:rPr lang="en-US" sz="1500">
                <a:solidFill>
                  <a:srgbClr val="3D3C42"/>
                </a:solidFill>
                <a:latin typeface="Arimo"/>
                <a:ea typeface="Arimo"/>
                <a:cs typeface="Arimo"/>
                <a:sym typeface="Arimo"/>
              </a:rPr>
              <a:t>On time</a:t>
            </a:r>
          </a:p>
          <a:p>
            <a:pPr algn="r">
              <a:lnSpc>
                <a:spcPts val="3150"/>
              </a:lnSpc>
            </a:pPr>
            <a:r>
              <a:rPr lang="en-US" sz="1500">
                <a:solidFill>
                  <a:srgbClr val="3D3C42"/>
                </a:solidFill>
                <a:latin typeface="Arimo"/>
                <a:ea typeface="Arimo"/>
                <a:cs typeface="Arimo"/>
                <a:sym typeface="Arimo"/>
              </a:rPr>
              <a:t>Half a day late</a:t>
            </a:r>
          </a:p>
          <a:p>
            <a:pPr algn="r">
              <a:lnSpc>
                <a:spcPts val="3150"/>
              </a:lnSpc>
            </a:pPr>
            <a:r>
              <a:rPr lang="en-US" sz="1500">
                <a:solidFill>
                  <a:srgbClr val="3D3C42"/>
                </a:solidFill>
                <a:latin typeface="Arimo"/>
                <a:ea typeface="Arimo"/>
                <a:cs typeface="Arimo"/>
                <a:sym typeface="Arimo"/>
              </a:rPr>
              <a:t>1 day late</a:t>
            </a:r>
          </a:p>
          <a:p>
            <a:pPr algn="r">
              <a:lnSpc>
                <a:spcPts val="3150"/>
              </a:lnSpc>
            </a:pPr>
            <a:r>
              <a:rPr lang="en-US" sz="1500">
                <a:solidFill>
                  <a:srgbClr val="3D3C42"/>
                </a:solidFill>
                <a:latin typeface="Arimo"/>
                <a:ea typeface="Arimo"/>
                <a:cs typeface="Arimo"/>
                <a:sym typeface="Arimo"/>
              </a:rPr>
              <a:t>2 days late</a:t>
            </a:r>
          </a:p>
          <a:p>
            <a:pPr algn="r">
              <a:lnSpc>
                <a:spcPts val="3150"/>
              </a:lnSpc>
            </a:pPr>
            <a:r>
              <a:rPr lang="en-US" sz="1500">
                <a:solidFill>
                  <a:srgbClr val="3D3C42"/>
                </a:solidFill>
                <a:latin typeface="Arimo"/>
                <a:ea typeface="Arimo"/>
                <a:cs typeface="Arimo"/>
                <a:sym typeface="Arimo"/>
              </a:rPr>
              <a:t>3 days late</a:t>
            </a:r>
          </a:p>
          <a:p>
            <a:pPr algn="r">
              <a:lnSpc>
                <a:spcPts val="3150"/>
              </a:lnSpc>
            </a:pPr>
            <a:r>
              <a:rPr lang="en-US" sz="1500">
                <a:solidFill>
                  <a:srgbClr val="3D3C42"/>
                </a:solidFill>
                <a:latin typeface="Arimo"/>
                <a:ea typeface="Arimo"/>
                <a:cs typeface="Arimo"/>
                <a:sym typeface="Arimo"/>
              </a:rPr>
              <a:t>4 days late</a:t>
            </a:r>
          </a:p>
        </p:txBody>
      </p:sp>
      <p:grpSp>
        <p:nvGrpSpPr>
          <p:cNvPr name="Group 32" id="32"/>
          <p:cNvGrpSpPr/>
          <p:nvPr/>
        </p:nvGrpSpPr>
        <p:grpSpPr>
          <a:xfrm rot="0">
            <a:off x="6143625" y="3352800"/>
            <a:ext cx="1747838" cy="247650"/>
            <a:chOff x="0" y="0"/>
            <a:chExt cx="2330450" cy="330200"/>
          </a:xfrm>
        </p:grpSpPr>
        <p:sp>
          <p:nvSpPr>
            <p:cNvPr name="Freeform 33" id="33"/>
            <p:cNvSpPr/>
            <p:nvPr/>
          </p:nvSpPr>
          <p:spPr>
            <a:xfrm flipH="false" flipV="false" rot="0">
              <a:off x="0" y="0"/>
              <a:ext cx="2330450" cy="330200"/>
            </a:xfrm>
            <a:custGeom>
              <a:avLst/>
              <a:gdLst/>
              <a:ahLst/>
              <a:cxnLst/>
              <a:rect r="r" b="b" t="t" l="l"/>
              <a:pathLst>
                <a:path h="330200" w="2330450">
                  <a:moveTo>
                    <a:pt x="27684" y="0"/>
                  </a:moveTo>
                  <a:lnTo>
                    <a:pt x="2302766" y="0"/>
                  </a:lnTo>
                  <a:cubicBezTo>
                    <a:pt x="2310108" y="0"/>
                    <a:pt x="2317150" y="2917"/>
                    <a:pt x="2322342" y="8108"/>
                  </a:cubicBezTo>
                  <a:cubicBezTo>
                    <a:pt x="2327533" y="13300"/>
                    <a:pt x="2330450" y="20342"/>
                    <a:pt x="2330450" y="27684"/>
                  </a:cubicBezTo>
                  <a:lnTo>
                    <a:pt x="2330450" y="302516"/>
                  </a:lnTo>
                  <a:cubicBezTo>
                    <a:pt x="2330450" y="309858"/>
                    <a:pt x="2327533" y="316900"/>
                    <a:pt x="2322342" y="322092"/>
                  </a:cubicBezTo>
                  <a:cubicBezTo>
                    <a:pt x="2317150" y="327283"/>
                    <a:pt x="2310108" y="330200"/>
                    <a:pt x="2302766" y="330200"/>
                  </a:cubicBezTo>
                  <a:lnTo>
                    <a:pt x="27684" y="330200"/>
                  </a:lnTo>
                  <a:cubicBezTo>
                    <a:pt x="20342" y="330200"/>
                    <a:pt x="13300" y="327283"/>
                    <a:pt x="8108" y="322092"/>
                  </a:cubicBezTo>
                  <a:cubicBezTo>
                    <a:pt x="2917" y="316900"/>
                    <a:pt x="0" y="309858"/>
                    <a:pt x="0" y="302516"/>
                  </a:cubicBezTo>
                  <a:lnTo>
                    <a:pt x="0" y="27684"/>
                  </a:lnTo>
                  <a:cubicBezTo>
                    <a:pt x="0" y="20342"/>
                    <a:pt x="2917" y="13300"/>
                    <a:pt x="8108" y="8108"/>
                  </a:cubicBezTo>
                  <a:cubicBezTo>
                    <a:pt x="13300" y="2917"/>
                    <a:pt x="20342" y="0"/>
                    <a:pt x="27684" y="0"/>
                  </a:cubicBezTo>
                  <a:close/>
                </a:path>
              </a:pathLst>
            </a:custGeom>
            <a:solidFill>
              <a:srgbClr val="A6D1E6"/>
            </a:solidFill>
          </p:spPr>
        </p:sp>
        <p:sp>
          <p:nvSpPr>
            <p:cNvPr name="TextBox 34" id="34"/>
            <p:cNvSpPr txBox="true"/>
            <p:nvPr/>
          </p:nvSpPr>
          <p:spPr>
            <a:xfrm>
              <a:off x="0" y="-38100"/>
              <a:ext cx="2330450" cy="368300"/>
            </a:xfrm>
            <a:prstGeom prst="rect">
              <a:avLst/>
            </a:prstGeom>
          </p:spPr>
          <p:txBody>
            <a:bodyPr anchor="ctr" rtlCol="false" tIns="50800" lIns="50800" bIns="50800" rIns="50800"/>
            <a:lstStyle/>
            <a:p>
              <a:pPr algn="l">
                <a:lnSpc>
                  <a:spcPts val="1679"/>
                </a:lnSpc>
              </a:pPr>
            </a:p>
          </p:txBody>
        </p:sp>
      </p:grpSp>
      <p:sp>
        <p:nvSpPr>
          <p:cNvPr name="TextBox 35" id="35"/>
          <p:cNvSpPr txBox="true"/>
          <p:nvPr/>
        </p:nvSpPr>
        <p:spPr>
          <a:xfrm rot="0">
            <a:off x="8005762" y="3357562"/>
            <a:ext cx="857250" cy="239078"/>
          </a:xfrm>
          <a:prstGeom prst="rect">
            <a:avLst/>
          </a:prstGeom>
        </p:spPr>
        <p:txBody>
          <a:bodyPr anchor="t" rtlCol="false" tIns="0" lIns="0" bIns="0" rIns="0">
            <a:spAutoFit/>
          </a:bodyPr>
          <a:lstStyle/>
          <a:p>
            <a:pPr algn="l">
              <a:lnSpc>
                <a:spcPts val="1732"/>
              </a:lnSpc>
            </a:pPr>
            <a:r>
              <a:rPr lang="en-US" sz="1575" b="true">
                <a:solidFill>
                  <a:srgbClr val="3D3C42"/>
                </a:solidFill>
                <a:latin typeface="Arimo Bold"/>
                <a:ea typeface="Arimo Bold"/>
                <a:cs typeface="Arimo Bold"/>
                <a:sym typeface="Arimo Bold"/>
              </a:rPr>
              <a:t>12.1%</a:t>
            </a:r>
          </a:p>
        </p:txBody>
      </p:sp>
      <p:grpSp>
        <p:nvGrpSpPr>
          <p:cNvPr name="Group 36" id="36"/>
          <p:cNvGrpSpPr/>
          <p:nvPr/>
        </p:nvGrpSpPr>
        <p:grpSpPr>
          <a:xfrm rot="0">
            <a:off x="6143625" y="3752850"/>
            <a:ext cx="1732598" cy="247650"/>
            <a:chOff x="0" y="0"/>
            <a:chExt cx="2310130" cy="330200"/>
          </a:xfrm>
        </p:grpSpPr>
        <p:sp>
          <p:nvSpPr>
            <p:cNvPr name="Freeform 37" id="37"/>
            <p:cNvSpPr/>
            <p:nvPr/>
          </p:nvSpPr>
          <p:spPr>
            <a:xfrm flipH="false" flipV="false" rot="0">
              <a:off x="0" y="0"/>
              <a:ext cx="2310130" cy="330200"/>
            </a:xfrm>
            <a:custGeom>
              <a:avLst/>
              <a:gdLst/>
              <a:ahLst/>
              <a:cxnLst/>
              <a:rect r="r" b="b" t="t" l="l"/>
              <a:pathLst>
                <a:path h="330200" w="2310130">
                  <a:moveTo>
                    <a:pt x="27927" y="0"/>
                  </a:moveTo>
                  <a:lnTo>
                    <a:pt x="2282203" y="0"/>
                  </a:lnTo>
                  <a:cubicBezTo>
                    <a:pt x="2297626" y="0"/>
                    <a:pt x="2310130" y="12504"/>
                    <a:pt x="2310130" y="27927"/>
                  </a:cubicBezTo>
                  <a:lnTo>
                    <a:pt x="2310130" y="302273"/>
                  </a:lnTo>
                  <a:cubicBezTo>
                    <a:pt x="2310130" y="317696"/>
                    <a:pt x="2297626" y="330200"/>
                    <a:pt x="2282203" y="330200"/>
                  </a:cubicBezTo>
                  <a:lnTo>
                    <a:pt x="27927" y="330200"/>
                  </a:lnTo>
                  <a:cubicBezTo>
                    <a:pt x="12504" y="330200"/>
                    <a:pt x="0" y="317696"/>
                    <a:pt x="0" y="302273"/>
                  </a:cubicBezTo>
                  <a:lnTo>
                    <a:pt x="0" y="27927"/>
                  </a:lnTo>
                  <a:cubicBezTo>
                    <a:pt x="0" y="12504"/>
                    <a:pt x="12504" y="0"/>
                    <a:pt x="27927" y="0"/>
                  </a:cubicBezTo>
                  <a:close/>
                </a:path>
              </a:pathLst>
            </a:custGeom>
            <a:solidFill>
              <a:srgbClr val="A6D1E6"/>
            </a:solidFill>
          </p:spPr>
        </p:sp>
        <p:sp>
          <p:nvSpPr>
            <p:cNvPr name="TextBox 38" id="38"/>
            <p:cNvSpPr txBox="true"/>
            <p:nvPr/>
          </p:nvSpPr>
          <p:spPr>
            <a:xfrm>
              <a:off x="0" y="-38100"/>
              <a:ext cx="2310130" cy="368300"/>
            </a:xfrm>
            <a:prstGeom prst="rect">
              <a:avLst/>
            </a:prstGeom>
          </p:spPr>
          <p:txBody>
            <a:bodyPr anchor="ctr" rtlCol="false" tIns="50800" lIns="50800" bIns="50800" rIns="50800"/>
            <a:lstStyle/>
            <a:p>
              <a:pPr algn="l">
                <a:lnSpc>
                  <a:spcPts val="1679"/>
                </a:lnSpc>
              </a:pPr>
            </a:p>
          </p:txBody>
        </p:sp>
      </p:grpSp>
      <p:sp>
        <p:nvSpPr>
          <p:cNvPr name="TextBox 39" id="39"/>
          <p:cNvSpPr txBox="true"/>
          <p:nvPr/>
        </p:nvSpPr>
        <p:spPr>
          <a:xfrm rot="0">
            <a:off x="7990522" y="3757612"/>
            <a:ext cx="857250" cy="239078"/>
          </a:xfrm>
          <a:prstGeom prst="rect">
            <a:avLst/>
          </a:prstGeom>
        </p:spPr>
        <p:txBody>
          <a:bodyPr anchor="t" rtlCol="false" tIns="0" lIns="0" bIns="0" rIns="0">
            <a:spAutoFit/>
          </a:bodyPr>
          <a:lstStyle/>
          <a:p>
            <a:pPr algn="l">
              <a:lnSpc>
                <a:spcPts val="1732"/>
              </a:lnSpc>
            </a:pPr>
            <a:r>
              <a:rPr lang="en-US" sz="1575" b="true">
                <a:solidFill>
                  <a:srgbClr val="3D3C42"/>
                </a:solidFill>
                <a:latin typeface="Arimo Bold"/>
                <a:ea typeface="Arimo Bold"/>
                <a:cs typeface="Arimo Bold"/>
                <a:sym typeface="Arimo Bold"/>
              </a:rPr>
              <a:t>12.0%</a:t>
            </a:r>
          </a:p>
        </p:txBody>
      </p:sp>
      <p:grpSp>
        <p:nvGrpSpPr>
          <p:cNvPr name="Group 40" id="40"/>
          <p:cNvGrpSpPr/>
          <p:nvPr/>
        </p:nvGrpSpPr>
        <p:grpSpPr>
          <a:xfrm rot="0">
            <a:off x="6143625" y="4152900"/>
            <a:ext cx="2281238" cy="247650"/>
            <a:chOff x="0" y="0"/>
            <a:chExt cx="3041650" cy="330200"/>
          </a:xfrm>
        </p:grpSpPr>
        <p:sp>
          <p:nvSpPr>
            <p:cNvPr name="Freeform 41" id="41"/>
            <p:cNvSpPr/>
            <p:nvPr/>
          </p:nvSpPr>
          <p:spPr>
            <a:xfrm flipH="false" flipV="false" rot="0">
              <a:off x="0" y="0"/>
              <a:ext cx="3041650" cy="330200"/>
            </a:xfrm>
            <a:custGeom>
              <a:avLst/>
              <a:gdLst/>
              <a:ahLst/>
              <a:cxnLst/>
              <a:rect r="r" b="b" t="t" l="l"/>
              <a:pathLst>
                <a:path h="330200" w="3041650">
                  <a:moveTo>
                    <a:pt x="21211" y="0"/>
                  </a:moveTo>
                  <a:lnTo>
                    <a:pt x="3020439" y="0"/>
                  </a:lnTo>
                  <a:cubicBezTo>
                    <a:pt x="3032154" y="0"/>
                    <a:pt x="3041650" y="9496"/>
                    <a:pt x="3041650" y="21211"/>
                  </a:cubicBezTo>
                  <a:lnTo>
                    <a:pt x="3041650" y="308989"/>
                  </a:lnTo>
                  <a:cubicBezTo>
                    <a:pt x="3041650" y="320704"/>
                    <a:pt x="3032154" y="330200"/>
                    <a:pt x="3020439" y="330200"/>
                  </a:cubicBezTo>
                  <a:lnTo>
                    <a:pt x="21211" y="330200"/>
                  </a:lnTo>
                  <a:cubicBezTo>
                    <a:pt x="9496" y="330200"/>
                    <a:pt x="0" y="320704"/>
                    <a:pt x="0" y="308989"/>
                  </a:cubicBezTo>
                  <a:lnTo>
                    <a:pt x="0" y="21211"/>
                  </a:lnTo>
                  <a:cubicBezTo>
                    <a:pt x="0" y="9496"/>
                    <a:pt x="9496" y="0"/>
                    <a:pt x="21211" y="0"/>
                  </a:cubicBezTo>
                  <a:close/>
                </a:path>
              </a:pathLst>
            </a:custGeom>
            <a:solidFill>
              <a:srgbClr val="9DB2CE"/>
            </a:solidFill>
          </p:spPr>
        </p:sp>
        <p:sp>
          <p:nvSpPr>
            <p:cNvPr name="TextBox 42" id="42"/>
            <p:cNvSpPr txBox="true"/>
            <p:nvPr/>
          </p:nvSpPr>
          <p:spPr>
            <a:xfrm>
              <a:off x="0" y="-38100"/>
              <a:ext cx="3041650" cy="368300"/>
            </a:xfrm>
            <a:prstGeom prst="rect">
              <a:avLst/>
            </a:prstGeom>
          </p:spPr>
          <p:txBody>
            <a:bodyPr anchor="ctr" rtlCol="false" tIns="50800" lIns="50800" bIns="50800" rIns="50800"/>
            <a:lstStyle/>
            <a:p>
              <a:pPr algn="l">
                <a:lnSpc>
                  <a:spcPts val="1679"/>
                </a:lnSpc>
              </a:pPr>
            </a:p>
          </p:txBody>
        </p:sp>
      </p:grpSp>
      <p:sp>
        <p:nvSpPr>
          <p:cNvPr name="TextBox 43" id="43"/>
          <p:cNvSpPr txBox="true"/>
          <p:nvPr/>
        </p:nvSpPr>
        <p:spPr>
          <a:xfrm rot="0">
            <a:off x="8539162" y="4157662"/>
            <a:ext cx="857250" cy="239078"/>
          </a:xfrm>
          <a:prstGeom prst="rect">
            <a:avLst/>
          </a:prstGeom>
        </p:spPr>
        <p:txBody>
          <a:bodyPr anchor="t" rtlCol="false" tIns="0" lIns="0" bIns="0" rIns="0">
            <a:spAutoFit/>
          </a:bodyPr>
          <a:lstStyle/>
          <a:p>
            <a:pPr algn="l">
              <a:lnSpc>
                <a:spcPts val="1732"/>
              </a:lnSpc>
            </a:pPr>
            <a:r>
              <a:rPr lang="en-US" sz="1575" b="true">
                <a:solidFill>
                  <a:srgbClr val="3D3C42"/>
                </a:solidFill>
                <a:latin typeface="Arimo Bold"/>
                <a:ea typeface="Arimo Bold"/>
                <a:cs typeface="Arimo Bold"/>
                <a:sym typeface="Arimo Bold"/>
              </a:rPr>
              <a:t>15.8%</a:t>
            </a:r>
          </a:p>
        </p:txBody>
      </p:sp>
      <p:grpSp>
        <p:nvGrpSpPr>
          <p:cNvPr name="Group 44" id="44"/>
          <p:cNvGrpSpPr/>
          <p:nvPr/>
        </p:nvGrpSpPr>
        <p:grpSpPr>
          <a:xfrm rot="0">
            <a:off x="6143625" y="4552950"/>
            <a:ext cx="780098" cy="247650"/>
            <a:chOff x="0" y="0"/>
            <a:chExt cx="1040130" cy="330200"/>
          </a:xfrm>
        </p:grpSpPr>
        <p:sp>
          <p:nvSpPr>
            <p:cNvPr name="Freeform 45" id="45"/>
            <p:cNvSpPr/>
            <p:nvPr/>
          </p:nvSpPr>
          <p:spPr>
            <a:xfrm flipH="false" flipV="false" rot="0">
              <a:off x="0" y="0"/>
              <a:ext cx="1040130" cy="330200"/>
            </a:xfrm>
            <a:custGeom>
              <a:avLst/>
              <a:gdLst/>
              <a:ahLst/>
              <a:cxnLst/>
              <a:rect r="r" b="b" t="t" l="l"/>
              <a:pathLst>
                <a:path h="330200" w="1040130">
                  <a:moveTo>
                    <a:pt x="62027" y="0"/>
                  </a:moveTo>
                  <a:lnTo>
                    <a:pt x="978103" y="0"/>
                  </a:lnTo>
                  <a:cubicBezTo>
                    <a:pt x="994554" y="0"/>
                    <a:pt x="1010330" y="6535"/>
                    <a:pt x="1021963" y="18167"/>
                  </a:cubicBezTo>
                  <a:cubicBezTo>
                    <a:pt x="1033595" y="29800"/>
                    <a:pt x="1040130" y="45576"/>
                    <a:pt x="1040130" y="62027"/>
                  </a:cubicBezTo>
                  <a:lnTo>
                    <a:pt x="1040130" y="268173"/>
                  </a:lnTo>
                  <a:cubicBezTo>
                    <a:pt x="1040130" y="284624"/>
                    <a:pt x="1033595" y="300400"/>
                    <a:pt x="1021963" y="312033"/>
                  </a:cubicBezTo>
                  <a:cubicBezTo>
                    <a:pt x="1010330" y="323665"/>
                    <a:pt x="994554" y="330200"/>
                    <a:pt x="978103" y="330200"/>
                  </a:cubicBezTo>
                  <a:lnTo>
                    <a:pt x="62027" y="330200"/>
                  </a:lnTo>
                  <a:cubicBezTo>
                    <a:pt x="45576" y="330200"/>
                    <a:pt x="29800" y="323665"/>
                    <a:pt x="18167" y="312033"/>
                  </a:cubicBezTo>
                  <a:cubicBezTo>
                    <a:pt x="6535" y="300400"/>
                    <a:pt x="0" y="284624"/>
                    <a:pt x="0" y="268173"/>
                  </a:cubicBezTo>
                  <a:lnTo>
                    <a:pt x="0" y="62027"/>
                  </a:lnTo>
                  <a:cubicBezTo>
                    <a:pt x="0" y="45576"/>
                    <a:pt x="6535" y="29800"/>
                    <a:pt x="18167" y="18167"/>
                  </a:cubicBezTo>
                  <a:cubicBezTo>
                    <a:pt x="29800" y="6535"/>
                    <a:pt x="45576" y="0"/>
                    <a:pt x="62027" y="0"/>
                  </a:cubicBezTo>
                  <a:close/>
                </a:path>
              </a:pathLst>
            </a:custGeom>
            <a:solidFill>
              <a:srgbClr val="7F5283"/>
            </a:solidFill>
          </p:spPr>
        </p:sp>
        <p:sp>
          <p:nvSpPr>
            <p:cNvPr name="TextBox 46" id="46"/>
            <p:cNvSpPr txBox="true"/>
            <p:nvPr/>
          </p:nvSpPr>
          <p:spPr>
            <a:xfrm>
              <a:off x="0" y="-38100"/>
              <a:ext cx="1040130" cy="368300"/>
            </a:xfrm>
            <a:prstGeom prst="rect">
              <a:avLst/>
            </a:prstGeom>
          </p:spPr>
          <p:txBody>
            <a:bodyPr anchor="ctr" rtlCol="false" tIns="50800" lIns="50800" bIns="50800" rIns="50800"/>
            <a:lstStyle/>
            <a:p>
              <a:pPr algn="l">
                <a:lnSpc>
                  <a:spcPts val="1679"/>
                </a:lnSpc>
              </a:pPr>
            </a:p>
          </p:txBody>
        </p:sp>
      </p:grpSp>
      <p:sp>
        <p:nvSpPr>
          <p:cNvPr name="TextBox 47" id="47"/>
          <p:cNvSpPr txBox="true"/>
          <p:nvPr/>
        </p:nvSpPr>
        <p:spPr>
          <a:xfrm rot="0">
            <a:off x="7038022" y="4557712"/>
            <a:ext cx="857250" cy="239078"/>
          </a:xfrm>
          <a:prstGeom prst="rect">
            <a:avLst/>
          </a:prstGeom>
        </p:spPr>
        <p:txBody>
          <a:bodyPr anchor="t" rtlCol="false" tIns="0" lIns="0" bIns="0" rIns="0">
            <a:spAutoFit/>
          </a:bodyPr>
          <a:lstStyle/>
          <a:p>
            <a:pPr algn="l">
              <a:lnSpc>
                <a:spcPts val="1732"/>
              </a:lnSpc>
            </a:pPr>
            <a:r>
              <a:rPr lang="en-US" sz="1575" b="true">
                <a:solidFill>
                  <a:srgbClr val="3D3C42"/>
                </a:solidFill>
                <a:latin typeface="Arimo Bold"/>
                <a:ea typeface="Arimo Bold"/>
                <a:cs typeface="Arimo Bold"/>
                <a:sym typeface="Arimo Bold"/>
              </a:rPr>
              <a:t>5.4%</a:t>
            </a:r>
          </a:p>
        </p:txBody>
      </p:sp>
      <p:grpSp>
        <p:nvGrpSpPr>
          <p:cNvPr name="Group 48" id="48"/>
          <p:cNvGrpSpPr/>
          <p:nvPr/>
        </p:nvGrpSpPr>
        <p:grpSpPr>
          <a:xfrm rot="0">
            <a:off x="6143625" y="4953000"/>
            <a:ext cx="4476750" cy="247650"/>
            <a:chOff x="0" y="0"/>
            <a:chExt cx="5969000" cy="330200"/>
          </a:xfrm>
        </p:grpSpPr>
        <p:sp>
          <p:nvSpPr>
            <p:cNvPr name="Freeform 49" id="49"/>
            <p:cNvSpPr/>
            <p:nvPr/>
          </p:nvSpPr>
          <p:spPr>
            <a:xfrm flipH="false" flipV="false" rot="0">
              <a:off x="0" y="0"/>
              <a:ext cx="5969000" cy="330200"/>
            </a:xfrm>
            <a:custGeom>
              <a:avLst/>
              <a:gdLst/>
              <a:ahLst/>
              <a:cxnLst/>
              <a:rect r="r" b="b" t="t" l="l"/>
              <a:pathLst>
                <a:path h="330200" w="5969000">
                  <a:moveTo>
                    <a:pt x="10809" y="0"/>
                  </a:moveTo>
                  <a:lnTo>
                    <a:pt x="5958191" y="0"/>
                  </a:lnTo>
                  <a:cubicBezTo>
                    <a:pt x="5964161" y="0"/>
                    <a:pt x="5969000" y="4839"/>
                    <a:pt x="5969000" y="10809"/>
                  </a:cubicBezTo>
                  <a:lnTo>
                    <a:pt x="5969000" y="319391"/>
                  </a:lnTo>
                  <a:cubicBezTo>
                    <a:pt x="5969000" y="325361"/>
                    <a:pt x="5964161" y="330200"/>
                    <a:pt x="5958191" y="330200"/>
                  </a:cubicBezTo>
                  <a:lnTo>
                    <a:pt x="10809" y="330200"/>
                  </a:lnTo>
                  <a:cubicBezTo>
                    <a:pt x="4839" y="330200"/>
                    <a:pt x="0" y="325361"/>
                    <a:pt x="0" y="319391"/>
                  </a:cubicBezTo>
                  <a:lnTo>
                    <a:pt x="0" y="10809"/>
                  </a:lnTo>
                  <a:cubicBezTo>
                    <a:pt x="0" y="4839"/>
                    <a:pt x="4839" y="0"/>
                    <a:pt x="10809" y="0"/>
                  </a:cubicBezTo>
                  <a:close/>
                </a:path>
              </a:pathLst>
            </a:custGeom>
            <a:solidFill>
              <a:srgbClr val="7F5283"/>
            </a:solidFill>
          </p:spPr>
        </p:sp>
        <p:sp>
          <p:nvSpPr>
            <p:cNvPr name="TextBox 50" id="50"/>
            <p:cNvSpPr txBox="true"/>
            <p:nvPr/>
          </p:nvSpPr>
          <p:spPr>
            <a:xfrm>
              <a:off x="0" y="-38100"/>
              <a:ext cx="5969000" cy="368300"/>
            </a:xfrm>
            <a:prstGeom prst="rect">
              <a:avLst/>
            </a:prstGeom>
          </p:spPr>
          <p:txBody>
            <a:bodyPr anchor="ctr" rtlCol="false" tIns="50800" lIns="50800" bIns="50800" rIns="50800"/>
            <a:lstStyle/>
            <a:p>
              <a:pPr algn="l">
                <a:lnSpc>
                  <a:spcPts val="1679"/>
                </a:lnSpc>
              </a:pPr>
            </a:p>
          </p:txBody>
        </p:sp>
      </p:grpSp>
      <p:sp>
        <p:nvSpPr>
          <p:cNvPr name="TextBox 51" id="51"/>
          <p:cNvSpPr txBox="true"/>
          <p:nvPr/>
        </p:nvSpPr>
        <p:spPr>
          <a:xfrm rot="0">
            <a:off x="10734675" y="4957762"/>
            <a:ext cx="857250" cy="239078"/>
          </a:xfrm>
          <a:prstGeom prst="rect">
            <a:avLst/>
          </a:prstGeom>
        </p:spPr>
        <p:txBody>
          <a:bodyPr anchor="t" rtlCol="false" tIns="0" lIns="0" bIns="0" rIns="0">
            <a:spAutoFit/>
          </a:bodyPr>
          <a:lstStyle/>
          <a:p>
            <a:pPr algn="l">
              <a:lnSpc>
                <a:spcPts val="1732"/>
              </a:lnSpc>
            </a:pPr>
            <a:r>
              <a:rPr lang="en-US" sz="1575" b="true">
                <a:solidFill>
                  <a:srgbClr val="3D3C42"/>
                </a:solidFill>
                <a:latin typeface="Arimo Bold"/>
                <a:ea typeface="Arimo Bold"/>
                <a:cs typeface="Arimo Bold"/>
                <a:sym typeface="Arimo Bold"/>
              </a:rPr>
              <a:t>31.0%</a:t>
            </a:r>
          </a:p>
        </p:txBody>
      </p:sp>
      <p:grpSp>
        <p:nvGrpSpPr>
          <p:cNvPr name="Group 52" id="52"/>
          <p:cNvGrpSpPr/>
          <p:nvPr/>
        </p:nvGrpSpPr>
        <p:grpSpPr>
          <a:xfrm rot="0">
            <a:off x="6143625" y="5353050"/>
            <a:ext cx="2296478" cy="247650"/>
            <a:chOff x="0" y="0"/>
            <a:chExt cx="3061970" cy="330200"/>
          </a:xfrm>
        </p:grpSpPr>
        <p:sp>
          <p:nvSpPr>
            <p:cNvPr name="Freeform 53" id="53"/>
            <p:cNvSpPr/>
            <p:nvPr/>
          </p:nvSpPr>
          <p:spPr>
            <a:xfrm flipH="false" flipV="false" rot="0">
              <a:off x="0" y="0"/>
              <a:ext cx="3061970" cy="330200"/>
            </a:xfrm>
            <a:custGeom>
              <a:avLst/>
              <a:gdLst/>
              <a:ahLst/>
              <a:cxnLst/>
              <a:rect r="r" b="b" t="t" l="l"/>
              <a:pathLst>
                <a:path h="330200" w="3061970">
                  <a:moveTo>
                    <a:pt x="21070" y="0"/>
                  </a:moveTo>
                  <a:lnTo>
                    <a:pt x="3040900" y="0"/>
                  </a:lnTo>
                  <a:cubicBezTo>
                    <a:pt x="3052537" y="0"/>
                    <a:pt x="3061970" y="9433"/>
                    <a:pt x="3061970" y="21070"/>
                  </a:cubicBezTo>
                  <a:lnTo>
                    <a:pt x="3061970" y="309130"/>
                  </a:lnTo>
                  <a:cubicBezTo>
                    <a:pt x="3061970" y="314718"/>
                    <a:pt x="3059750" y="320077"/>
                    <a:pt x="3055799" y="324029"/>
                  </a:cubicBezTo>
                  <a:cubicBezTo>
                    <a:pt x="3051847" y="327980"/>
                    <a:pt x="3046488" y="330200"/>
                    <a:pt x="3040900" y="330200"/>
                  </a:cubicBezTo>
                  <a:lnTo>
                    <a:pt x="21070" y="330200"/>
                  </a:lnTo>
                  <a:cubicBezTo>
                    <a:pt x="9433" y="330200"/>
                    <a:pt x="0" y="320767"/>
                    <a:pt x="0" y="309130"/>
                  </a:cubicBezTo>
                  <a:lnTo>
                    <a:pt x="0" y="21070"/>
                  </a:lnTo>
                  <a:cubicBezTo>
                    <a:pt x="0" y="9433"/>
                    <a:pt x="9433" y="0"/>
                    <a:pt x="21070" y="0"/>
                  </a:cubicBezTo>
                  <a:close/>
                </a:path>
              </a:pathLst>
            </a:custGeom>
            <a:solidFill>
              <a:srgbClr val="7F5283"/>
            </a:solidFill>
          </p:spPr>
        </p:sp>
        <p:sp>
          <p:nvSpPr>
            <p:cNvPr name="TextBox 54" id="54"/>
            <p:cNvSpPr txBox="true"/>
            <p:nvPr/>
          </p:nvSpPr>
          <p:spPr>
            <a:xfrm>
              <a:off x="0" y="-38100"/>
              <a:ext cx="3061970" cy="368300"/>
            </a:xfrm>
            <a:prstGeom prst="rect">
              <a:avLst/>
            </a:prstGeom>
          </p:spPr>
          <p:txBody>
            <a:bodyPr anchor="ctr" rtlCol="false" tIns="50800" lIns="50800" bIns="50800" rIns="50800"/>
            <a:lstStyle/>
            <a:p>
              <a:pPr algn="l">
                <a:lnSpc>
                  <a:spcPts val="1679"/>
                </a:lnSpc>
              </a:pPr>
            </a:p>
          </p:txBody>
        </p:sp>
      </p:grpSp>
      <p:sp>
        <p:nvSpPr>
          <p:cNvPr name="TextBox 55" id="55"/>
          <p:cNvSpPr txBox="true"/>
          <p:nvPr/>
        </p:nvSpPr>
        <p:spPr>
          <a:xfrm rot="0">
            <a:off x="8554402" y="5357812"/>
            <a:ext cx="857250" cy="239078"/>
          </a:xfrm>
          <a:prstGeom prst="rect">
            <a:avLst/>
          </a:prstGeom>
        </p:spPr>
        <p:txBody>
          <a:bodyPr anchor="t" rtlCol="false" tIns="0" lIns="0" bIns="0" rIns="0">
            <a:spAutoFit/>
          </a:bodyPr>
          <a:lstStyle/>
          <a:p>
            <a:pPr algn="l">
              <a:lnSpc>
                <a:spcPts val="1732"/>
              </a:lnSpc>
            </a:pPr>
            <a:r>
              <a:rPr lang="en-US" sz="1575" b="true">
                <a:solidFill>
                  <a:srgbClr val="3D3C42"/>
                </a:solidFill>
                <a:latin typeface="Arimo Bold"/>
                <a:ea typeface="Arimo Bold"/>
                <a:cs typeface="Arimo Bold"/>
                <a:sym typeface="Arimo Bold"/>
              </a:rPr>
              <a:t>15.9%</a:t>
            </a:r>
          </a:p>
        </p:txBody>
      </p:sp>
      <p:grpSp>
        <p:nvGrpSpPr>
          <p:cNvPr name="Group 56" id="56"/>
          <p:cNvGrpSpPr/>
          <p:nvPr/>
        </p:nvGrpSpPr>
        <p:grpSpPr>
          <a:xfrm rot="0">
            <a:off x="6143625" y="5753100"/>
            <a:ext cx="562928" cy="247650"/>
            <a:chOff x="0" y="0"/>
            <a:chExt cx="750570" cy="330200"/>
          </a:xfrm>
        </p:grpSpPr>
        <p:sp>
          <p:nvSpPr>
            <p:cNvPr name="Freeform 57" id="57"/>
            <p:cNvSpPr/>
            <p:nvPr/>
          </p:nvSpPr>
          <p:spPr>
            <a:xfrm flipH="false" flipV="false" rot="0">
              <a:off x="0" y="0"/>
              <a:ext cx="750570" cy="330200"/>
            </a:xfrm>
            <a:custGeom>
              <a:avLst/>
              <a:gdLst/>
              <a:ahLst/>
              <a:cxnLst/>
              <a:rect r="r" b="b" t="t" l="l"/>
              <a:pathLst>
                <a:path h="330200" w="750570">
                  <a:moveTo>
                    <a:pt x="85956" y="0"/>
                  </a:moveTo>
                  <a:lnTo>
                    <a:pt x="664614" y="0"/>
                  </a:lnTo>
                  <a:cubicBezTo>
                    <a:pt x="712086" y="0"/>
                    <a:pt x="750570" y="38484"/>
                    <a:pt x="750570" y="85956"/>
                  </a:cubicBezTo>
                  <a:lnTo>
                    <a:pt x="750570" y="244244"/>
                  </a:lnTo>
                  <a:cubicBezTo>
                    <a:pt x="750570" y="267041"/>
                    <a:pt x="741514" y="288904"/>
                    <a:pt x="725394" y="305024"/>
                  </a:cubicBezTo>
                  <a:cubicBezTo>
                    <a:pt x="709274" y="321144"/>
                    <a:pt x="687411" y="330200"/>
                    <a:pt x="664614" y="330200"/>
                  </a:cubicBezTo>
                  <a:lnTo>
                    <a:pt x="85956" y="330200"/>
                  </a:lnTo>
                  <a:cubicBezTo>
                    <a:pt x="38484" y="330200"/>
                    <a:pt x="0" y="291716"/>
                    <a:pt x="0" y="244244"/>
                  </a:cubicBezTo>
                  <a:lnTo>
                    <a:pt x="0" y="85956"/>
                  </a:lnTo>
                  <a:cubicBezTo>
                    <a:pt x="0" y="38484"/>
                    <a:pt x="38484" y="0"/>
                    <a:pt x="85956" y="0"/>
                  </a:cubicBezTo>
                  <a:close/>
                </a:path>
              </a:pathLst>
            </a:custGeom>
            <a:solidFill>
              <a:srgbClr val="7F5283"/>
            </a:solidFill>
          </p:spPr>
        </p:sp>
        <p:sp>
          <p:nvSpPr>
            <p:cNvPr name="TextBox 58" id="58"/>
            <p:cNvSpPr txBox="true"/>
            <p:nvPr/>
          </p:nvSpPr>
          <p:spPr>
            <a:xfrm>
              <a:off x="0" y="-38100"/>
              <a:ext cx="750570" cy="368300"/>
            </a:xfrm>
            <a:prstGeom prst="rect">
              <a:avLst/>
            </a:prstGeom>
          </p:spPr>
          <p:txBody>
            <a:bodyPr anchor="ctr" rtlCol="false" tIns="50800" lIns="50800" bIns="50800" rIns="50800"/>
            <a:lstStyle/>
            <a:p>
              <a:pPr algn="l">
                <a:lnSpc>
                  <a:spcPts val="1679"/>
                </a:lnSpc>
              </a:pPr>
            </a:p>
          </p:txBody>
        </p:sp>
      </p:grpSp>
      <p:sp>
        <p:nvSpPr>
          <p:cNvPr name="TextBox 59" id="59"/>
          <p:cNvSpPr txBox="true"/>
          <p:nvPr/>
        </p:nvSpPr>
        <p:spPr>
          <a:xfrm rot="0">
            <a:off x="6820853" y="5757862"/>
            <a:ext cx="857250" cy="239078"/>
          </a:xfrm>
          <a:prstGeom prst="rect">
            <a:avLst/>
          </a:prstGeom>
        </p:spPr>
        <p:txBody>
          <a:bodyPr anchor="t" rtlCol="false" tIns="0" lIns="0" bIns="0" rIns="0">
            <a:spAutoFit/>
          </a:bodyPr>
          <a:lstStyle/>
          <a:p>
            <a:pPr algn="l">
              <a:lnSpc>
                <a:spcPts val="1732"/>
              </a:lnSpc>
            </a:pPr>
            <a:r>
              <a:rPr lang="en-US" sz="1575" b="true">
                <a:solidFill>
                  <a:srgbClr val="3D3C42"/>
                </a:solidFill>
                <a:latin typeface="Arimo Bold"/>
                <a:ea typeface="Arimo Bold"/>
                <a:cs typeface="Arimo Bold"/>
                <a:sym typeface="Arimo Bold"/>
              </a:rPr>
              <a:t>3.9%</a:t>
            </a:r>
          </a:p>
        </p:txBody>
      </p:sp>
      <p:grpSp>
        <p:nvGrpSpPr>
          <p:cNvPr name="Group 60" id="60"/>
          <p:cNvGrpSpPr/>
          <p:nvPr/>
        </p:nvGrpSpPr>
        <p:grpSpPr>
          <a:xfrm rot="0">
            <a:off x="6143625" y="6153150"/>
            <a:ext cx="562928" cy="247650"/>
            <a:chOff x="0" y="0"/>
            <a:chExt cx="750570" cy="330200"/>
          </a:xfrm>
        </p:grpSpPr>
        <p:sp>
          <p:nvSpPr>
            <p:cNvPr name="Freeform 61" id="61"/>
            <p:cNvSpPr/>
            <p:nvPr/>
          </p:nvSpPr>
          <p:spPr>
            <a:xfrm flipH="false" flipV="false" rot="0">
              <a:off x="0" y="0"/>
              <a:ext cx="750570" cy="330200"/>
            </a:xfrm>
            <a:custGeom>
              <a:avLst/>
              <a:gdLst/>
              <a:ahLst/>
              <a:cxnLst/>
              <a:rect r="r" b="b" t="t" l="l"/>
              <a:pathLst>
                <a:path h="330200" w="750570">
                  <a:moveTo>
                    <a:pt x="85956" y="0"/>
                  </a:moveTo>
                  <a:lnTo>
                    <a:pt x="664614" y="0"/>
                  </a:lnTo>
                  <a:cubicBezTo>
                    <a:pt x="712086" y="0"/>
                    <a:pt x="750570" y="38484"/>
                    <a:pt x="750570" y="85956"/>
                  </a:cubicBezTo>
                  <a:lnTo>
                    <a:pt x="750570" y="244244"/>
                  </a:lnTo>
                  <a:cubicBezTo>
                    <a:pt x="750570" y="267041"/>
                    <a:pt x="741514" y="288904"/>
                    <a:pt x="725394" y="305024"/>
                  </a:cubicBezTo>
                  <a:cubicBezTo>
                    <a:pt x="709274" y="321144"/>
                    <a:pt x="687411" y="330200"/>
                    <a:pt x="664614" y="330200"/>
                  </a:cubicBezTo>
                  <a:lnTo>
                    <a:pt x="85956" y="330200"/>
                  </a:lnTo>
                  <a:cubicBezTo>
                    <a:pt x="38484" y="330200"/>
                    <a:pt x="0" y="291716"/>
                    <a:pt x="0" y="244244"/>
                  </a:cubicBezTo>
                  <a:lnTo>
                    <a:pt x="0" y="85956"/>
                  </a:lnTo>
                  <a:cubicBezTo>
                    <a:pt x="0" y="38484"/>
                    <a:pt x="38484" y="0"/>
                    <a:pt x="85956" y="0"/>
                  </a:cubicBezTo>
                  <a:close/>
                </a:path>
              </a:pathLst>
            </a:custGeom>
            <a:solidFill>
              <a:srgbClr val="7F5283"/>
            </a:solidFill>
          </p:spPr>
        </p:sp>
        <p:sp>
          <p:nvSpPr>
            <p:cNvPr name="TextBox 62" id="62"/>
            <p:cNvSpPr txBox="true"/>
            <p:nvPr/>
          </p:nvSpPr>
          <p:spPr>
            <a:xfrm>
              <a:off x="0" y="-38100"/>
              <a:ext cx="750570" cy="368300"/>
            </a:xfrm>
            <a:prstGeom prst="rect">
              <a:avLst/>
            </a:prstGeom>
          </p:spPr>
          <p:txBody>
            <a:bodyPr anchor="ctr" rtlCol="false" tIns="50800" lIns="50800" bIns="50800" rIns="50800"/>
            <a:lstStyle/>
            <a:p>
              <a:pPr algn="l">
                <a:lnSpc>
                  <a:spcPts val="1679"/>
                </a:lnSpc>
              </a:pPr>
            </a:p>
          </p:txBody>
        </p:sp>
      </p:grpSp>
      <p:sp>
        <p:nvSpPr>
          <p:cNvPr name="TextBox 63" id="63"/>
          <p:cNvSpPr txBox="true"/>
          <p:nvPr/>
        </p:nvSpPr>
        <p:spPr>
          <a:xfrm rot="0">
            <a:off x="6820853" y="6157912"/>
            <a:ext cx="857250" cy="239078"/>
          </a:xfrm>
          <a:prstGeom prst="rect">
            <a:avLst/>
          </a:prstGeom>
        </p:spPr>
        <p:txBody>
          <a:bodyPr anchor="t" rtlCol="false" tIns="0" lIns="0" bIns="0" rIns="0">
            <a:spAutoFit/>
          </a:bodyPr>
          <a:lstStyle/>
          <a:p>
            <a:pPr algn="l">
              <a:lnSpc>
                <a:spcPts val="1732"/>
              </a:lnSpc>
            </a:pPr>
            <a:r>
              <a:rPr lang="en-US" sz="1575" b="true">
                <a:solidFill>
                  <a:srgbClr val="3D3C42"/>
                </a:solidFill>
                <a:latin typeface="Arimo Bold"/>
                <a:ea typeface="Arimo Bold"/>
                <a:cs typeface="Arimo Bold"/>
                <a:sym typeface="Arimo Bold"/>
              </a:rPr>
              <a:t>3.9% </a:t>
            </a:r>
          </a:p>
        </p:txBody>
      </p:sp>
      <p:sp>
        <p:nvSpPr>
          <p:cNvPr name="TextBox 64" id="64"/>
          <p:cNvSpPr txBox="true"/>
          <p:nvPr/>
        </p:nvSpPr>
        <p:spPr>
          <a:xfrm rot="0">
            <a:off x="1485900" y="7277100"/>
            <a:ext cx="2857500" cy="666750"/>
          </a:xfrm>
          <a:prstGeom prst="rect">
            <a:avLst/>
          </a:prstGeom>
        </p:spPr>
        <p:txBody>
          <a:bodyPr anchor="t" rtlCol="false" tIns="0" lIns="0" bIns="0" rIns="0">
            <a:spAutoFit/>
          </a:bodyPr>
          <a:lstStyle/>
          <a:p>
            <a:pPr algn="ctr">
              <a:lnSpc>
                <a:spcPts val="4950"/>
              </a:lnSpc>
            </a:pPr>
            <a:r>
              <a:rPr lang="en-US" sz="4500" b="true">
                <a:solidFill>
                  <a:srgbClr val="7F5283"/>
                </a:solidFill>
                <a:latin typeface="Arimo Bold"/>
                <a:ea typeface="Arimo Bold"/>
                <a:cs typeface="Arimo Bold"/>
                <a:sym typeface="Arimo Bold"/>
              </a:rPr>
              <a:t>$22.57</a:t>
            </a:r>
          </a:p>
        </p:txBody>
      </p:sp>
      <p:sp>
        <p:nvSpPr>
          <p:cNvPr name="TextBox 65" id="65"/>
          <p:cNvSpPr txBox="true"/>
          <p:nvPr/>
        </p:nvSpPr>
        <p:spPr>
          <a:xfrm rot="0">
            <a:off x="5095875" y="7277100"/>
            <a:ext cx="2857500" cy="666750"/>
          </a:xfrm>
          <a:prstGeom prst="rect">
            <a:avLst/>
          </a:prstGeom>
        </p:spPr>
        <p:txBody>
          <a:bodyPr anchor="t" rtlCol="false" tIns="0" lIns="0" bIns="0" rIns="0">
            <a:spAutoFit/>
          </a:bodyPr>
          <a:lstStyle/>
          <a:p>
            <a:pPr algn="ctr">
              <a:lnSpc>
                <a:spcPts val="4950"/>
              </a:lnSpc>
            </a:pPr>
            <a:r>
              <a:rPr lang="en-US" sz="4500" b="true">
                <a:solidFill>
                  <a:srgbClr val="7F5283"/>
                </a:solidFill>
                <a:latin typeface="Arimo Bold"/>
                <a:ea typeface="Arimo Bold"/>
                <a:cs typeface="Arimo Bold"/>
                <a:sym typeface="Arimo Bold"/>
              </a:rPr>
              <a:t>$21.67</a:t>
            </a:r>
          </a:p>
        </p:txBody>
      </p:sp>
      <p:sp>
        <p:nvSpPr>
          <p:cNvPr name="TextBox 66" id="66"/>
          <p:cNvSpPr txBox="true"/>
          <p:nvPr/>
        </p:nvSpPr>
        <p:spPr>
          <a:xfrm rot="0">
            <a:off x="8705850" y="7277100"/>
            <a:ext cx="2857500" cy="666750"/>
          </a:xfrm>
          <a:prstGeom prst="rect">
            <a:avLst/>
          </a:prstGeom>
        </p:spPr>
        <p:txBody>
          <a:bodyPr anchor="t" rtlCol="false" tIns="0" lIns="0" bIns="0" rIns="0">
            <a:spAutoFit/>
          </a:bodyPr>
          <a:lstStyle/>
          <a:p>
            <a:pPr algn="ctr">
              <a:lnSpc>
                <a:spcPts val="4950"/>
              </a:lnSpc>
            </a:pPr>
            <a:r>
              <a:rPr lang="en-US" sz="4500" b="true">
                <a:solidFill>
                  <a:srgbClr val="7F5283"/>
                </a:solidFill>
                <a:latin typeface="Arimo Bold"/>
                <a:ea typeface="Arimo Bold"/>
                <a:cs typeface="Arimo Bold"/>
                <a:sym typeface="Arimo Bold"/>
              </a:rPr>
              <a:t>$20.03</a:t>
            </a:r>
          </a:p>
        </p:txBody>
      </p:sp>
      <p:grpSp>
        <p:nvGrpSpPr>
          <p:cNvPr name="Group 67" id="67"/>
          <p:cNvGrpSpPr/>
          <p:nvPr/>
        </p:nvGrpSpPr>
        <p:grpSpPr>
          <a:xfrm rot="0">
            <a:off x="13144500" y="2333625"/>
            <a:ext cx="3238500" cy="3238500"/>
            <a:chOff x="0" y="0"/>
            <a:chExt cx="4318000" cy="4318000"/>
          </a:xfrm>
        </p:grpSpPr>
        <p:sp>
          <p:nvSpPr>
            <p:cNvPr name="Freeform 68" id="68"/>
            <p:cNvSpPr/>
            <p:nvPr/>
          </p:nvSpPr>
          <p:spPr>
            <a:xfrm flipH="false" flipV="false" rot="0">
              <a:off x="-90" y="0"/>
              <a:ext cx="4318297" cy="4318002"/>
            </a:xfrm>
            <a:custGeom>
              <a:avLst/>
              <a:gdLst/>
              <a:ahLst/>
              <a:cxnLst/>
              <a:rect r="r" b="b" t="t" l="l"/>
              <a:pathLst>
                <a:path h="4318002" w="4318297">
                  <a:moveTo>
                    <a:pt x="2159090" y="0"/>
                  </a:moveTo>
                  <a:cubicBezTo>
                    <a:pt x="3103185" y="-21"/>
                    <a:pt x="3937802" y="613376"/>
                    <a:pt x="4219669" y="1514413"/>
                  </a:cubicBezTo>
                  <a:cubicBezTo>
                    <a:pt x="4501537" y="2415449"/>
                    <a:pt x="4165276" y="3395127"/>
                    <a:pt x="3389476" y="3933134"/>
                  </a:cubicBezTo>
                  <a:cubicBezTo>
                    <a:pt x="2613677" y="4471140"/>
                    <a:pt x="1578287" y="4442683"/>
                    <a:pt x="833210" y="3862877"/>
                  </a:cubicBezTo>
                  <a:cubicBezTo>
                    <a:pt x="88133" y="3283070"/>
                    <a:pt x="-193810" y="2286401"/>
                    <a:pt x="137123" y="1402207"/>
                  </a:cubicBezTo>
                  <a:lnTo>
                    <a:pt x="910172" y="1691513"/>
                  </a:lnTo>
                  <a:cubicBezTo>
                    <a:pt x="705748" y="2237622"/>
                    <a:pt x="879860" y="2853218"/>
                    <a:pt x="1340037" y="3211355"/>
                  </a:cubicBezTo>
                  <a:cubicBezTo>
                    <a:pt x="1800213" y="3569492"/>
                    <a:pt x="2439715" y="3587100"/>
                    <a:pt x="2918901" y="3254827"/>
                  </a:cubicBezTo>
                  <a:cubicBezTo>
                    <a:pt x="3398087" y="2922555"/>
                    <a:pt x="3605809" y="2317472"/>
                    <a:pt x="3431745" y="1760942"/>
                  </a:cubicBezTo>
                  <a:cubicBezTo>
                    <a:pt x="3257681" y="1204411"/>
                    <a:pt x="2742206" y="825521"/>
                    <a:pt x="2159090" y="825500"/>
                  </a:cubicBezTo>
                  <a:close/>
                </a:path>
              </a:pathLst>
            </a:custGeom>
            <a:solidFill>
              <a:srgbClr val="7F5283"/>
            </a:solidFill>
          </p:spPr>
        </p:sp>
        <p:sp>
          <p:nvSpPr>
            <p:cNvPr name="TextBox 69" id="69"/>
            <p:cNvSpPr txBox="true"/>
            <p:nvPr/>
          </p:nvSpPr>
          <p:spPr>
            <a:xfrm>
              <a:off x="0" y="-38100"/>
              <a:ext cx="4318000" cy="4356100"/>
            </a:xfrm>
            <a:prstGeom prst="rect">
              <a:avLst/>
            </a:prstGeom>
          </p:spPr>
          <p:txBody>
            <a:bodyPr anchor="ctr" rtlCol="false" tIns="50800" lIns="50800" bIns="50800" rIns="50800"/>
            <a:lstStyle/>
            <a:p>
              <a:pPr algn="l">
                <a:lnSpc>
                  <a:spcPts val="1679"/>
                </a:lnSpc>
              </a:pPr>
            </a:p>
          </p:txBody>
        </p:sp>
      </p:grpSp>
      <p:grpSp>
        <p:nvGrpSpPr>
          <p:cNvPr name="Group 70" id="70"/>
          <p:cNvGrpSpPr/>
          <p:nvPr/>
        </p:nvGrpSpPr>
        <p:grpSpPr>
          <a:xfrm rot="0">
            <a:off x="13144500" y="2333625"/>
            <a:ext cx="3238500" cy="3238500"/>
            <a:chOff x="0" y="0"/>
            <a:chExt cx="4318000" cy="4318000"/>
          </a:xfrm>
        </p:grpSpPr>
        <p:sp>
          <p:nvSpPr>
            <p:cNvPr name="Freeform 71" id="71"/>
            <p:cNvSpPr/>
            <p:nvPr/>
          </p:nvSpPr>
          <p:spPr>
            <a:xfrm flipH="false" flipV="false" rot="0">
              <a:off x="137033" y="1524"/>
              <a:ext cx="1971675" cy="1689989"/>
            </a:xfrm>
            <a:custGeom>
              <a:avLst/>
              <a:gdLst/>
              <a:ahLst/>
              <a:cxnLst/>
              <a:rect r="r" b="b" t="t" l="l"/>
              <a:pathLst>
                <a:path h="1689989" w="1971675">
                  <a:moveTo>
                    <a:pt x="0" y="1400683"/>
                  </a:moveTo>
                  <a:cubicBezTo>
                    <a:pt x="305216" y="585185"/>
                    <a:pt x="1070437" y="32854"/>
                    <a:pt x="1940560" y="0"/>
                  </a:cubicBezTo>
                  <a:lnTo>
                    <a:pt x="1971675" y="824865"/>
                  </a:lnTo>
                  <a:cubicBezTo>
                    <a:pt x="1434230" y="845139"/>
                    <a:pt x="961572" y="1186286"/>
                    <a:pt x="773049" y="1689989"/>
                  </a:cubicBezTo>
                  <a:close/>
                </a:path>
              </a:pathLst>
            </a:custGeom>
            <a:solidFill>
              <a:srgbClr val="9DB2CE"/>
            </a:solidFill>
          </p:spPr>
        </p:sp>
        <p:sp>
          <p:nvSpPr>
            <p:cNvPr name="TextBox 72" id="72"/>
            <p:cNvSpPr txBox="true"/>
            <p:nvPr/>
          </p:nvSpPr>
          <p:spPr>
            <a:xfrm>
              <a:off x="0" y="-38100"/>
              <a:ext cx="4318000" cy="4356100"/>
            </a:xfrm>
            <a:prstGeom prst="rect">
              <a:avLst/>
            </a:prstGeom>
          </p:spPr>
          <p:txBody>
            <a:bodyPr anchor="ctr" rtlCol="false" tIns="50800" lIns="50800" bIns="50800" rIns="50800"/>
            <a:lstStyle/>
            <a:p>
              <a:pPr algn="l">
                <a:lnSpc>
                  <a:spcPts val="1679"/>
                </a:lnSpc>
              </a:pPr>
            </a:p>
          </p:txBody>
        </p:sp>
      </p:grpSp>
      <p:grpSp>
        <p:nvGrpSpPr>
          <p:cNvPr name="Group 73" id="73"/>
          <p:cNvGrpSpPr/>
          <p:nvPr/>
        </p:nvGrpSpPr>
        <p:grpSpPr>
          <a:xfrm rot="0">
            <a:off x="13144500" y="2333625"/>
            <a:ext cx="3238500" cy="3238500"/>
            <a:chOff x="0" y="0"/>
            <a:chExt cx="4318000" cy="4318000"/>
          </a:xfrm>
        </p:grpSpPr>
        <p:sp>
          <p:nvSpPr>
            <p:cNvPr name="Freeform 74" id="74"/>
            <p:cNvSpPr/>
            <p:nvPr/>
          </p:nvSpPr>
          <p:spPr>
            <a:xfrm flipH="false" flipV="false" rot="0">
              <a:off x="2077593" y="0"/>
              <a:ext cx="81153" cy="826389"/>
            </a:xfrm>
            <a:custGeom>
              <a:avLst/>
              <a:gdLst/>
              <a:ahLst/>
              <a:cxnLst/>
              <a:rect r="r" b="b" t="t" l="l"/>
              <a:pathLst>
                <a:path h="826389" w="81153">
                  <a:moveTo>
                    <a:pt x="0" y="1524"/>
                  </a:moveTo>
                  <a:cubicBezTo>
                    <a:pt x="26997" y="509"/>
                    <a:pt x="54010" y="1"/>
                    <a:pt x="81026" y="0"/>
                  </a:cubicBezTo>
                  <a:lnTo>
                    <a:pt x="81153" y="825500"/>
                  </a:lnTo>
                  <a:cubicBezTo>
                    <a:pt x="64469" y="825483"/>
                    <a:pt x="47787" y="825780"/>
                    <a:pt x="31115" y="826389"/>
                  </a:cubicBezTo>
                  <a:close/>
                </a:path>
              </a:pathLst>
            </a:custGeom>
            <a:solidFill>
              <a:srgbClr val="A6D1E6"/>
            </a:solidFill>
          </p:spPr>
        </p:sp>
        <p:sp>
          <p:nvSpPr>
            <p:cNvPr name="TextBox 75" id="75"/>
            <p:cNvSpPr txBox="true"/>
            <p:nvPr/>
          </p:nvSpPr>
          <p:spPr>
            <a:xfrm>
              <a:off x="0" y="-38100"/>
              <a:ext cx="4318000" cy="4356100"/>
            </a:xfrm>
            <a:prstGeom prst="rect">
              <a:avLst/>
            </a:prstGeom>
          </p:spPr>
          <p:txBody>
            <a:bodyPr anchor="ctr" rtlCol="false" tIns="50800" lIns="50800" bIns="50800" rIns="50800"/>
            <a:lstStyle/>
            <a:p>
              <a:pPr algn="l">
                <a:lnSpc>
                  <a:spcPts val="1679"/>
                </a:lnSpc>
              </a:pPr>
            </a:p>
          </p:txBody>
        </p:sp>
      </p:grpSp>
      <p:sp>
        <p:nvSpPr>
          <p:cNvPr name="TextBox 76" id="76"/>
          <p:cNvSpPr txBox="true"/>
          <p:nvPr/>
        </p:nvSpPr>
        <p:spPr>
          <a:xfrm rot="0">
            <a:off x="13144500" y="3648075"/>
            <a:ext cx="3238500" cy="531495"/>
          </a:xfrm>
          <a:prstGeom prst="rect">
            <a:avLst/>
          </a:prstGeom>
        </p:spPr>
        <p:txBody>
          <a:bodyPr anchor="t" rtlCol="false" tIns="0" lIns="0" bIns="0" rIns="0">
            <a:spAutoFit/>
          </a:bodyPr>
          <a:lstStyle/>
          <a:p>
            <a:pPr algn="ctr">
              <a:lnSpc>
                <a:spcPts val="3960"/>
              </a:lnSpc>
            </a:pPr>
            <a:r>
              <a:rPr lang="en-US" sz="3600" b="true">
                <a:solidFill>
                  <a:srgbClr val="7F5283"/>
                </a:solidFill>
                <a:latin typeface="Arimo Bold"/>
                <a:ea typeface="Arimo Bold"/>
                <a:cs typeface="Arimo Bold"/>
                <a:sym typeface="Arimo Bold"/>
              </a:rPr>
              <a:t>80.7%</a:t>
            </a:r>
          </a:p>
        </p:txBody>
      </p:sp>
      <p:sp>
        <p:nvSpPr>
          <p:cNvPr name="TextBox 77" id="77"/>
          <p:cNvSpPr txBox="true"/>
          <p:nvPr/>
        </p:nvSpPr>
        <p:spPr>
          <a:xfrm rot="0">
            <a:off x="13144500" y="4191000"/>
            <a:ext cx="3238500" cy="239078"/>
          </a:xfrm>
          <a:prstGeom prst="rect">
            <a:avLst/>
          </a:prstGeom>
        </p:spPr>
        <p:txBody>
          <a:bodyPr anchor="t" rtlCol="false" tIns="0" lIns="0" bIns="0" rIns="0">
            <a:spAutoFit/>
          </a:bodyPr>
          <a:lstStyle/>
          <a:p>
            <a:pPr algn="ctr">
              <a:lnSpc>
                <a:spcPts val="1732"/>
              </a:lnSpc>
            </a:pPr>
            <a:r>
              <a:rPr lang="en-US" sz="1575">
                <a:solidFill>
                  <a:srgbClr val="3D3C42"/>
                </a:solidFill>
                <a:latin typeface="Arimo"/>
                <a:ea typeface="Arimo"/>
                <a:cs typeface="Arimo"/>
                <a:sym typeface="Arimo"/>
              </a:rPr>
              <a:t>profitable orders</a:t>
            </a:r>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FEFBF6"/>
        </a:solidFill>
      </p:bgPr>
    </p:bg>
    <p:spTree>
      <p:nvGrpSpPr>
        <p:cNvPr id="1" name=""/>
        <p:cNvGrpSpPr/>
        <p:nvPr/>
      </p:nvGrpSpPr>
      <p:grpSpPr>
        <a:xfrm>
          <a:off x="0" y="0"/>
          <a:ext cx="0" cy="0"/>
          <a:chOff x="0" y="0"/>
          <a:chExt cx="0" cy="0"/>
        </a:xfrm>
      </p:grpSpPr>
      <p:grpSp>
        <p:nvGrpSpPr>
          <p:cNvPr name="Group 2" id="2"/>
          <p:cNvGrpSpPr/>
          <p:nvPr/>
        </p:nvGrpSpPr>
        <p:grpSpPr>
          <a:xfrm rot="0">
            <a:off x="1028700" y="2659714"/>
            <a:ext cx="3468449" cy="6598586"/>
            <a:chOff x="0" y="0"/>
            <a:chExt cx="1206998" cy="2296265"/>
          </a:xfrm>
        </p:grpSpPr>
        <p:sp>
          <p:nvSpPr>
            <p:cNvPr name="Freeform 3" id="3"/>
            <p:cNvSpPr/>
            <p:nvPr/>
          </p:nvSpPr>
          <p:spPr>
            <a:xfrm flipH="false" flipV="false" rot="0">
              <a:off x="0" y="0"/>
              <a:ext cx="1206998" cy="2296265"/>
            </a:xfrm>
            <a:custGeom>
              <a:avLst/>
              <a:gdLst/>
              <a:ahLst/>
              <a:cxnLst/>
              <a:rect r="r" b="b" t="t" l="l"/>
              <a:pathLst>
                <a:path h="2296265" w="1206998">
                  <a:moveTo>
                    <a:pt x="44642" y="0"/>
                  </a:moveTo>
                  <a:lnTo>
                    <a:pt x="1162356" y="0"/>
                  </a:lnTo>
                  <a:cubicBezTo>
                    <a:pt x="1174195" y="0"/>
                    <a:pt x="1185550" y="4703"/>
                    <a:pt x="1193922" y="13075"/>
                  </a:cubicBezTo>
                  <a:cubicBezTo>
                    <a:pt x="1202294" y="21447"/>
                    <a:pt x="1206998" y="32802"/>
                    <a:pt x="1206998" y="44642"/>
                  </a:cubicBezTo>
                  <a:lnTo>
                    <a:pt x="1206998" y="2251623"/>
                  </a:lnTo>
                  <a:cubicBezTo>
                    <a:pt x="1206998" y="2263463"/>
                    <a:pt x="1202294" y="2274818"/>
                    <a:pt x="1193922" y="2283190"/>
                  </a:cubicBezTo>
                  <a:cubicBezTo>
                    <a:pt x="1185550" y="2291561"/>
                    <a:pt x="1174195" y="2296265"/>
                    <a:pt x="1162356" y="2296265"/>
                  </a:cubicBezTo>
                  <a:lnTo>
                    <a:pt x="44642" y="2296265"/>
                  </a:lnTo>
                  <a:cubicBezTo>
                    <a:pt x="32802" y="2296265"/>
                    <a:pt x="21447" y="2291561"/>
                    <a:pt x="13075" y="2283190"/>
                  </a:cubicBezTo>
                  <a:cubicBezTo>
                    <a:pt x="4703" y="2274818"/>
                    <a:pt x="0" y="2263463"/>
                    <a:pt x="0" y="2251623"/>
                  </a:cubicBezTo>
                  <a:lnTo>
                    <a:pt x="0" y="44642"/>
                  </a:lnTo>
                  <a:cubicBezTo>
                    <a:pt x="0" y="32802"/>
                    <a:pt x="4703" y="21447"/>
                    <a:pt x="13075" y="13075"/>
                  </a:cubicBezTo>
                  <a:cubicBezTo>
                    <a:pt x="21447" y="4703"/>
                    <a:pt x="32802" y="0"/>
                    <a:pt x="44642" y="0"/>
                  </a:cubicBezTo>
                  <a:close/>
                </a:path>
              </a:pathLst>
            </a:custGeom>
            <a:ln w="38100" cap="sq">
              <a:solidFill>
                <a:srgbClr val="A6D1E6"/>
              </a:solidFill>
              <a:prstDash val="solid"/>
              <a:miter/>
            </a:ln>
          </p:spPr>
        </p:sp>
        <p:sp>
          <p:nvSpPr>
            <p:cNvPr name="TextBox 4" id="4"/>
            <p:cNvSpPr txBox="true"/>
            <p:nvPr/>
          </p:nvSpPr>
          <p:spPr>
            <a:xfrm>
              <a:off x="0" y="-38100"/>
              <a:ext cx="1206998" cy="2334365"/>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12719190" y="1463040"/>
            <a:ext cx="4103852" cy="293370"/>
          </a:xfrm>
          <a:prstGeom prst="rect">
            <a:avLst/>
          </a:prstGeom>
        </p:spPr>
        <p:txBody>
          <a:bodyPr anchor="t" rtlCol="false" tIns="0" lIns="0" bIns="0" rIns="0">
            <a:spAutoFit/>
          </a:bodyPr>
          <a:lstStyle/>
          <a:p>
            <a:pPr algn="l" marL="0" indent="0" lvl="0">
              <a:lnSpc>
                <a:spcPts val="2310"/>
              </a:lnSpc>
              <a:spcBef>
                <a:spcPct val="0"/>
              </a:spcBef>
            </a:pPr>
            <a:r>
              <a:rPr lang="en-US" b="true" sz="2100" strike="noStrike" u="none">
                <a:solidFill>
                  <a:srgbClr val="3D3C42"/>
                </a:solidFill>
                <a:latin typeface="Inter Bold"/>
                <a:ea typeface="Inter Bold"/>
                <a:cs typeface="Inter Bold"/>
                <a:sym typeface="Inter Bold"/>
              </a:rPr>
              <a:t>Delay % by Shipping Mode</a:t>
            </a:r>
          </a:p>
        </p:txBody>
      </p:sp>
      <p:grpSp>
        <p:nvGrpSpPr>
          <p:cNvPr name="Group 6" id="6"/>
          <p:cNvGrpSpPr/>
          <p:nvPr/>
        </p:nvGrpSpPr>
        <p:grpSpPr>
          <a:xfrm rot="0">
            <a:off x="12282932" y="1028700"/>
            <a:ext cx="4976368" cy="8229600"/>
            <a:chOff x="0" y="0"/>
            <a:chExt cx="1731743" cy="2863847"/>
          </a:xfrm>
        </p:grpSpPr>
        <p:sp>
          <p:nvSpPr>
            <p:cNvPr name="Freeform 7" id="7"/>
            <p:cNvSpPr/>
            <p:nvPr/>
          </p:nvSpPr>
          <p:spPr>
            <a:xfrm flipH="false" flipV="false" rot="0">
              <a:off x="0" y="0"/>
              <a:ext cx="1731743" cy="2863847"/>
            </a:xfrm>
            <a:custGeom>
              <a:avLst/>
              <a:gdLst/>
              <a:ahLst/>
              <a:cxnLst/>
              <a:rect r="r" b="b" t="t" l="l"/>
              <a:pathLst>
                <a:path h="2863847" w="1731743">
                  <a:moveTo>
                    <a:pt x="31115" y="0"/>
                  </a:moveTo>
                  <a:lnTo>
                    <a:pt x="1700629" y="0"/>
                  </a:lnTo>
                  <a:cubicBezTo>
                    <a:pt x="1717813" y="0"/>
                    <a:pt x="1731743" y="13931"/>
                    <a:pt x="1731743" y="31115"/>
                  </a:cubicBezTo>
                  <a:lnTo>
                    <a:pt x="1731743" y="2832732"/>
                  </a:lnTo>
                  <a:cubicBezTo>
                    <a:pt x="1731743" y="2849916"/>
                    <a:pt x="1717813" y="2863847"/>
                    <a:pt x="1700629" y="2863847"/>
                  </a:cubicBezTo>
                  <a:lnTo>
                    <a:pt x="31115" y="2863847"/>
                  </a:lnTo>
                  <a:cubicBezTo>
                    <a:pt x="13931" y="2863847"/>
                    <a:pt x="0" y="2849916"/>
                    <a:pt x="0" y="2832732"/>
                  </a:cubicBezTo>
                  <a:lnTo>
                    <a:pt x="0" y="31115"/>
                  </a:lnTo>
                  <a:cubicBezTo>
                    <a:pt x="0" y="13931"/>
                    <a:pt x="13931" y="0"/>
                    <a:pt x="31115" y="0"/>
                  </a:cubicBezTo>
                  <a:close/>
                </a:path>
              </a:pathLst>
            </a:custGeom>
            <a:ln w="38100" cap="sq">
              <a:solidFill>
                <a:srgbClr val="A6D1E6"/>
              </a:solidFill>
              <a:prstDash val="solid"/>
              <a:miter/>
            </a:ln>
          </p:spPr>
        </p:sp>
        <p:sp>
          <p:nvSpPr>
            <p:cNvPr name="TextBox 8" id="8"/>
            <p:cNvSpPr txBox="true"/>
            <p:nvPr/>
          </p:nvSpPr>
          <p:spPr>
            <a:xfrm>
              <a:off x="0" y="-38100"/>
              <a:ext cx="1731743" cy="2901947"/>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13217459" y="6339770"/>
            <a:ext cx="270510" cy="270510"/>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F5283"/>
            </a:solidFill>
          </p:spPr>
        </p:sp>
        <p:sp>
          <p:nvSpPr>
            <p:cNvPr name="TextBox 11" id="11"/>
            <p:cNvSpPr txBox="true"/>
            <p:nvPr/>
          </p:nvSpPr>
          <p:spPr>
            <a:xfrm>
              <a:off x="76200" y="95250"/>
              <a:ext cx="660400" cy="641350"/>
            </a:xfrm>
            <a:prstGeom prst="rect">
              <a:avLst/>
            </a:prstGeom>
          </p:spPr>
          <p:txBody>
            <a:bodyPr anchor="ctr" rtlCol="false" tIns="50800" lIns="50800" bIns="50800" rIns="50800"/>
            <a:lstStyle/>
            <a:p>
              <a:pPr algn="ctr">
                <a:lnSpc>
                  <a:spcPts val="1980"/>
                </a:lnSpc>
              </a:pPr>
            </a:p>
          </p:txBody>
        </p:sp>
      </p:grpSp>
      <p:grpSp>
        <p:nvGrpSpPr>
          <p:cNvPr name="Group 12" id="12"/>
          <p:cNvGrpSpPr/>
          <p:nvPr/>
        </p:nvGrpSpPr>
        <p:grpSpPr>
          <a:xfrm rot="0">
            <a:off x="13217459" y="6814183"/>
            <a:ext cx="270510" cy="270510"/>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DB2CE"/>
            </a:solidFill>
          </p:spPr>
        </p:sp>
        <p:sp>
          <p:nvSpPr>
            <p:cNvPr name="TextBox 14" id="14"/>
            <p:cNvSpPr txBox="true"/>
            <p:nvPr/>
          </p:nvSpPr>
          <p:spPr>
            <a:xfrm>
              <a:off x="76200" y="95250"/>
              <a:ext cx="660400" cy="641350"/>
            </a:xfrm>
            <a:prstGeom prst="rect">
              <a:avLst/>
            </a:prstGeom>
          </p:spPr>
          <p:txBody>
            <a:bodyPr anchor="ctr" rtlCol="false" tIns="50800" lIns="50800" bIns="50800" rIns="50800"/>
            <a:lstStyle/>
            <a:p>
              <a:pPr algn="ctr">
                <a:lnSpc>
                  <a:spcPts val="1980"/>
                </a:lnSpc>
              </a:pPr>
            </a:p>
          </p:txBody>
        </p:sp>
      </p:grpSp>
      <p:grpSp>
        <p:nvGrpSpPr>
          <p:cNvPr name="Group 15" id="15"/>
          <p:cNvGrpSpPr/>
          <p:nvPr/>
        </p:nvGrpSpPr>
        <p:grpSpPr>
          <a:xfrm rot="0">
            <a:off x="13217459" y="7288596"/>
            <a:ext cx="270510" cy="270510"/>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6D1E6"/>
            </a:solidFill>
          </p:spPr>
        </p:sp>
        <p:sp>
          <p:nvSpPr>
            <p:cNvPr name="TextBox 17" id="17"/>
            <p:cNvSpPr txBox="true"/>
            <p:nvPr/>
          </p:nvSpPr>
          <p:spPr>
            <a:xfrm>
              <a:off x="76200" y="95250"/>
              <a:ext cx="660400" cy="641350"/>
            </a:xfrm>
            <a:prstGeom prst="rect">
              <a:avLst/>
            </a:prstGeom>
          </p:spPr>
          <p:txBody>
            <a:bodyPr anchor="ctr" rtlCol="false" tIns="50800" lIns="50800" bIns="50800" rIns="50800"/>
            <a:lstStyle/>
            <a:p>
              <a:pPr algn="ctr">
                <a:lnSpc>
                  <a:spcPts val="1980"/>
                </a:lnSpc>
              </a:pPr>
            </a:p>
          </p:txBody>
        </p:sp>
      </p:grpSp>
      <p:grpSp>
        <p:nvGrpSpPr>
          <p:cNvPr name="Group 18" id="18"/>
          <p:cNvGrpSpPr/>
          <p:nvPr/>
        </p:nvGrpSpPr>
        <p:grpSpPr>
          <a:xfrm rot="0">
            <a:off x="4763225" y="2659714"/>
            <a:ext cx="7253632" cy="6598586"/>
            <a:chOff x="0" y="0"/>
            <a:chExt cx="2524217" cy="2296265"/>
          </a:xfrm>
        </p:grpSpPr>
        <p:sp>
          <p:nvSpPr>
            <p:cNvPr name="Freeform 19" id="19"/>
            <p:cNvSpPr/>
            <p:nvPr/>
          </p:nvSpPr>
          <p:spPr>
            <a:xfrm flipH="false" flipV="false" rot="0">
              <a:off x="0" y="0"/>
              <a:ext cx="2524217" cy="2296265"/>
            </a:xfrm>
            <a:custGeom>
              <a:avLst/>
              <a:gdLst/>
              <a:ahLst/>
              <a:cxnLst/>
              <a:rect r="r" b="b" t="t" l="l"/>
              <a:pathLst>
                <a:path h="2296265" w="2524217">
                  <a:moveTo>
                    <a:pt x="21346" y="0"/>
                  </a:moveTo>
                  <a:lnTo>
                    <a:pt x="2502870" y="0"/>
                  </a:lnTo>
                  <a:cubicBezTo>
                    <a:pt x="2514659" y="0"/>
                    <a:pt x="2524217" y="9557"/>
                    <a:pt x="2524217" y="21346"/>
                  </a:cubicBezTo>
                  <a:lnTo>
                    <a:pt x="2524217" y="2274919"/>
                  </a:lnTo>
                  <a:cubicBezTo>
                    <a:pt x="2524217" y="2286708"/>
                    <a:pt x="2514659" y="2296265"/>
                    <a:pt x="2502870" y="2296265"/>
                  </a:cubicBezTo>
                  <a:lnTo>
                    <a:pt x="21346" y="2296265"/>
                  </a:lnTo>
                  <a:cubicBezTo>
                    <a:pt x="9557" y="2296265"/>
                    <a:pt x="0" y="2286708"/>
                    <a:pt x="0" y="2274919"/>
                  </a:cubicBezTo>
                  <a:lnTo>
                    <a:pt x="0" y="21346"/>
                  </a:lnTo>
                  <a:cubicBezTo>
                    <a:pt x="0" y="9557"/>
                    <a:pt x="9557" y="0"/>
                    <a:pt x="21346" y="0"/>
                  </a:cubicBezTo>
                  <a:close/>
                </a:path>
              </a:pathLst>
            </a:custGeom>
            <a:ln w="38100" cap="sq">
              <a:solidFill>
                <a:srgbClr val="A6D1E6"/>
              </a:solidFill>
              <a:prstDash val="solid"/>
              <a:miter/>
            </a:ln>
          </p:spPr>
        </p:sp>
        <p:sp>
          <p:nvSpPr>
            <p:cNvPr name="TextBox 20" id="20"/>
            <p:cNvSpPr txBox="true"/>
            <p:nvPr/>
          </p:nvSpPr>
          <p:spPr>
            <a:xfrm>
              <a:off x="0" y="-38100"/>
              <a:ext cx="2524217" cy="2334365"/>
            </a:xfrm>
            <a:prstGeom prst="rect">
              <a:avLst/>
            </a:prstGeom>
          </p:spPr>
          <p:txBody>
            <a:bodyPr anchor="ctr" rtlCol="false" tIns="50800" lIns="50800" bIns="50800" rIns="50800"/>
            <a:lstStyle/>
            <a:p>
              <a:pPr algn="ctr">
                <a:lnSpc>
                  <a:spcPts val="2659"/>
                </a:lnSpc>
              </a:pPr>
            </a:p>
          </p:txBody>
        </p:sp>
      </p:grpSp>
      <p:sp>
        <p:nvSpPr>
          <p:cNvPr name="TextBox 21" id="21"/>
          <p:cNvSpPr txBox="true"/>
          <p:nvPr/>
        </p:nvSpPr>
        <p:spPr>
          <a:xfrm rot="0">
            <a:off x="1028700" y="1076325"/>
            <a:ext cx="11254232" cy="680085"/>
          </a:xfrm>
          <a:prstGeom prst="rect">
            <a:avLst/>
          </a:prstGeom>
        </p:spPr>
        <p:txBody>
          <a:bodyPr anchor="t" rtlCol="false" tIns="0" lIns="0" bIns="0" rIns="0">
            <a:spAutoFit/>
          </a:bodyPr>
          <a:lstStyle/>
          <a:p>
            <a:pPr algn="l" marL="0" indent="0" lvl="0">
              <a:lnSpc>
                <a:spcPts val="5280"/>
              </a:lnSpc>
              <a:spcBef>
                <a:spcPct val="0"/>
              </a:spcBef>
            </a:pPr>
            <a:r>
              <a:rPr lang="en-US" b="true" sz="4800" strike="noStrike" u="none">
                <a:solidFill>
                  <a:srgbClr val="3D3C42"/>
                </a:solidFill>
                <a:latin typeface="Inter Bold"/>
                <a:ea typeface="Inter Bold"/>
                <a:cs typeface="Inter Bold"/>
                <a:sym typeface="Inter Bold"/>
              </a:rPr>
              <a:t>Bottleneck Detection</a:t>
            </a:r>
          </a:p>
        </p:txBody>
      </p:sp>
      <p:sp>
        <p:nvSpPr>
          <p:cNvPr name="TextBox 22" id="22"/>
          <p:cNvSpPr txBox="true"/>
          <p:nvPr/>
        </p:nvSpPr>
        <p:spPr>
          <a:xfrm rot="0">
            <a:off x="1417533" y="3022489"/>
            <a:ext cx="3078992" cy="293370"/>
          </a:xfrm>
          <a:prstGeom prst="rect">
            <a:avLst/>
          </a:prstGeom>
        </p:spPr>
        <p:txBody>
          <a:bodyPr anchor="t" rtlCol="false" tIns="0" lIns="0" bIns="0" rIns="0">
            <a:spAutoFit/>
          </a:bodyPr>
          <a:lstStyle/>
          <a:p>
            <a:pPr algn="l" marL="0" indent="0" lvl="0">
              <a:lnSpc>
                <a:spcPts val="2310"/>
              </a:lnSpc>
              <a:spcBef>
                <a:spcPct val="0"/>
              </a:spcBef>
            </a:pPr>
            <a:r>
              <a:rPr lang="en-US" b="true" sz="2100" strike="noStrike" u="none">
                <a:solidFill>
                  <a:srgbClr val="3D3C42"/>
                </a:solidFill>
                <a:latin typeface="Inter Bold"/>
                <a:ea typeface="Inter Bold"/>
                <a:cs typeface="Inter Bold"/>
                <a:sym typeface="Inter Bold"/>
              </a:rPr>
              <a:t>Key Findings</a:t>
            </a:r>
          </a:p>
        </p:txBody>
      </p:sp>
      <p:sp>
        <p:nvSpPr>
          <p:cNvPr name="TextBox 23" id="23"/>
          <p:cNvSpPr txBox="true"/>
          <p:nvPr/>
        </p:nvSpPr>
        <p:spPr>
          <a:xfrm rot="0">
            <a:off x="1417533" y="4302392"/>
            <a:ext cx="2857500" cy="499110"/>
          </a:xfrm>
          <a:prstGeom prst="rect">
            <a:avLst/>
          </a:prstGeom>
        </p:spPr>
        <p:txBody>
          <a:bodyPr anchor="t" rtlCol="false" tIns="0" lIns="0" bIns="0" rIns="0">
            <a:spAutoFit/>
          </a:bodyPr>
          <a:lstStyle/>
          <a:p>
            <a:pPr algn="l" marL="0" indent="0" lvl="0">
              <a:lnSpc>
                <a:spcPts val="1980"/>
              </a:lnSpc>
              <a:spcBef>
                <a:spcPct val="0"/>
              </a:spcBef>
            </a:pPr>
            <a:r>
              <a:rPr lang="en-US" sz="1800" strike="noStrike" u="none">
                <a:solidFill>
                  <a:srgbClr val="3D3C42"/>
                </a:solidFill>
                <a:latin typeface="Inter"/>
                <a:ea typeface="Inter"/>
                <a:cs typeface="Inter"/>
                <a:sym typeface="Inter"/>
              </a:rPr>
              <a:t>Shipping mode is the #1 lever</a:t>
            </a:r>
          </a:p>
        </p:txBody>
      </p:sp>
      <p:sp>
        <p:nvSpPr>
          <p:cNvPr name="TextBox 24" id="24"/>
          <p:cNvSpPr txBox="true"/>
          <p:nvPr/>
        </p:nvSpPr>
        <p:spPr>
          <a:xfrm rot="0">
            <a:off x="1417533" y="3771025"/>
            <a:ext cx="1344786" cy="450215"/>
          </a:xfrm>
          <a:prstGeom prst="rect">
            <a:avLst/>
          </a:prstGeom>
        </p:spPr>
        <p:txBody>
          <a:bodyPr anchor="t" rtlCol="false" tIns="0" lIns="0" bIns="0" rIns="0">
            <a:spAutoFit/>
          </a:bodyPr>
          <a:lstStyle/>
          <a:p>
            <a:pPr algn="l">
              <a:lnSpc>
                <a:spcPts val="3520"/>
              </a:lnSpc>
            </a:pPr>
            <a:r>
              <a:rPr lang="en-US" b="true" sz="3200">
                <a:solidFill>
                  <a:srgbClr val="7F5283"/>
                </a:solidFill>
                <a:latin typeface="Inter Bold"/>
                <a:ea typeface="Inter Bold"/>
                <a:cs typeface="Inter Bold"/>
                <a:sym typeface="Inter Bold"/>
              </a:rPr>
              <a:t>01</a:t>
            </a:r>
          </a:p>
        </p:txBody>
      </p:sp>
      <p:sp>
        <p:nvSpPr>
          <p:cNvPr name="TextBox 25" id="25"/>
          <p:cNvSpPr txBox="true"/>
          <p:nvPr/>
        </p:nvSpPr>
        <p:spPr>
          <a:xfrm rot="0">
            <a:off x="1417533" y="5720027"/>
            <a:ext cx="2857500" cy="499110"/>
          </a:xfrm>
          <a:prstGeom prst="rect">
            <a:avLst/>
          </a:prstGeom>
        </p:spPr>
        <p:txBody>
          <a:bodyPr anchor="t" rtlCol="false" tIns="0" lIns="0" bIns="0" rIns="0">
            <a:spAutoFit/>
          </a:bodyPr>
          <a:lstStyle/>
          <a:p>
            <a:pPr algn="l" marL="0" indent="0" lvl="0">
              <a:lnSpc>
                <a:spcPts val="1980"/>
              </a:lnSpc>
              <a:spcBef>
                <a:spcPct val="0"/>
              </a:spcBef>
            </a:pPr>
            <a:r>
              <a:rPr lang="en-US" sz="1800" strike="noStrike" u="none">
                <a:solidFill>
                  <a:srgbClr val="3D3C42"/>
                </a:solidFill>
                <a:latin typeface="Inter"/>
                <a:ea typeface="Inter"/>
                <a:cs typeface="Inter"/>
                <a:sym typeface="Inter"/>
              </a:rPr>
              <a:t>Every region is 60–66% late</a:t>
            </a:r>
          </a:p>
        </p:txBody>
      </p:sp>
      <p:sp>
        <p:nvSpPr>
          <p:cNvPr name="TextBox 26" id="26"/>
          <p:cNvSpPr txBox="true"/>
          <p:nvPr/>
        </p:nvSpPr>
        <p:spPr>
          <a:xfrm rot="0">
            <a:off x="1417533" y="5188661"/>
            <a:ext cx="1344786" cy="450215"/>
          </a:xfrm>
          <a:prstGeom prst="rect">
            <a:avLst/>
          </a:prstGeom>
        </p:spPr>
        <p:txBody>
          <a:bodyPr anchor="t" rtlCol="false" tIns="0" lIns="0" bIns="0" rIns="0">
            <a:spAutoFit/>
          </a:bodyPr>
          <a:lstStyle/>
          <a:p>
            <a:pPr algn="l">
              <a:lnSpc>
                <a:spcPts val="3520"/>
              </a:lnSpc>
            </a:pPr>
            <a:r>
              <a:rPr lang="en-US" b="true" sz="3200">
                <a:solidFill>
                  <a:srgbClr val="7F5283"/>
                </a:solidFill>
                <a:latin typeface="Inter Bold"/>
                <a:ea typeface="Inter Bold"/>
                <a:cs typeface="Inter Bold"/>
                <a:sym typeface="Inter Bold"/>
              </a:rPr>
              <a:t>02</a:t>
            </a:r>
          </a:p>
        </p:txBody>
      </p:sp>
      <p:sp>
        <p:nvSpPr>
          <p:cNvPr name="TextBox 27" id="27"/>
          <p:cNvSpPr txBox="true"/>
          <p:nvPr/>
        </p:nvSpPr>
        <p:spPr>
          <a:xfrm rot="0">
            <a:off x="1417533" y="7137663"/>
            <a:ext cx="2857500" cy="499110"/>
          </a:xfrm>
          <a:prstGeom prst="rect">
            <a:avLst/>
          </a:prstGeom>
        </p:spPr>
        <p:txBody>
          <a:bodyPr anchor="t" rtlCol="false" tIns="0" lIns="0" bIns="0" rIns="0">
            <a:spAutoFit/>
          </a:bodyPr>
          <a:lstStyle/>
          <a:p>
            <a:pPr algn="l" marL="0" indent="0" lvl="0">
              <a:lnSpc>
                <a:spcPts val="1980"/>
              </a:lnSpc>
              <a:spcBef>
                <a:spcPct val="0"/>
              </a:spcBef>
            </a:pPr>
            <a:r>
              <a:rPr lang="en-US" sz="1800" strike="noStrike" u="none">
                <a:solidFill>
                  <a:srgbClr val="3D3C42"/>
                </a:solidFill>
                <a:latin typeface="Inter"/>
                <a:ea typeface="Inter"/>
                <a:cs typeface="Inter"/>
                <a:sym typeface="Inter"/>
              </a:rPr>
              <a:t>Segments barely differ (59.8–60.4%)</a:t>
            </a:r>
          </a:p>
        </p:txBody>
      </p:sp>
      <p:sp>
        <p:nvSpPr>
          <p:cNvPr name="TextBox 28" id="28"/>
          <p:cNvSpPr txBox="true"/>
          <p:nvPr/>
        </p:nvSpPr>
        <p:spPr>
          <a:xfrm rot="0">
            <a:off x="1417533" y="6606297"/>
            <a:ext cx="1344786" cy="450215"/>
          </a:xfrm>
          <a:prstGeom prst="rect">
            <a:avLst/>
          </a:prstGeom>
        </p:spPr>
        <p:txBody>
          <a:bodyPr anchor="t" rtlCol="false" tIns="0" lIns="0" bIns="0" rIns="0">
            <a:spAutoFit/>
          </a:bodyPr>
          <a:lstStyle/>
          <a:p>
            <a:pPr algn="l">
              <a:lnSpc>
                <a:spcPts val="3520"/>
              </a:lnSpc>
            </a:pPr>
            <a:r>
              <a:rPr lang="en-US" b="true" sz="3200">
                <a:solidFill>
                  <a:srgbClr val="7F5283"/>
                </a:solidFill>
                <a:latin typeface="Inter Bold"/>
                <a:ea typeface="Inter Bold"/>
                <a:cs typeface="Inter Bold"/>
                <a:sym typeface="Inter Bold"/>
              </a:rPr>
              <a:t>03</a:t>
            </a:r>
          </a:p>
        </p:txBody>
      </p:sp>
      <p:sp>
        <p:nvSpPr>
          <p:cNvPr name="TextBox 29" id="29"/>
          <p:cNvSpPr txBox="true"/>
          <p:nvPr/>
        </p:nvSpPr>
        <p:spPr>
          <a:xfrm rot="0">
            <a:off x="1417533" y="8555299"/>
            <a:ext cx="2857500" cy="499110"/>
          </a:xfrm>
          <a:prstGeom prst="rect">
            <a:avLst/>
          </a:prstGeom>
        </p:spPr>
        <p:txBody>
          <a:bodyPr anchor="t" rtlCol="false" tIns="0" lIns="0" bIns="0" rIns="0">
            <a:spAutoFit/>
          </a:bodyPr>
          <a:lstStyle/>
          <a:p>
            <a:pPr algn="l" marL="0" indent="0" lvl="0">
              <a:lnSpc>
                <a:spcPts val="1980"/>
              </a:lnSpc>
              <a:spcBef>
                <a:spcPct val="0"/>
              </a:spcBef>
            </a:pPr>
            <a:r>
              <a:rPr lang="en-US" sz="1800" strike="noStrike" u="none">
                <a:solidFill>
                  <a:srgbClr val="3D3C42"/>
                </a:solidFill>
                <a:latin typeface="Inter"/>
                <a:ea typeface="Inter"/>
                <a:cs typeface="Inter"/>
                <a:sym typeface="Inter"/>
              </a:rPr>
              <a:t>Pet Shop leads departments (64.6%)</a:t>
            </a:r>
          </a:p>
        </p:txBody>
      </p:sp>
      <p:sp>
        <p:nvSpPr>
          <p:cNvPr name="TextBox 30" id="30"/>
          <p:cNvSpPr txBox="true"/>
          <p:nvPr/>
        </p:nvSpPr>
        <p:spPr>
          <a:xfrm rot="0">
            <a:off x="1417533" y="8023932"/>
            <a:ext cx="1344786" cy="450215"/>
          </a:xfrm>
          <a:prstGeom prst="rect">
            <a:avLst/>
          </a:prstGeom>
        </p:spPr>
        <p:txBody>
          <a:bodyPr anchor="t" rtlCol="false" tIns="0" lIns="0" bIns="0" rIns="0">
            <a:spAutoFit/>
          </a:bodyPr>
          <a:lstStyle/>
          <a:p>
            <a:pPr algn="l">
              <a:lnSpc>
                <a:spcPts val="3520"/>
              </a:lnSpc>
            </a:pPr>
            <a:r>
              <a:rPr lang="en-US" b="true" sz="3200">
                <a:solidFill>
                  <a:srgbClr val="7F5283"/>
                </a:solidFill>
                <a:latin typeface="Inter Bold"/>
                <a:ea typeface="Inter Bold"/>
                <a:cs typeface="Inter Bold"/>
                <a:sym typeface="Inter Bold"/>
              </a:rPr>
              <a:t>04</a:t>
            </a:r>
          </a:p>
        </p:txBody>
      </p:sp>
      <p:sp>
        <p:nvSpPr>
          <p:cNvPr name="TextBox 31" id="31"/>
          <p:cNvSpPr txBox="true"/>
          <p:nvPr/>
        </p:nvSpPr>
        <p:spPr>
          <a:xfrm rot="0">
            <a:off x="13771129" y="6358820"/>
            <a:ext cx="3195090" cy="251460"/>
          </a:xfrm>
          <a:prstGeom prst="rect">
            <a:avLst/>
          </a:prstGeom>
        </p:spPr>
        <p:txBody>
          <a:bodyPr anchor="t" rtlCol="false" tIns="0" lIns="0" bIns="0" rIns="0">
            <a:spAutoFit/>
          </a:bodyPr>
          <a:lstStyle/>
          <a:p>
            <a:pPr algn="l" marL="0" indent="0" lvl="0">
              <a:lnSpc>
                <a:spcPts val="1980"/>
              </a:lnSpc>
              <a:spcBef>
                <a:spcPct val="0"/>
              </a:spcBef>
            </a:pPr>
            <a:r>
              <a:rPr lang="en-US" sz="1800" strike="noStrike" u="none">
                <a:solidFill>
                  <a:srgbClr val="3D3C42"/>
                </a:solidFill>
                <a:latin typeface="Inter"/>
                <a:ea typeface="Inter"/>
                <a:cs typeface="Inter"/>
                <a:sym typeface="Inter"/>
              </a:rPr>
              <a:t>Late on every order</a:t>
            </a:r>
          </a:p>
        </p:txBody>
      </p:sp>
      <p:sp>
        <p:nvSpPr>
          <p:cNvPr name="TextBox 32" id="32"/>
          <p:cNvSpPr txBox="true"/>
          <p:nvPr/>
        </p:nvSpPr>
        <p:spPr>
          <a:xfrm rot="0">
            <a:off x="13771129" y="6833233"/>
            <a:ext cx="3195090" cy="251460"/>
          </a:xfrm>
          <a:prstGeom prst="rect">
            <a:avLst/>
          </a:prstGeom>
        </p:spPr>
        <p:txBody>
          <a:bodyPr anchor="t" rtlCol="false" tIns="0" lIns="0" bIns="0" rIns="0">
            <a:spAutoFit/>
          </a:bodyPr>
          <a:lstStyle/>
          <a:p>
            <a:pPr algn="l" marL="0" indent="0" lvl="0">
              <a:lnSpc>
                <a:spcPts val="1980"/>
              </a:lnSpc>
              <a:spcBef>
                <a:spcPct val="0"/>
              </a:spcBef>
            </a:pPr>
            <a:r>
              <a:rPr lang="en-US" sz="1800" strike="noStrike" u="none">
                <a:solidFill>
                  <a:srgbClr val="3D3C42"/>
                </a:solidFill>
                <a:latin typeface="Inter"/>
                <a:ea typeface="Inter"/>
                <a:cs typeface="Inter"/>
                <a:sym typeface="Inter"/>
              </a:rPr>
              <a:t>Second Class: 79.8%</a:t>
            </a:r>
          </a:p>
        </p:txBody>
      </p:sp>
      <p:sp>
        <p:nvSpPr>
          <p:cNvPr name="TextBox 33" id="33"/>
          <p:cNvSpPr txBox="true"/>
          <p:nvPr/>
        </p:nvSpPr>
        <p:spPr>
          <a:xfrm rot="0">
            <a:off x="13771129" y="7307646"/>
            <a:ext cx="3195090" cy="251460"/>
          </a:xfrm>
          <a:prstGeom prst="rect">
            <a:avLst/>
          </a:prstGeom>
        </p:spPr>
        <p:txBody>
          <a:bodyPr anchor="t" rtlCol="false" tIns="0" lIns="0" bIns="0" rIns="0">
            <a:spAutoFit/>
          </a:bodyPr>
          <a:lstStyle/>
          <a:p>
            <a:pPr algn="l" marL="0" indent="0" lvl="0">
              <a:lnSpc>
                <a:spcPts val="1980"/>
              </a:lnSpc>
              <a:spcBef>
                <a:spcPct val="0"/>
              </a:spcBef>
            </a:pPr>
            <a:r>
              <a:rPr lang="en-US" sz="1800" strike="noStrike" u="none">
                <a:solidFill>
                  <a:srgbClr val="3D3C42"/>
                </a:solidFill>
                <a:latin typeface="Inter"/>
                <a:ea typeface="Inter"/>
                <a:cs typeface="Inter"/>
                <a:sym typeface="Inter"/>
              </a:rPr>
              <a:t>Standard: lowest, 39.8%</a:t>
            </a:r>
          </a:p>
        </p:txBody>
      </p:sp>
      <p:sp>
        <p:nvSpPr>
          <p:cNvPr name="TextBox 34" id="34"/>
          <p:cNvSpPr txBox="true"/>
          <p:nvPr/>
        </p:nvSpPr>
        <p:spPr>
          <a:xfrm rot="0">
            <a:off x="12647602" y="8055291"/>
            <a:ext cx="4247028" cy="499110"/>
          </a:xfrm>
          <a:prstGeom prst="rect">
            <a:avLst/>
          </a:prstGeom>
        </p:spPr>
        <p:txBody>
          <a:bodyPr anchor="t" rtlCol="false" tIns="0" lIns="0" bIns="0" rIns="0">
            <a:spAutoFit/>
          </a:bodyPr>
          <a:lstStyle/>
          <a:p>
            <a:pPr algn="l" marL="0" indent="0" lvl="0">
              <a:lnSpc>
                <a:spcPts val="1980"/>
              </a:lnSpc>
              <a:spcBef>
                <a:spcPct val="0"/>
              </a:spcBef>
            </a:pPr>
            <a:r>
              <a:rPr lang="en-US" sz="1800" strike="noStrike" u="none">
                <a:solidFill>
                  <a:srgbClr val="3D3C42"/>
                </a:solidFill>
                <a:latin typeface="Inter"/>
                <a:ea typeface="Inter"/>
                <a:cs typeface="Inter"/>
                <a:sym typeface="Inter"/>
              </a:rPr>
              <a:t>Mode assignment is the single most impactful variable to fix.</a:t>
            </a:r>
          </a:p>
        </p:txBody>
      </p:sp>
      <p:sp>
        <p:nvSpPr>
          <p:cNvPr name="TextBox 35" id="35"/>
          <p:cNvSpPr txBox="true"/>
          <p:nvPr/>
        </p:nvSpPr>
        <p:spPr>
          <a:xfrm rot="0">
            <a:off x="5040148" y="3036671"/>
            <a:ext cx="6667500" cy="293370"/>
          </a:xfrm>
          <a:prstGeom prst="rect">
            <a:avLst/>
          </a:prstGeom>
        </p:spPr>
        <p:txBody>
          <a:bodyPr anchor="t" rtlCol="false" tIns="0" lIns="0" bIns="0" rIns="0">
            <a:spAutoFit/>
          </a:bodyPr>
          <a:lstStyle/>
          <a:p>
            <a:pPr algn="l" marL="0" indent="0" lvl="0">
              <a:lnSpc>
                <a:spcPts val="2310"/>
              </a:lnSpc>
              <a:spcBef>
                <a:spcPct val="0"/>
              </a:spcBef>
            </a:pPr>
            <a:r>
              <a:rPr lang="en-US" b="true" sz="2100" strike="noStrike" u="none">
                <a:solidFill>
                  <a:srgbClr val="3D3C42"/>
                </a:solidFill>
                <a:latin typeface="Inter Bold"/>
                <a:ea typeface="Inter Bold"/>
                <a:cs typeface="Inter Bold"/>
                <a:sym typeface="Inter Bold"/>
              </a:rPr>
              <a:t>Delay % by Order Region (top 10)</a:t>
            </a:r>
          </a:p>
        </p:txBody>
      </p:sp>
      <p:sp>
        <p:nvSpPr>
          <p:cNvPr name="TextBox 36" id="36"/>
          <p:cNvSpPr txBox="true"/>
          <p:nvPr/>
        </p:nvSpPr>
        <p:spPr>
          <a:xfrm rot="0">
            <a:off x="4953000" y="3533775"/>
            <a:ext cx="2143125" cy="5383530"/>
          </a:xfrm>
          <a:prstGeom prst="rect">
            <a:avLst/>
          </a:prstGeom>
        </p:spPr>
        <p:txBody>
          <a:bodyPr anchor="t" rtlCol="false" tIns="0" lIns="0" bIns="0" rIns="0">
            <a:spAutoFit/>
          </a:bodyPr>
          <a:lstStyle/>
          <a:p>
            <a:pPr algn="r">
              <a:lnSpc>
                <a:spcPts val="4320"/>
              </a:lnSpc>
            </a:pPr>
            <a:r>
              <a:rPr lang="en-US" sz="1800">
                <a:solidFill>
                  <a:srgbClr val="3D3C42"/>
                </a:solidFill>
                <a:latin typeface="Arimo"/>
                <a:ea typeface="Arimo"/>
                <a:cs typeface="Arimo"/>
                <a:sym typeface="Arimo"/>
              </a:rPr>
              <a:t>Central Asia</a:t>
            </a:r>
          </a:p>
          <a:p>
            <a:pPr algn="r">
              <a:lnSpc>
                <a:spcPts val="4320"/>
              </a:lnSpc>
            </a:pPr>
            <a:r>
              <a:rPr lang="en-US" sz="1800">
                <a:solidFill>
                  <a:srgbClr val="3D3C42"/>
                </a:solidFill>
                <a:latin typeface="Arimo"/>
                <a:ea typeface="Arimo"/>
                <a:cs typeface="Arimo"/>
                <a:sym typeface="Arimo"/>
              </a:rPr>
              <a:t>Central Africa</a:t>
            </a:r>
          </a:p>
          <a:p>
            <a:pPr algn="r">
              <a:lnSpc>
                <a:spcPts val="4320"/>
              </a:lnSpc>
            </a:pPr>
            <a:r>
              <a:rPr lang="en-US" sz="1800">
                <a:solidFill>
                  <a:srgbClr val="3D3C42"/>
                </a:solidFill>
                <a:latin typeface="Arimo"/>
                <a:ea typeface="Arimo"/>
                <a:cs typeface="Arimo"/>
                <a:sym typeface="Arimo"/>
              </a:rPr>
              <a:t>South of USA</a:t>
            </a:r>
          </a:p>
          <a:p>
            <a:pPr algn="r">
              <a:lnSpc>
                <a:spcPts val="4320"/>
              </a:lnSpc>
            </a:pPr>
            <a:r>
              <a:rPr lang="en-US" sz="1800">
                <a:solidFill>
                  <a:srgbClr val="3D3C42"/>
                </a:solidFill>
                <a:latin typeface="Arimo"/>
                <a:ea typeface="Arimo"/>
                <a:cs typeface="Arimo"/>
                <a:sym typeface="Arimo"/>
              </a:rPr>
              <a:t>Western Europe</a:t>
            </a:r>
          </a:p>
          <a:p>
            <a:pPr algn="r">
              <a:lnSpc>
                <a:spcPts val="4320"/>
              </a:lnSpc>
            </a:pPr>
            <a:r>
              <a:rPr lang="en-US" sz="1800">
                <a:solidFill>
                  <a:srgbClr val="3D3C42"/>
                </a:solidFill>
                <a:latin typeface="Arimo"/>
                <a:ea typeface="Arimo"/>
                <a:cs typeface="Arimo"/>
                <a:sym typeface="Arimo"/>
              </a:rPr>
              <a:t>East Africa</a:t>
            </a:r>
          </a:p>
          <a:p>
            <a:pPr algn="r">
              <a:lnSpc>
                <a:spcPts val="4320"/>
              </a:lnSpc>
            </a:pPr>
            <a:r>
              <a:rPr lang="en-US" sz="1800">
                <a:solidFill>
                  <a:srgbClr val="3D3C42"/>
                </a:solidFill>
                <a:latin typeface="Arimo"/>
                <a:ea typeface="Arimo"/>
                <a:cs typeface="Arimo"/>
                <a:sym typeface="Arimo"/>
              </a:rPr>
              <a:t>East of USA</a:t>
            </a:r>
          </a:p>
          <a:p>
            <a:pPr algn="r">
              <a:lnSpc>
                <a:spcPts val="4320"/>
              </a:lnSpc>
            </a:pPr>
            <a:r>
              <a:rPr lang="en-US" sz="1800">
                <a:solidFill>
                  <a:srgbClr val="3D3C42"/>
                </a:solidFill>
                <a:latin typeface="Arimo"/>
                <a:ea typeface="Arimo"/>
                <a:cs typeface="Arimo"/>
                <a:sym typeface="Arimo"/>
              </a:rPr>
              <a:t>US Center</a:t>
            </a:r>
          </a:p>
          <a:p>
            <a:pPr algn="r">
              <a:lnSpc>
                <a:spcPts val="4320"/>
              </a:lnSpc>
            </a:pPr>
            <a:r>
              <a:rPr lang="en-US" sz="1800">
                <a:solidFill>
                  <a:srgbClr val="3D3C42"/>
                </a:solidFill>
                <a:latin typeface="Arimo"/>
                <a:ea typeface="Arimo"/>
                <a:cs typeface="Arimo"/>
                <a:sym typeface="Arimo"/>
              </a:rPr>
              <a:t>South Asia</a:t>
            </a:r>
          </a:p>
          <a:p>
            <a:pPr algn="r">
              <a:lnSpc>
                <a:spcPts val="4320"/>
              </a:lnSpc>
            </a:pPr>
            <a:r>
              <a:rPr lang="en-US" sz="1800">
                <a:solidFill>
                  <a:srgbClr val="3D3C42"/>
                </a:solidFill>
                <a:latin typeface="Arimo"/>
                <a:ea typeface="Arimo"/>
                <a:cs typeface="Arimo"/>
                <a:sym typeface="Arimo"/>
              </a:rPr>
              <a:t>Eastern Europe</a:t>
            </a:r>
          </a:p>
          <a:p>
            <a:pPr algn="r">
              <a:lnSpc>
                <a:spcPts val="4320"/>
              </a:lnSpc>
            </a:pPr>
            <a:r>
              <a:rPr lang="en-US" sz="1800">
                <a:solidFill>
                  <a:srgbClr val="3D3C42"/>
                </a:solidFill>
                <a:latin typeface="Arimo"/>
                <a:ea typeface="Arimo"/>
                <a:cs typeface="Arimo"/>
                <a:sym typeface="Arimo"/>
              </a:rPr>
              <a:t>Southeast Asia</a:t>
            </a:r>
          </a:p>
        </p:txBody>
      </p:sp>
      <p:grpSp>
        <p:nvGrpSpPr>
          <p:cNvPr name="Group 37" id="37"/>
          <p:cNvGrpSpPr/>
          <p:nvPr/>
        </p:nvGrpSpPr>
        <p:grpSpPr>
          <a:xfrm rot="0">
            <a:off x="7239000" y="3731895"/>
            <a:ext cx="3429000" cy="285750"/>
            <a:chOff x="0" y="0"/>
            <a:chExt cx="4572000" cy="381000"/>
          </a:xfrm>
        </p:grpSpPr>
        <p:sp>
          <p:nvSpPr>
            <p:cNvPr name="Freeform 38" id="38"/>
            <p:cNvSpPr/>
            <p:nvPr/>
          </p:nvSpPr>
          <p:spPr>
            <a:xfrm flipH="false" flipV="false" rot="0">
              <a:off x="0" y="0"/>
              <a:ext cx="4572000" cy="381000"/>
            </a:xfrm>
            <a:custGeom>
              <a:avLst/>
              <a:gdLst/>
              <a:ahLst/>
              <a:cxnLst/>
              <a:rect r="r" b="b" t="t" l="l"/>
              <a:pathLst>
                <a:path h="381000" w="4572000">
                  <a:moveTo>
                    <a:pt x="14111" y="0"/>
                  </a:moveTo>
                  <a:lnTo>
                    <a:pt x="4557889" y="0"/>
                  </a:lnTo>
                  <a:cubicBezTo>
                    <a:pt x="4561631" y="0"/>
                    <a:pt x="4565221" y="1487"/>
                    <a:pt x="4567867" y="4133"/>
                  </a:cubicBezTo>
                  <a:cubicBezTo>
                    <a:pt x="4570513" y="6779"/>
                    <a:pt x="4572000" y="10369"/>
                    <a:pt x="4572000" y="14111"/>
                  </a:cubicBezTo>
                  <a:lnTo>
                    <a:pt x="4572000" y="366889"/>
                  </a:lnTo>
                  <a:cubicBezTo>
                    <a:pt x="4572000" y="370631"/>
                    <a:pt x="4570513" y="374221"/>
                    <a:pt x="4567867" y="376867"/>
                  </a:cubicBezTo>
                  <a:cubicBezTo>
                    <a:pt x="4565221" y="379513"/>
                    <a:pt x="4561631" y="381000"/>
                    <a:pt x="4557889" y="381000"/>
                  </a:cubicBezTo>
                  <a:lnTo>
                    <a:pt x="14111" y="381000"/>
                  </a:lnTo>
                  <a:cubicBezTo>
                    <a:pt x="10369" y="381000"/>
                    <a:pt x="6779" y="379513"/>
                    <a:pt x="4133" y="376867"/>
                  </a:cubicBezTo>
                  <a:cubicBezTo>
                    <a:pt x="1487" y="374221"/>
                    <a:pt x="0" y="370631"/>
                    <a:pt x="0" y="366889"/>
                  </a:cubicBezTo>
                  <a:lnTo>
                    <a:pt x="0" y="14111"/>
                  </a:lnTo>
                  <a:cubicBezTo>
                    <a:pt x="0" y="10369"/>
                    <a:pt x="1487" y="6779"/>
                    <a:pt x="4133" y="4133"/>
                  </a:cubicBezTo>
                  <a:cubicBezTo>
                    <a:pt x="6779" y="1487"/>
                    <a:pt x="10369" y="0"/>
                    <a:pt x="14111" y="0"/>
                  </a:cubicBezTo>
                  <a:close/>
                </a:path>
              </a:pathLst>
            </a:custGeom>
            <a:solidFill>
              <a:srgbClr val="7F5283"/>
            </a:solidFill>
          </p:spPr>
        </p:sp>
        <p:sp>
          <p:nvSpPr>
            <p:cNvPr name="TextBox 39" id="39"/>
            <p:cNvSpPr txBox="true"/>
            <p:nvPr/>
          </p:nvSpPr>
          <p:spPr>
            <a:xfrm>
              <a:off x="0" y="-38100"/>
              <a:ext cx="4572000" cy="419100"/>
            </a:xfrm>
            <a:prstGeom prst="rect">
              <a:avLst/>
            </a:prstGeom>
          </p:spPr>
          <p:txBody>
            <a:bodyPr anchor="ctr" rtlCol="false" tIns="50800" lIns="50800" bIns="50800" rIns="50800"/>
            <a:lstStyle/>
            <a:p>
              <a:pPr algn="l">
                <a:lnSpc>
                  <a:spcPts val="1679"/>
                </a:lnSpc>
              </a:pPr>
            </a:p>
          </p:txBody>
        </p:sp>
      </p:grpSp>
      <p:grpSp>
        <p:nvGrpSpPr>
          <p:cNvPr name="Group 40" id="40"/>
          <p:cNvGrpSpPr/>
          <p:nvPr/>
        </p:nvGrpSpPr>
        <p:grpSpPr>
          <a:xfrm rot="0">
            <a:off x="7239000" y="4280535"/>
            <a:ext cx="3308985" cy="285750"/>
            <a:chOff x="0" y="0"/>
            <a:chExt cx="4411980" cy="381000"/>
          </a:xfrm>
        </p:grpSpPr>
        <p:sp>
          <p:nvSpPr>
            <p:cNvPr name="Freeform 41" id="41"/>
            <p:cNvSpPr/>
            <p:nvPr/>
          </p:nvSpPr>
          <p:spPr>
            <a:xfrm flipH="false" flipV="false" rot="0">
              <a:off x="0" y="0"/>
              <a:ext cx="4411980" cy="381000"/>
            </a:xfrm>
            <a:custGeom>
              <a:avLst/>
              <a:gdLst/>
              <a:ahLst/>
              <a:cxnLst/>
              <a:rect r="r" b="b" t="t" l="l"/>
              <a:pathLst>
                <a:path h="381000" w="4411980">
                  <a:moveTo>
                    <a:pt x="14623" y="0"/>
                  </a:moveTo>
                  <a:lnTo>
                    <a:pt x="4397357" y="0"/>
                  </a:lnTo>
                  <a:cubicBezTo>
                    <a:pt x="4401235" y="0"/>
                    <a:pt x="4404955" y="1541"/>
                    <a:pt x="4407697" y="4283"/>
                  </a:cubicBezTo>
                  <a:cubicBezTo>
                    <a:pt x="4410439" y="7025"/>
                    <a:pt x="4411980" y="10745"/>
                    <a:pt x="4411980" y="14623"/>
                  </a:cubicBezTo>
                  <a:lnTo>
                    <a:pt x="4411980" y="366377"/>
                  </a:lnTo>
                  <a:cubicBezTo>
                    <a:pt x="4411980" y="374453"/>
                    <a:pt x="4405433" y="381000"/>
                    <a:pt x="4397357" y="381000"/>
                  </a:cubicBezTo>
                  <a:lnTo>
                    <a:pt x="14623" y="381000"/>
                  </a:lnTo>
                  <a:cubicBezTo>
                    <a:pt x="6547" y="381000"/>
                    <a:pt x="0" y="374453"/>
                    <a:pt x="0" y="366377"/>
                  </a:cubicBezTo>
                  <a:lnTo>
                    <a:pt x="0" y="14623"/>
                  </a:lnTo>
                  <a:cubicBezTo>
                    <a:pt x="0" y="6547"/>
                    <a:pt x="6547" y="0"/>
                    <a:pt x="14623" y="0"/>
                  </a:cubicBezTo>
                  <a:close/>
                </a:path>
              </a:pathLst>
            </a:custGeom>
            <a:solidFill>
              <a:srgbClr val="7F5283"/>
            </a:solidFill>
          </p:spPr>
        </p:sp>
        <p:sp>
          <p:nvSpPr>
            <p:cNvPr name="TextBox 42" id="42"/>
            <p:cNvSpPr txBox="true"/>
            <p:nvPr/>
          </p:nvSpPr>
          <p:spPr>
            <a:xfrm>
              <a:off x="0" y="-38100"/>
              <a:ext cx="4411980" cy="419100"/>
            </a:xfrm>
            <a:prstGeom prst="rect">
              <a:avLst/>
            </a:prstGeom>
          </p:spPr>
          <p:txBody>
            <a:bodyPr anchor="ctr" rtlCol="false" tIns="50800" lIns="50800" bIns="50800" rIns="50800"/>
            <a:lstStyle/>
            <a:p>
              <a:pPr algn="l">
                <a:lnSpc>
                  <a:spcPts val="1679"/>
                </a:lnSpc>
              </a:pPr>
            </a:p>
          </p:txBody>
        </p:sp>
      </p:grpSp>
      <p:grpSp>
        <p:nvGrpSpPr>
          <p:cNvPr name="Group 43" id="43"/>
          <p:cNvGrpSpPr/>
          <p:nvPr/>
        </p:nvGrpSpPr>
        <p:grpSpPr>
          <a:xfrm rot="0">
            <a:off x="7239000" y="4829175"/>
            <a:ext cx="3205162" cy="285750"/>
            <a:chOff x="0" y="0"/>
            <a:chExt cx="4273550" cy="381000"/>
          </a:xfrm>
        </p:grpSpPr>
        <p:sp>
          <p:nvSpPr>
            <p:cNvPr name="Freeform 44" id="44"/>
            <p:cNvSpPr/>
            <p:nvPr/>
          </p:nvSpPr>
          <p:spPr>
            <a:xfrm flipH="false" flipV="false" rot="0">
              <a:off x="0" y="0"/>
              <a:ext cx="4273550" cy="381000"/>
            </a:xfrm>
            <a:custGeom>
              <a:avLst/>
              <a:gdLst/>
              <a:ahLst/>
              <a:cxnLst/>
              <a:rect r="r" b="b" t="t" l="l"/>
              <a:pathLst>
                <a:path h="381000" w="4273550">
                  <a:moveTo>
                    <a:pt x="15097" y="0"/>
                  </a:moveTo>
                  <a:lnTo>
                    <a:pt x="4258453" y="0"/>
                  </a:lnTo>
                  <a:cubicBezTo>
                    <a:pt x="4262457" y="0"/>
                    <a:pt x="4266297" y="1591"/>
                    <a:pt x="4269128" y="4422"/>
                  </a:cubicBezTo>
                  <a:cubicBezTo>
                    <a:pt x="4271959" y="7253"/>
                    <a:pt x="4273550" y="11093"/>
                    <a:pt x="4273550" y="15097"/>
                  </a:cubicBezTo>
                  <a:lnTo>
                    <a:pt x="4273550" y="365903"/>
                  </a:lnTo>
                  <a:cubicBezTo>
                    <a:pt x="4273550" y="369907"/>
                    <a:pt x="4271959" y="373747"/>
                    <a:pt x="4269128" y="376578"/>
                  </a:cubicBezTo>
                  <a:cubicBezTo>
                    <a:pt x="4266297" y="379409"/>
                    <a:pt x="4262457" y="381000"/>
                    <a:pt x="4258453" y="381000"/>
                  </a:cubicBezTo>
                  <a:lnTo>
                    <a:pt x="15097" y="381000"/>
                  </a:lnTo>
                  <a:cubicBezTo>
                    <a:pt x="11093" y="381000"/>
                    <a:pt x="7253" y="379409"/>
                    <a:pt x="4422" y="376578"/>
                  </a:cubicBezTo>
                  <a:cubicBezTo>
                    <a:pt x="1591" y="373747"/>
                    <a:pt x="0" y="369907"/>
                    <a:pt x="0" y="365903"/>
                  </a:cubicBezTo>
                  <a:lnTo>
                    <a:pt x="0" y="15097"/>
                  </a:lnTo>
                  <a:cubicBezTo>
                    <a:pt x="0" y="11093"/>
                    <a:pt x="1591" y="7253"/>
                    <a:pt x="4422" y="4422"/>
                  </a:cubicBezTo>
                  <a:cubicBezTo>
                    <a:pt x="7253" y="1591"/>
                    <a:pt x="11093" y="0"/>
                    <a:pt x="15097" y="0"/>
                  </a:cubicBezTo>
                  <a:close/>
                </a:path>
              </a:pathLst>
            </a:custGeom>
            <a:solidFill>
              <a:srgbClr val="9DB2CE"/>
            </a:solidFill>
          </p:spPr>
        </p:sp>
        <p:sp>
          <p:nvSpPr>
            <p:cNvPr name="TextBox 45" id="45"/>
            <p:cNvSpPr txBox="true"/>
            <p:nvPr/>
          </p:nvSpPr>
          <p:spPr>
            <a:xfrm>
              <a:off x="0" y="-38100"/>
              <a:ext cx="4273550" cy="419100"/>
            </a:xfrm>
            <a:prstGeom prst="rect">
              <a:avLst/>
            </a:prstGeom>
          </p:spPr>
          <p:txBody>
            <a:bodyPr anchor="ctr" rtlCol="false" tIns="50800" lIns="50800" bIns="50800" rIns="50800"/>
            <a:lstStyle/>
            <a:p>
              <a:pPr algn="l">
                <a:lnSpc>
                  <a:spcPts val="1679"/>
                </a:lnSpc>
              </a:pPr>
            </a:p>
          </p:txBody>
        </p:sp>
      </p:grpSp>
      <p:grpSp>
        <p:nvGrpSpPr>
          <p:cNvPr name="Group 46" id="46"/>
          <p:cNvGrpSpPr/>
          <p:nvPr/>
        </p:nvGrpSpPr>
        <p:grpSpPr>
          <a:xfrm rot="0">
            <a:off x="7239000" y="5377815"/>
            <a:ext cx="3184208" cy="285750"/>
            <a:chOff x="0" y="0"/>
            <a:chExt cx="4245610" cy="381000"/>
          </a:xfrm>
        </p:grpSpPr>
        <p:sp>
          <p:nvSpPr>
            <p:cNvPr name="Freeform 47" id="47"/>
            <p:cNvSpPr/>
            <p:nvPr/>
          </p:nvSpPr>
          <p:spPr>
            <a:xfrm flipH="false" flipV="false" rot="0">
              <a:off x="0" y="0"/>
              <a:ext cx="4245610" cy="381000"/>
            </a:xfrm>
            <a:custGeom>
              <a:avLst/>
              <a:gdLst/>
              <a:ahLst/>
              <a:cxnLst/>
              <a:rect r="r" b="b" t="t" l="l"/>
              <a:pathLst>
                <a:path h="381000" w="4245610">
                  <a:moveTo>
                    <a:pt x="15196" y="0"/>
                  </a:moveTo>
                  <a:lnTo>
                    <a:pt x="4230414" y="0"/>
                  </a:lnTo>
                  <a:cubicBezTo>
                    <a:pt x="4238806" y="0"/>
                    <a:pt x="4245610" y="6803"/>
                    <a:pt x="4245610" y="15196"/>
                  </a:cubicBezTo>
                  <a:lnTo>
                    <a:pt x="4245610" y="365804"/>
                  </a:lnTo>
                  <a:cubicBezTo>
                    <a:pt x="4245610" y="369834"/>
                    <a:pt x="4244009" y="373699"/>
                    <a:pt x="4241159" y="376549"/>
                  </a:cubicBezTo>
                  <a:cubicBezTo>
                    <a:pt x="4238309" y="379399"/>
                    <a:pt x="4234444" y="381000"/>
                    <a:pt x="4230414" y="381000"/>
                  </a:cubicBezTo>
                  <a:lnTo>
                    <a:pt x="15196" y="381000"/>
                  </a:lnTo>
                  <a:cubicBezTo>
                    <a:pt x="11166" y="381000"/>
                    <a:pt x="7301" y="379399"/>
                    <a:pt x="4451" y="376549"/>
                  </a:cubicBezTo>
                  <a:cubicBezTo>
                    <a:pt x="1601" y="373699"/>
                    <a:pt x="0" y="369834"/>
                    <a:pt x="0" y="365804"/>
                  </a:cubicBezTo>
                  <a:lnTo>
                    <a:pt x="0" y="15196"/>
                  </a:lnTo>
                  <a:cubicBezTo>
                    <a:pt x="0" y="11166"/>
                    <a:pt x="1601" y="7301"/>
                    <a:pt x="4451" y="4451"/>
                  </a:cubicBezTo>
                  <a:cubicBezTo>
                    <a:pt x="7301" y="1601"/>
                    <a:pt x="11166" y="0"/>
                    <a:pt x="15196" y="0"/>
                  </a:cubicBezTo>
                  <a:close/>
                </a:path>
              </a:pathLst>
            </a:custGeom>
            <a:solidFill>
              <a:srgbClr val="9DB2CE"/>
            </a:solidFill>
          </p:spPr>
        </p:sp>
        <p:sp>
          <p:nvSpPr>
            <p:cNvPr name="TextBox 48" id="48"/>
            <p:cNvSpPr txBox="true"/>
            <p:nvPr/>
          </p:nvSpPr>
          <p:spPr>
            <a:xfrm>
              <a:off x="0" y="-38100"/>
              <a:ext cx="4245610" cy="419100"/>
            </a:xfrm>
            <a:prstGeom prst="rect">
              <a:avLst/>
            </a:prstGeom>
          </p:spPr>
          <p:txBody>
            <a:bodyPr anchor="ctr" rtlCol="false" tIns="50800" lIns="50800" bIns="50800" rIns="50800"/>
            <a:lstStyle/>
            <a:p>
              <a:pPr algn="l">
                <a:lnSpc>
                  <a:spcPts val="1679"/>
                </a:lnSpc>
              </a:pPr>
            </a:p>
          </p:txBody>
        </p:sp>
      </p:grpSp>
      <p:grpSp>
        <p:nvGrpSpPr>
          <p:cNvPr name="Group 49" id="49"/>
          <p:cNvGrpSpPr/>
          <p:nvPr/>
        </p:nvGrpSpPr>
        <p:grpSpPr>
          <a:xfrm rot="0">
            <a:off x="7239000" y="5926455"/>
            <a:ext cx="3184208" cy="285750"/>
            <a:chOff x="0" y="0"/>
            <a:chExt cx="4245610" cy="381000"/>
          </a:xfrm>
        </p:grpSpPr>
        <p:sp>
          <p:nvSpPr>
            <p:cNvPr name="Freeform 50" id="50"/>
            <p:cNvSpPr/>
            <p:nvPr/>
          </p:nvSpPr>
          <p:spPr>
            <a:xfrm flipH="false" flipV="false" rot="0">
              <a:off x="0" y="0"/>
              <a:ext cx="4245610" cy="381000"/>
            </a:xfrm>
            <a:custGeom>
              <a:avLst/>
              <a:gdLst/>
              <a:ahLst/>
              <a:cxnLst/>
              <a:rect r="r" b="b" t="t" l="l"/>
              <a:pathLst>
                <a:path h="381000" w="4245610">
                  <a:moveTo>
                    <a:pt x="15196" y="0"/>
                  </a:moveTo>
                  <a:lnTo>
                    <a:pt x="4230414" y="0"/>
                  </a:lnTo>
                  <a:cubicBezTo>
                    <a:pt x="4238806" y="0"/>
                    <a:pt x="4245610" y="6803"/>
                    <a:pt x="4245610" y="15196"/>
                  </a:cubicBezTo>
                  <a:lnTo>
                    <a:pt x="4245610" y="365804"/>
                  </a:lnTo>
                  <a:cubicBezTo>
                    <a:pt x="4245610" y="369834"/>
                    <a:pt x="4244009" y="373699"/>
                    <a:pt x="4241159" y="376549"/>
                  </a:cubicBezTo>
                  <a:cubicBezTo>
                    <a:pt x="4238309" y="379399"/>
                    <a:pt x="4234444" y="381000"/>
                    <a:pt x="4230414" y="381000"/>
                  </a:cubicBezTo>
                  <a:lnTo>
                    <a:pt x="15196" y="381000"/>
                  </a:lnTo>
                  <a:cubicBezTo>
                    <a:pt x="11166" y="381000"/>
                    <a:pt x="7301" y="379399"/>
                    <a:pt x="4451" y="376549"/>
                  </a:cubicBezTo>
                  <a:cubicBezTo>
                    <a:pt x="1601" y="373699"/>
                    <a:pt x="0" y="369834"/>
                    <a:pt x="0" y="365804"/>
                  </a:cubicBezTo>
                  <a:lnTo>
                    <a:pt x="0" y="15196"/>
                  </a:lnTo>
                  <a:cubicBezTo>
                    <a:pt x="0" y="11166"/>
                    <a:pt x="1601" y="7301"/>
                    <a:pt x="4451" y="4451"/>
                  </a:cubicBezTo>
                  <a:cubicBezTo>
                    <a:pt x="7301" y="1601"/>
                    <a:pt x="11166" y="0"/>
                    <a:pt x="15196" y="0"/>
                  </a:cubicBezTo>
                  <a:close/>
                </a:path>
              </a:pathLst>
            </a:custGeom>
            <a:solidFill>
              <a:srgbClr val="9DB2CE"/>
            </a:solidFill>
          </p:spPr>
        </p:sp>
        <p:sp>
          <p:nvSpPr>
            <p:cNvPr name="TextBox 51" id="51"/>
            <p:cNvSpPr txBox="true"/>
            <p:nvPr/>
          </p:nvSpPr>
          <p:spPr>
            <a:xfrm>
              <a:off x="0" y="-38100"/>
              <a:ext cx="4245610" cy="419100"/>
            </a:xfrm>
            <a:prstGeom prst="rect">
              <a:avLst/>
            </a:prstGeom>
          </p:spPr>
          <p:txBody>
            <a:bodyPr anchor="ctr" rtlCol="false" tIns="50800" lIns="50800" bIns="50800" rIns="50800"/>
            <a:lstStyle/>
            <a:p>
              <a:pPr algn="l">
                <a:lnSpc>
                  <a:spcPts val="1679"/>
                </a:lnSpc>
              </a:pPr>
            </a:p>
          </p:txBody>
        </p:sp>
      </p:grpSp>
      <p:grpSp>
        <p:nvGrpSpPr>
          <p:cNvPr name="Group 52" id="52"/>
          <p:cNvGrpSpPr/>
          <p:nvPr/>
        </p:nvGrpSpPr>
        <p:grpSpPr>
          <a:xfrm rot="0">
            <a:off x="7239000" y="6475095"/>
            <a:ext cx="3179445" cy="285750"/>
            <a:chOff x="0" y="0"/>
            <a:chExt cx="4239260" cy="381000"/>
          </a:xfrm>
        </p:grpSpPr>
        <p:sp>
          <p:nvSpPr>
            <p:cNvPr name="Freeform 53" id="53"/>
            <p:cNvSpPr/>
            <p:nvPr/>
          </p:nvSpPr>
          <p:spPr>
            <a:xfrm flipH="false" flipV="false" rot="0">
              <a:off x="0" y="0"/>
              <a:ext cx="4239260" cy="381000"/>
            </a:xfrm>
            <a:custGeom>
              <a:avLst/>
              <a:gdLst/>
              <a:ahLst/>
              <a:cxnLst/>
              <a:rect r="r" b="b" t="t" l="l"/>
              <a:pathLst>
                <a:path h="381000" w="4239260">
                  <a:moveTo>
                    <a:pt x="15219" y="0"/>
                  </a:moveTo>
                  <a:lnTo>
                    <a:pt x="4224041" y="0"/>
                  </a:lnTo>
                  <a:cubicBezTo>
                    <a:pt x="4232446" y="0"/>
                    <a:pt x="4239260" y="6814"/>
                    <a:pt x="4239260" y="15219"/>
                  </a:cubicBezTo>
                  <a:lnTo>
                    <a:pt x="4239260" y="365781"/>
                  </a:lnTo>
                  <a:cubicBezTo>
                    <a:pt x="4239260" y="369818"/>
                    <a:pt x="4237656" y="373688"/>
                    <a:pt x="4234802" y="376543"/>
                  </a:cubicBezTo>
                  <a:cubicBezTo>
                    <a:pt x="4231948" y="379397"/>
                    <a:pt x="4228078" y="381000"/>
                    <a:pt x="4224041" y="381000"/>
                  </a:cubicBezTo>
                  <a:lnTo>
                    <a:pt x="15219" y="381000"/>
                  </a:lnTo>
                  <a:cubicBezTo>
                    <a:pt x="6814" y="381000"/>
                    <a:pt x="0" y="374186"/>
                    <a:pt x="0" y="365781"/>
                  </a:cubicBezTo>
                  <a:lnTo>
                    <a:pt x="0" y="15219"/>
                  </a:lnTo>
                  <a:cubicBezTo>
                    <a:pt x="0" y="6814"/>
                    <a:pt x="6814" y="0"/>
                    <a:pt x="15219" y="0"/>
                  </a:cubicBezTo>
                  <a:close/>
                </a:path>
              </a:pathLst>
            </a:custGeom>
            <a:solidFill>
              <a:srgbClr val="9DB2CE"/>
            </a:solidFill>
          </p:spPr>
        </p:sp>
        <p:sp>
          <p:nvSpPr>
            <p:cNvPr name="TextBox 54" id="54"/>
            <p:cNvSpPr txBox="true"/>
            <p:nvPr/>
          </p:nvSpPr>
          <p:spPr>
            <a:xfrm>
              <a:off x="0" y="-38100"/>
              <a:ext cx="4239260" cy="419100"/>
            </a:xfrm>
            <a:prstGeom prst="rect">
              <a:avLst/>
            </a:prstGeom>
          </p:spPr>
          <p:txBody>
            <a:bodyPr anchor="ctr" rtlCol="false" tIns="50800" lIns="50800" bIns="50800" rIns="50800"/>
            <a:lstStyle/>
            <a:p>
              <a:pPr algn="l">
                <a:lnSpc>
                  <a:spcPts val="1679"/>
                </a:lnSpc>
              </a:pPr>
            </a:p>
          </p:txBody>
        </p:sp>
      </p:grpSp>
      <p:grpSp>
        <p:nvGrpSpPr>
          <p:cNvPr name="Group 55" id="55"/>
          <p:cNvGrpSpPr/>
          <p:nvPr/>
        </p:nvGrpSpPr>
        <p:grpSpPr>
          <a:xfrm rot="0">
            <a:off x="7239000" y="7023735"/>
            <a:ext cx="3168967" cy="285750"/>
            <a:chOff x="0" y="0"/>
            <a:chExt cx="4225290" cy="381000"/>
          </a:xfrm>
        </p:grpSpPr>
        <p:sp>
          <p:nvSpPr>
            <p:cNvPr name="Freeform 56" id="56"/>
            <p:cNvSpPr/>
            <p:nvPr/>
          </p:nvSpPr>
          <p:spPr>
            <a:xfrm flipH="false" flipV="false" rot="0">
              <a:off x="0" y="0"/>
              <a:ext cx="4225290" cy="381000"/>
            </a:xfrm>
            <a:custGeom>
              <a:avLst/>
              <a:gdLst/>
              <a:ahLst/>
              <a:cxnLst/>
              <a:rect r="r" b="b" t="t" l="l"/>
              <a:pathLst>
                <a:path h="381000" w="4225290">
                  <a:moveTo>
                    <a:pt x="15269" y="0"/>
                  </a:moveTo>
                  <a:lnTo>
                    <a:pt x="4210021" y="0"/>
                  </a:lnTo>
                  <a:cubicBezTo>
                    <a:pt x="4214071" y="0"/>
                    <a:pt x="4217955" y="1609"/>
                    <a:pt x="4220818" y="4472"/>
                  </a:cubicBezTo>
                  <a:cubicBezTo>
                    <a:pt x="4223681" y="7336"/>
                    <a:pt x="4225290" y="11219"/>
                    <a:pt x="4225290" y="15269"/>
                  </a:cubicBezTo>
                  <a:lnTo>
                    <a:pt x="4225290" y="365731"/>
                  </a:lnTo>
                  <a:cubicBezTo>
                    <a:pt x="4225290" y="374164"/>
                    <a:pt x="4218454" y="381000"/>
                    <a:pt x="4210021" y="381000"/>
                  </a:cubicBezTo>
                  <a:lnTo>
                    <a:pt x="15269" y="381000"/>
                  </a:lnTo>
                  <a:cubicBezTo>
                    <a:pt x="11219" y="381000"/>
                    <a:pt x="7336" y="379391"/>
                    <a:pt x="4472" y="376528"/>
                  </a:cubicBezTo>
                  <a:cubicBezTo>
                    <a:pt x="1609" y="373664"/>
                    <a:pt x="0" y="369781"/>
                    <a:pt x="0" y="365731"/>
                  </a:cubicBezTo>
                  <a:lnTo>
                    <a:pt x="0" y="15269"/>
                  </a:lnTo>
                  <a:cubicBezTo>
                    <a:pt x="0" y="11219"/>
                    <a:pt x="1609" y="7336"/>
                    <a:pt x="4472" y="4472"/>
                  </a:cubicBezTo>
                  <a:cubicBezTo>
                    <a:pt x="7336" y="1609"/>
                    <a:pt x="11219" y="0"/>
                    <a:pt x="15269" y="0"/>
                  </a:cubicBezTo>
                  <a:close/>
                </a:path>
              </a:pathLst>
            </a:custGeom>
            <a:solidFill>
              <a:srgbClr val="9DB2CE"/>
            </a:solidFill>
          </p:spPr>
        </p:sp>
        <p:sp>
          <p:nvSpPr>
            <p:cNvPr name="TextBox 57" id="57"/>
            <p:cNvSpPr txBox="true"/>
            <p:nvPr/>
          </p:nvSpPr>
          <p:spPr>
            <a:xfrm>
              <a:off x="0" y="-38100"/>
              <a:ext cx="4225290" cy="419100"/>
            </a:xfrm>
            <a:prstGeom prst="rect">
              <a:avLst/>
            </a:prstGeom>
          </p:spPr>
          <p:txBody>
            <a:bodyPr anchor="ctr" rtlCol="false" tIns="50800" lIns="50800" bIns="50800" rIns="50800"/>
            <a:lstStyle/>
            <a:p>
              <a:pPr algn="l">
                <a:lnSpc>
                  <a:spcPts val="1679"/>
                </a:lnSpc>
              </a:pPr>
            </a:p>
          </p:txBody>
        </p:sp>
      </p:grpSp>
      <p:grpSp>
        <p:nvGrpSpPr>
          <p:cNvPr name="Group 58" id="58"/>
          <p:cNvGrpSpPr/>
          <p:nvPr/>
        </p:nvGrpSpPr>
        <p:grpSpPr>
          <a:xfrm rot="0">
            <a:off x="7239000" y="7572375"/>
            <a:ext cx="3163252" cy="285750"/>
            <a:chOff x="0" y="0"/>
            <a:chExt cx="4217670" cy="381000"/>
          </a:xfrm>
        </p:grpSpPr>
        <p:sp>
          <p:nvSpPr>
            <p:cNvPr name="Freeform 59" id="59"/>
            <p:cNvSpPr/>
            <p:nvPr/>
          </p:nvSpPr>
          <p:spPr>
            <a:xfrm flipH="false" flipV="false" rot="0">
              <a:off x="0" y="0"/>
              <a:ext cx="4217670" cy="381000"/>
            </a:xfrm>
            <a:custGeom>
              <a:avLst/>
              <a:gdLst/>
              <a:ahLst/>
              <a:cxnLst/>
              <a:rect r="r" b="b" t="t" l="l"/>
              <a:pathLst>
                <a:path h="381000" w="4217670">
                  <a:moveTo>
                    <a:pt x="15297" y="0"/>
                  </a:moveTo>
                  <a:lnTo>
                    <a:pt x="4202373" y="0"/>
                  </a:lnTo>
                  <a:cubicBezTo>
                    <a:pt x="4210822" y="0"/>
                    <a:pt x="4217670" y="6849"/>
                    <a:pt x="4217670" y="15297"/>
                  </a:cubicBezTo>
                  <a:lnTo>
                    <a:pt x="4217670" y="365703"/>
                  </a:lnTo>
                  <a:cubicBezTo>
                    <a:pt x="4217670" y="369760"/>
                    <a:pt x="4216059" y="373651"/>
                    <a:pt x="4213190" y="376520"/>
                  </a:cubicBezTo>
                  <a:cubicBezTo>
                    <a:pt x="4210321" y="379388"/>
                    <a:pt x="4206430" y="381000"/>
                    <a:pt x="4202373" y="381000"/>
                  </a:cubicBezTo>
                  <a:lnTo>
                    <a:pt x="15297" y="381000"/>
                  </a:lnTo>
                  <a:cubicBezTo>
                    <a:pt x="6849" y="381000"/>
                    <a:pt x="0" y="374151"/>
                    <a:pt x="0" y="365703"/>
                  </a:cubicBezTo>
                  <a:lnTo>
                    <a:pt x="0" y="15297"/>
                  </a:lnTo>
                  <a:cubicBezTo>
                    <a:pt x="0" y="6849"/>
                    <a:pt x="6849" y="0"/>
                    <a:pt x="15297" y="0"/>
                  </a:cubicBezTo>
                  <a:close/>
                </a:path>
              </a:pathLst>
            </a:custGeom>
            <a:solidFill>
              <a:srgbClr val="9DB2CE"/>
            </a:solidFill>
          </p:spPr>
        </p:sp>
        <p:sp>
          <p:nvSpPr>
            <p:cNvPr name="TextBox 60" id="60"/>
            <p:cNvSpPr txBox="true"/>
            <p:nvPr/>
          </p:nvSpPr>
          <p:spPr>
            <a:xfrm>
              <a:off x="0" y="-38100"/>
              <a:ext cx="4217670" cy="419100"/>
            </a:xfrm>
            <a:prstGeom prst="rect">
              <a:avLst/>
            </a:prstGeom>
          </p:spPr>
          <p:txBody>
            <a:bodyPr anchor="ctr" rtlCol="false" tIns="50800" lIns="50800" bIns="50800" rIns="50800"/>
            <a:lstStyle/>
            <a:p>
              <a:pPr algn="l">
                <a:lnSpc>
                  <a:spcPts val="1679"/>
                </a:lnSpc>
              </a:pPr>
            </a:p>
          </p:txBody>
        </p:sp>
      </p:grpSp>
      <p:grpSp>
        <p:nvGrpSpPr>
          <p:cNvPr name="Group 61" id="61"/>
          <p:cNvGrpSpPr/>
          <p:nvPr/>
        </p:nvGrpSpPr>
        <p:grpSpPr>
          <a:xfrm rot="0">
            <a:off x="7239000" y="8121015"/>
            <a:ext cx="3152775" cy="285750"/>
            <a:chOff x="0" y="0"/>
            <a:chExt cx="4203700" cy="381000"/>
          </a:xfrm>
        </p:grpSpPr>
        <p:sp>
          <p:nvSpPr>
            <p:cNvPr name="Freeform 62" id="62"/>
            <p:cNvSpPr/>
            <p:nvPr/>
          </p:nvSpPr>
          <p:spPr>
            <a:xfrm flipH="false" flipV="false" rot="0">
              <a:off x="0" y="0"/>
              <a:ext cx="4203700" cy="381000"/>
            </a:xfrm>
            <a:custGeom>
              <a:avLst/>
              <a:gdLst/>
              <a:ahLst/>
              <a:cxnLst/>
              <a:rect r="r" b="b" t="t" l="l"/>
              <a:pathLst>
                <a:path h="381000" w="4203700">
                  <a:moveTo>
                    <a:pt x="15347" y="0"/>
                  </a:moveTo>
                  <a:lnTo>
                    <a:pt x="4188352" y="0"/>
                  </a:lnTo>
                  <a:cubicBezTo>
                    <a:pt x="4192423" y="0"/>
                    <a:pt x="4196327" y="1617"/>
                    <a:pt x="4199205" y="4495"/>
                  </a:cubicBezTo>
                  <a:cubicBezTo>
                    <a:pt x="4202083" y="7373"/>
                    <a:pt x="4203700" y="11277"/>
                    <a:pt x="4203700" y="15347"/>
                  </a:cubicBezTo>
                  <a:lnTo>
                    <a:pt x="4203700" y="365653"/>
                  </a:lnTo>
                  <a:cubicBezTo>
                    <a:pt x="4203700" y="369723"/>
                    <a:pt x="4202083" y="373627"/>
                    <a:pt x="4199205" y="376505"/>
                  </a:cubicBezTo>
                  <a:cubicBezTo>
                    <a:pt x="4196327" y="379383"/>
                    <a:pt x="4192423" y="381000"/>
                    <a:pt x="4188352" y="381000"/>
                  </a:cubicBezTo>
                  <a:lnTo>
                    <a:pt x="15347" y="381000"/>
                  </a:lnTo>
                  <a:cubicBezTo>
                    <a:pt x="11277" y="381000"/>
                    <a:pt x="7373" y="379383"/>
                    <a:pt x="4495" y="376505"/>
                  </a:cubicBezTo>
                  <a:cubicBezTo>
                    <a:pt x="1617" y="373627"/>
                    <a:pt x="0" y="369723"/>
                    <a:pt x="0" y="365653"/>
                  </a:cubicBezTo>
                  <a:lnTo>
                    <a:pt x="0" y="15347"/>
                  </a:lnTo>
                  <a:cubicBezTo>
                    <a:pt x="0" y="11277"/>
                    <a:pt x="1617" y="7373"/>
                    <a:pt x="4495" y="4495"/>
                  </a:cubicBezTo>
                  <a:cubicBezTo>
                    <a:pt x="7373" y="1617"/>
                    <a:pt x="11277" y="0"/>
                    <a:pt x="15347" y="0"/>
                  </a:cubicBezTo>
                  <a:close/>
                </a:path>
              </a:pathLst>
            </a:custGeom>
            <a:solidFill>
              <a:srgbClr val="9DB2CE"/>
            </a:solidFill>
          </p:spPr>
        </p:sp>
        <p:sp>
          <p:nvSpPr>
            <p:cNvPr name="TextBox 63" id="63"/>
            <p:cNvSpPr txBox="true"/>
            <p:nvPr/>
          </p:nvSpPr>
          <p:spPr>
            <a:xfrm>
              <a:off x="0" y="-38100"/>
              <a:ext cx="4203700" cy="419100"/>
            </a:xfrm>
            <a:prstGeom prst="rect">
              <a:avLst/>
            </a:prstGeom>
          </p:spPr>
          <p:txBody>
            <a:bodyPr anchor="ctr" rtlCol="false" tIns="50800" lIns="50800" bIns="50800" rIns="50800"/>
            <a:lstStyle/>
            <a:p>
              <a:pPr algn="l">
                <a:lnSpc>
                  <a:spcPts val="1679"/>
                </a:lnSpc>
              </a:pPr>
            </a:p>
          </p:txBody>
        </p:sp>
      </p:grpSp>
      <p:grpSp>
        <p:nvGrpSpPr>
          <p:cNvPr name="Group 64" id="64"/>
          <p:cNvGrpSpPr/>
          <p:nvPr/>
        </p:nvGrpSpPr>
        <p:grpSpPr>
          <a:xfrm rot="0">
            <a:off x="7239000" y="8669655"/>
            <a:ext cx="3152775" cy="285750"/>
            <a:chOff x="0" y="0"/>
            <a:chExt cx="4203700" cy="381000"/>
          </a:xfrm>
        </p:grpSpPr>
        <p:sp>
          <p:nvSpPr>
            <p:cNvPr name="Freeform 65" id="65"/>
            <p:cNvSpPr/>
            <p:nvPr/>
          </p:nvSpPr>
          <p:spPr>
            <a:xfrm flipH="false" flipV="false" rot="0">
              <a:off x="0" y="0"/>
              <a:ext cx="4203700" cy="381000"/>
            </a:xfrm>
            <a:custGeom>
              <a:avLst/>
              <a:gdLst/>
              <a:ahLst/>
              <a:cxnLst/>
              <a:rect r="r" b="b" t="t" l="l"/>
              <a:pathLst>
                <a:path h="381000" w="4203700">
                  <a:moveTo>
                    <a:pt x="15347" y="0"/>
                  </a:moveTo>
                  <a:lnTo>
                    <a:pt x="4188352" y="0"/>
                  </a:lnTo>
                  <a:cubicBezTo>
                    <a:pt x="4192423" y="0"/>
                    <a:pt x="4196327" y="1617"/>
                    <a:pt x="4199205" y="4495"/>
                  </a:cubicBezTo>
                  <a:cubicBezTo>
                    <a:pt x="4202083" y="7373"/>
                    <a:pt x="4203700" y="11277"/>
                    <a:pt x="4203700" y="15347"/>
                  </a:cubicBezTo>
                  <a:lnTo>
                    <a:pt x="4203700" y="365653"/>
                  </a:lnTo>
                  <a:cubicBezTo>
                    <a:pt x="4203700" y="369723"/>
                    <a:pt x="4202083" y="373627"/>
                    <a:pt x="4199205" y="376505"/>
                  </a:cubicBezTo>
                  <a:cubicBezTo>
                    <a:pt x="4196327" y="379383"/>
                    <a:pt x="4192423" y="381000"/>
                    <a:pt x="4188352" y="381000"/>
                  </a:cubicBezTo>
                  <a:lnTo>
                    <a:pt x="15347" y="381000"/>
                  </a:lnTo>
                  <a:cubicBezTo>
                    <a:pt x="11277" y="381000"/>
                    <a:pt x="7373" y="379383"/>
                    <a:pt x="4495" y="376505"/>
                  </a:cubicBezTo>
                  <a:cubicBezTo>
                    <a:pt x="1617" y="373627"/>
                    <a:pt x="0" y="369723"/>
                    <a:pt x="0" y="365653"/>
                  </a:cubicBezTo>
                  <a:lnTo>
                    <a:pt x="0" y="15347"/>
                  </a:lnTo>
                  <a:cubicBezTo>
                    <a:pt x="0" y="11277"/>
                    <a:pt x="1617" y="7373"/>
                    <a:pt x="4495" y="4495"/>
                  </a:cubicBezTo>
                  <a:cubicBezTo>
                    <a:pt x="7373" y="1617"/>
                    <a:pt x="11277" y="0"/>
                    <a:pt x="15347" y="0"/>
                  </a:cubicBezTo>
                  <a:close/>
                </a:path>
              </a:pathLst>
            </a:custGeom>
            <a:solidFill>
              <a:srgbClr val="9DB2CE"/>
            </a:solidFill>
          </p:spPr>
        </p:sp>
        <p:sp>
          <p:nvSpPr>
            <p:cNvPr name="TextBox 66" id="66"/>
            <p:cNvSpPr txBox="true"/>
            <p:nvPr/>
          </p:nvSpPr>
          <p:spPr>
            <a:xfrm>
              <a:off x="0" y="-38100"/>
              <a:ext cx="4203700" cy="419100"/>
            </a:xfrm>
            <a:prstGeom prst="rect">
              <a:avLst/>
            </a:prstGeom>
          </p:spPr>
          <p:txBody>
            <a:bodyPr anchor="ctr" rtlCol="false" tIns="50800" lIns="50800" bIns="50800" rIns="50800"/>
            <a:lstStyle/>
            <a:p>
              <a:pPr algn="l">
                <a:lnSpc>
                  <a:spcPts val="1679"/>
                </a:lnSpc>
              </a:pPr>
            </a:p>
          </p:txBody>
        </p:sp>
      </p:grpSp>
      <p:sp>
        <p:nvSpPr>
          <p:cNvPr name="TextBox 67" id="67"/>
          <p:cNvSpPr txBox="true"/>
          <p:nvPr/>
        </p:nvSpPr>
        <p:spPr>
          <a:xfrm rot="0">
            <a:off x="10801350" y="3533775"/>
            <a:ext cx="952500" cy="5383530"/>
          </a:xfrm>
          <a:prstGeom prst="rect">
            <a:avLst/>
          </a:prstGeom>
        </p:spPr>
        <p:txBody>
          <a:bodyPr anchor="t" rtlCol="false" tIns="0" lIns="0" bIns="0" rIns="0">
            <a:spAutoFit/>
          </a:bodyPr>
          <a:lstStyle/>
          <a:p>
            <a:pPr algn="l">
              <a:lnSpc>
                <a:spcPts val="4320"/>
              </a:lnSpc>
            </a:pPr>
            <a:r>
              <a:rPr lang="en-US" sz="1800" b="true">
                <a:solidFill>
                  <a:srgbClr val="3D3C42"/>
                </a:solidFill>
                <a:latin typeface="Arimo Bold"/>
                <a:ea typeface="Arimo Bold"/>
                <a:cs typeface="Arimo Bold"/>
                <a:sym typeface="Arimo Bold"/>
              </a:rPr>
              <a:t>65.9%</a:t>
            </a:r>
          </a:p>
          <a:p>
            <a:pPr algn="l">
              <a:lnSpc>
                <a:spcPts val="4320"/>
              </a:lnSpc>
            </a:pPr>
            <a:r>
              <a:rPr lang="en-US" sz="1800" b="true">
                <a:solidFill>
                  <a:srgbClr val="3D3C42"/>
                </a:solidFill>
                <a:latin typeface="Arimo Bold"/>
                <a:ea typeface="Arimo Bold"/>
                <a:cs typeface="Arimo Bold"/>
                <a:sym typeface="Arimo Bold"/>
              </a:rPr>
              <a:t>63.6%</a:t>
            </a:r>
          </a:p>
          <a:p>
            <a:pPr algn="l">
              <a:lnSpc>
                <a:spcPts val="4320"/>
              </a:lnSpc>
            </a:pPr>
            <a:r>
              <a:rPr lang="en-US" sz="1800" b="true">
                <a:solidFill>
                  <a:srgbClr val="3D3C42"/>
                </a:solidFill>
                <a:latin typeface="Arimo Bold"/>
                <a:ea typeface="Arimo Bold"/>
                <a:cs typeface="Arimo Bold"/>
                <a:sym typeface="Arimo Bold"/>
              </a:rPr>
              <a:t>61.6%</a:t>
            </a:r>
          </a:p>
          <a:p>
            <a:pPr algn="l">
              <a:lnSpc>
                <a:spcPts val="4320"/>
              </a:lnSpc>
            </a:pPr>
            <a:r>
              <a:rPr lang="en-US" sz="1800" b="true">
                <a:solidFill>
                  <a:srgbClr val="3D3C42"/>
                </a:solidFill>
                <a:latin typeface="Arimo Bold"/>
                <a:ea typeface="Arimo Bold"/>
                <a:cs typeface="Arimo Bold"/>
                <a:sym typeface="Arimo Bold"/>
              </a:rPr>
              <a:t>61.2%</a:t>
            </a:r>
          </a:p>
          <a:p>
            <a:pPr algn="l">
              <a:lnSpc>
                <a:spcPts val="4320"/>
              </a:lnSpc>
            </a:pPr>
            <a:r>
              <a:rPr lang="en-US" sz="1800" b="true">
                <a:solidFill>
                  <a:srgbClr val="3D3C42"/>
                </a:solidFill>
                <a:latin typeface="Arimo Bold"/>
                <a:ea typeface="Arimo Bold"/>
                <a:cs typeface="Arimo Bold"/>
                <a:sym typeface="Arimo Bold"/>
              </a:rPr>
              <a:t>61.2%</a:t>
            </a:r>
          </a:p>
          <a:p>
            <a:pPr algn="l">
              <a:lnSpc>
                <a:spcPts val="4320"/>
              </a:lnSpc>
            </a:pPr>
            <a:r>
              <a:rPr lang="en-US" sz="1800" b="true">
                <a:solidFill>
                  <a:srgbClr val="3D3C42"/>
                </a:solidFill>
                <a:latin typeface="Arimo Bold"/>
                <a:ea typeface="Arimo Bold"/>
                <a:cs typeface="Arimo Bold"/>
                <a:sym typeface="Arimo Bold"/>
              </a:rPr>
              <a:t>61.1%</a:t>
            </a:r>
          </a:p>
          <a:p>
            <a:pPr algn="l">
              <a:lnSpc>
                <a:spcPts val="4320"/>
              </a:lnSpc>
            </a:pPr>
            <a:r>
              <a:rPr lang="en-US" sz="1800" b="true">
                <a:solidFill>
                  <a:srgbClr val="3D3C42"/>
                </a:solidFill>
                <a:latin typeface="Arimo Bold"/>
                <a:ea typeface="Arimo Bold"/>
                <a:cs typeface="Arimo Bold"/>
                <a:sym typeface="Arimo Bold"/>
              </a:rPr>
              <a:t>60.9%</a:t>
            </a:r>
          </a:p>
          <a:p>
            <a:pPr algn="l">
              <a:lnSpc>
                <a:spcPts val="4320"/>
              </a:lnSpc>
            </a:pPr>
            <a:r>
              <a:rPr lang="en-US" sz="1800" b="true">
                <a:solidFill>
                  <a:srgbClr val="3D3C42"/>
                </a:solidFill>
                <a:latin typeface="Arimo Bold"/>
                <a:ea typeface="Arimo Bold"/>
                <a:cs typeface="Arimo Bold"/>
                <a:sym typeface="Arimo Bold"/>
              </a:rPr>
              <a:t>60.8%</a:t>
            </a:r>
          </a:p>
          <a:p>
            <a:pPr algn="l">
              <a:lnSpc>
                <a:spcPts val="4320"/>
              </a:lnSpc>
            </a:pPr>
            <a:r>
              <a:rPr lang="en-US" sz="1800" b="true">
                <a:solidFill>
                  <a:srgbClr val="3D3C42"/>
                </a:solidFill>
                <a:latin typeface="Arimo Bold"/>
                <a:ea typeface="Arimo Bold"/>
                <a:cs typeface="Arimo Bold"/>
                <a:sym typeface="Arimo Bold"/>
              </a:rPr>
              <a:t>60.6%</a:t>
            </a:r>
          </a:p>
          <a:p>
            <a:pPr algn="l">
              <a:lnSpc>
                <a:spcPts val="4320"/>
              </a:lnSpc>
            </a:pPr>
            <a:r>
              <a:rPr lang="en-US" sz="1800" b="true">
                <a:solidFill>
                  <a:srgbClr val="3D3C42"/>
                </a:solidFill>
                <a:latin typeface="Arimo Bold"/>
                <a:ea typeface="Arimo Bold"/>
                <a:cs typeface="Arimo Bold"/>
                <a:sym typeface="Arimo Bold"/>
              </a:rPr>
              <a:t>60.6%</a:t>
            </a:r>
          </a:p>
        </p:txBody>
      </p:sp>
      <p:sp>
        <p:nvSpPr>
          <p:cNvPr name="TextBox 68" id="68"/>
          <p:cNvSpPr txBox="true"/>
          <p:nvPr/>
        </p:nvSpPr>
        <p:spPr>
          <a:xfrm rot="0">
            <a:off x="12553950" y="2505075"/>
            <a:ext cx="1638300" cy="2236470"/>
          </a:xfrm>
          <a:prstGeom prst="rect">
            <a:avLst/>
          </a:prstGeom>
        </p:spPr>
        <p:txBody>
          <a:bodyPr anchor="t" rtlCol="false" tIns="0" lIns="0" bIns="0" rIns="0">
            <a:spAutoFit/>
          </a:bodyPr>
          <a:lstStyle/>
          <a:p>
            <a:pPr algn="r">
              <a:lnSpc>
                <a:spcPts val="4500"/>
              </a:lnSpc>
            </a:pPr>
            <a:r>
              <a:rPr lang="en-US" sz="1800">
                <a:solidFill>
                  <a:srgbClr val="3D3C42"/>
                </a:solidFill>
                <a:latin typeface="Arimo"/>
                <a:ea typeface="Arimo"/>
                <a:cs typeface="Arimo"/>
                <a:sym typeface="Arimo"/>
              </a:rPr>
              <a:t>First Class</a:t>
            </a:r>
          </a:p>
          <a:p>
            <a:pPr algn="r">
              <a:lnSpc>
                <a:spcPts val="4500"/>
              </a:lnSpc>
            </a:pPr>
            <a:r>
              <a:rPr lang="en-US" sz="1800">
                <a:solidFill>
                  <a:srgbClr val="3D3C42"/>
                </a:solidFill>
                <a:latin typeface="Arimo"/>
                <a:ea typeface="Arimo"/>
                <a:cs typeface="Arimo"/>
                <a:sym typeface="Arimo"/>
              </a:rPr>
              <a:t>Same Day</a:t>
            </a:r>
          </a:p>
          <a:p>
            <a:pPr algn="r">
              <a:lnSpc>
                <a:spcPts val="4500"/>
              </a:lnSpc>
            </a:pPr>
            <a:r>
              <a:rPr lang="en-US" sz="1800">
                <a:solidFill>
                  <a:srgbClr val="3D3C42"/>
                </a:solidFill>
                <a:latin typeface="Arimo"/>
                <a:ea typeface="Arimo"/>
                <a:cs typeface="Arimo"/>
                <a:sym typeface="Arimo"/>
              </a:rPr>
              <a:t>Second Class</a:t>
            </a:r>
          </a:p>
          <a:p>
            <a:pPr algn="r">
              <a:lnSpc>
                <a:spcPts val="4500"/>
              </a:lnSpc>
            </a:pPr>
            <a:r>
              <a:rPr lang="en-US" sz="1800">
                <a:solidFill>
                  <a:srgbClr val="3D3C42"/>
                </a:solidFill>
                <a:latin typeface="Arimo"/>
                <a:ea typeface="Arimo"/>
                <a:cs typeface="Arimo"/>
                <a:sym typeface="Arimo"/>
              </a:rPr>
              <a:t>Standard Class</a:t>
            </a:r>
          </a:p>
        </p:txBody>
      </p:sp>
      <p:grpSp>
        <p:nvGrpSpPr>
          <p:cNvPr name="Group 69" id="69"/>
          <p:cNvGrpSpPr/>
          <p:nvPr/>
        </p:nvGrpSpPr>
        <p:grpSpPr>
          <a:xfrm rot="0">
            <a:off x="14287500" y="2724150"/>
            <a:ext cx="1905000" cy="304800"/>
            <a:chOff x="0" y="0"/>
            <a:chExt cx="2540000" cy="406400"/>
          </a:xfrm>
        </p:grpSpPr>
        <p:sp>
          <p:nvSpPr>
            <p:cNvPr name="Freeform 70" id="70"/>
            <p:cNvSpPr/>
            <p:nvPr/>
          </p:nvSpPr>
          <p:spPr>
            <a:xfrm flipH="false" flipV="false" rot="0">
              <a:off x="0" y="0"/>
              <a:ext cx="2540000" cy="406400"/>
            </a:xfrm>
            <a:custGeom>
              <a:avLst/>
              <a:gdLst/>
              <a:ahLst/>
              <a:cxnLst/>
              <a:rect r="r" b="b" t="t" l="l"/>
              <a:pathLst>
                <a:path h="406400" w="2540000">
                  <a:moveTo>
                    <a:pt x="25400" y="0"/>
                  </a:moveTo>
                  <a:lnTo>
                    <a:pt x="2514600" y="0"/>
                  </a:lnTo>
                  <a:cubicBezTo>
                    <a:pt x="2528628" y="0"/>
                    <a:pt x="2540000" y="11372"/>
                    <a:pt x="2540000" y="25400"/>
                  </a:cubicBezTo>
                  <a:lnTo>
                    <a:pt x="2540000" y="381000"/>
                  </a:lnTo>
                  <a:cubicBezTo>
                    <a:pt x="2540000" y="395028"/>
                    <a:pt x="2528628" y="406400"/>
                    <a:pt x="2514600" y="406400"/>
                  </a:cubicBezTo>
                  <a:lnTo>
                    <a:pt x="25400" y="406400"/>
                  </a:lnTo>
                  <a:cubicBezTo>
                    <a:pt x="11372" y="406400"/>
                    <a:pt x="0" y="395028"/>
                    <a:pt x="0" y="381000"/>
                  </a:cubicBezTo>
                  <a:lnTo>
                    <a:pt x="0" y="25400"/>
                  </a:lnTo>
                  <a:cubicBezTo>
                    <a:pt x="0" y="11372"/>
                    <a:pt x="11372" y="0"/>
                    <a:pt x="25400" y="0"/>
                  </a:cubicBezTo>
                  <a:close/>
                </a:path>
              </a:pathLst>
            </a:custGeom>
            <a:solidFill>
              <a:srgbClr val="7F5283"/>
            </a:solidFill>
          </p:spPr>
        </p:sp>
        <p:sp>
          <p:nvSpPr>
            <p:cNvPr name="TextBox 71" id="71"/>
            <p:cNvSpPr txBox="true"/>
            <p:nvPr/>
          </p:nvSpPr>
          <p:spPr>
            <a:xfrm>
              <a:off x="0" y="-38100"/>
              <a:ext cx="2540000" cy="444500"/>
            </a:xfrm>
            <a:prstGeom prst="rect">
              <a:avLst/>
            </a:prstGeom>
          </p:spPr>
          <p:txBody>
            <a:bodyPr anchor="ctr" rtlCol="false" tIns="50800" lIns="50800" bIns="50800" rIns="50800"/>
            <a:lstStyle/>
            <a:p>
              <a:pPr algn="l">
                <a:lnSpc>
                  <a:spcPts val="1679"/>
                </a:lnSpc>
              </a:pPr>
            </a:p>
          </p:txBody>
        </p:sp>
      </p:grpSp>
      <p:grpSp>
        <p:nvGrpSpPr>
          <p:cNvPr name="Group 72" id="72"/>
          <p:cNvGrpSpPr/>
          <p:nvPr/>
        </p:nvGrpSpPr>
        <p:grpSpPr>
          <a:xfrm rot="0">
            <a:off x="14287500" y="3295650"/>
            <a:ext cx="1905000" cy="304800"/>
            <a:chOff x="0" y="0"/>
            <a:chExt cx="2540000" cy="406400"/>
          </a:xfrm>
        </p:grpSpPr>
        <p:sp>
          <p:nvSpPr>
            <p:cNvPr name="Freeform 73" id="73"/>
            <p:cNvSpPr/>
            <p:nvPr/>
          </p:nvSpPr>
          <p:spPr>
            <a:xfrm flipH="false" flipV="false" rot="0">
              <a:off x="0" y="0"/>
              <a:ext cx="2540000" cy="406400"/>
            </a:xfrm>
            <a:custGeom>
              <a:avLst/>
              <a:gdLst/>
              <a:ahLst/>
              <a:cxnLst/>
              <a:rect r="r" b="b" t="t" l="l"/>
              <a:pathLst>
                <a:path h="406400" w="2540000">
                  <a:moveTo>
                    <a:pt x="25400" y="0"/>
                  </a:moveTo>
                  <a:lnTo>
                    <a:pt x="2514600" y="0"/>
                  </a:lnTo>
                  <a:cubicBezTo>
                    <a:pt x="2528628" y="0"/>
                    <a:pt x="2540000" y="11372"/>
                    <a:pt x="2540000" y="25400"/>
                  </a:cubicBezTo>
                  <a:lnTo>
                    <a:pt x="2540000" y="381000"/>
                  </a:lnTo>
                  <a:cubicBezTo>
                    <a:pt x="2540000" y="395028"/>
                    <a:pt x="2528628" y="406400"/>
                    <a:pt x="2514600" y="406400"/>
                  </a:cubicBezTo>
                  <a:lnTo>
                    <a:pt x="25400" y="406400"/>
                  </a:lnTo>
                  <a:cubicBezTo>
                    <a:pt x="11372" y="406400"/>
                    <a:pt x="0" y="395028"/>
                    <a:pt x="0" y="381000"/>
                  </a:cubicBezTo>
                  <a:lnTo>
                    <a:pt x="0" y="25400"/>
                  </a:lnTo>
                  <a:cubicBezTo>
                    <a:pt x="0" y="11372"/>
                    <a:pt x="11372" y="0"/>
                    <a:pt x="25400" y="0"/>
                  </a:cubicBezTo>
                  <a:close/>
                </a:path>
              </a:pathLst>
            </a:custGeom>
            <a:solidFill>
              <a:srgbClr val="7F5283"/>
            </a:solidFill>
          </p:spPr>
        </p:sp>
        <p:sp>
          <p:nvSpPr>
            <p:cNvPr name="TextBox 74" id="74"/>
            <p:cNvSpPr txBox="true"/>
            <p:nvPr/>
          </p:nvSpPr>
          <p:spPr>
            <a:xfrm>
              <a:off x="0" y="-38100"/>
              <a:ext cx="2540000" cy="444500"/>
            </a:xfrm>
            <a:prstGeom prst="rect">
              <a:avLst/>
            </a:prstGeom>
          </p:spPr>
          <p:txBody>
            <a:bodyPr anchor="ctr" rtlCol="false" tIns="50800" lIns="50800" bIns="50800" rIns="50800"/>
            <a:lstStyle/>
            <a:p>
              <a:pPr algn="l">
                <a:lnSpc>
                  <a:spcPts val="1679"/>
                </a:lnSpc>
              </a:pPr>
            </a:p>
          </p:txBody>
        </p:sp>
      </p:grpSp>
      <p:grpSp>
        <p:nvGrpSpPr>
          <p:cNvPr name="Group 75" id="75"/>
          <p:cNvGrpSpPr/>
          <p:nvPr/>
        </p:nvGrpSpPr>
        <p:grpSpPr>
          <a:xfrm rot="0">
            <a:off x="14287500" y="3867150"/>
            <a:ext cx="1520190" cy="304800"/>
            <a:chOff x="0" y="0"/>
            <a:chExt cx="2026920" cy="406400"/>
          </a:xfrm>
        </p:grpSpPr>
        <p:sp>
          <p:nvSpPr>
            <p:cNvPr name="Freeform 76" id="76"/>
            <p:cNvSpPr/>
            <p:nvPr/>
          </p:nvSpPr>
          <p:spPr>
            <a:xfrm flipH="false" flipV="false" rot="0">
              <a:off x="0" y="0"/>
              <a:ext cx="2026920" cy="406400"/>
            </a:xfrm>
            <a:custGeom>
              <a:avLst/>
              <a:gdLst/>
              <a:ahLst/>
              <a:cxnLst/>
              <a:rect r="r" b="b" t="t" l="l"/>
              <a:pathLst>
                <a:path h="406400" w="2026920">
                  <a:moveTo>
                    <a:pt x="31830" y="0"/>
                  </a:moveTo>
                  <a:lnTo>
                    <a:pt x="1995090" y="0"/>
                  </a:lnTo>
                  <a:cubicBezTo>
                    <a:pt x="2003532" y="0"/>
                    <a:pt x="2011628" y="3353"/>
                    <a:pt x="2017597" y="9323"/>
                  </a:cubicBezTo>
                  <a:cubicBezTo>
                    <a:pt x="2023567" y="15292"/>
                    <a:pt x="2026920" y="23388"/>
                    <a:pt x="2026920" y="31830"/>
                  </a:cubicBezTo>
                  <a:lnTo>
                    <a:pt x="2026920" y="374570"/>
                  </a:lnTo>
                  <a:cubicBezTo>
                    <a:pt x="2026920" y="383012"/>
                    <a:pt x="2023567" y="391108"/>
                    <a:pt x="2017597" y="397077"/>
                  </a:cubicBezTo>
                  <a:cubicBezTo>
                    <a:pt x="2011628" y="403047"/>
                    <a:pt x="2003532" y="406400"/>
                    <a:pt x="1995090" y="406400"/>
                  </a:cubicBezTo>
                  <a:lnTo>
                    <a:pt x="31830" y="406400"/>
                  </a:lnTo>
                  <a:cubicBezTo>
                    <a:pt x="23388" y="406400"/>
                    <a:pt x="15292" y="403047"/>
                    <a:pt x="9323" y="397077"/>
                  </a:cubicBezTo>
                  <a:cubicBezTo>
                    <a:pt x="3353" y="391108"/>
                    <a:pt x="0" y="383012"/>
                    <a:pt x="0" y="374570"/>
                  </a:cubicBezTo>
                  <a:lnTo>
                    <a:pt x="0" y="31830"/>
                  </a:lnTo>
                  <a:cubicBezTo>
                    <a:pt x="0" y="23388"/>
                    <a:pt x="3353" y="15292"/>
                    <a:pt x="9323" y="9323"/>
                  </a:cubicBezTo>
                  <a:cubicBezTo>
                    <a:pt x="15292" y="3353"/>
                    <a:pt x="23388" y="0"/>
                    <a:pt x="31830" y="0"/>
                  </a:cubicBezTo>
                  <a:close/>
                </a:path>
              </a:pathLst>
            </a:custGeom>
            <a:solidFill>
              <a:srgbClr val="9DB2CE"/>
            </a:solidFill>
          </p:spPr>
        </p:sp>
        <p:sp>
          <p:nvSpPr>
            <p:cNvPr name="TextBox 77" id="77"/>
            <p:cNvSpPr txBox="true"/>
            <p:nvPr/>
          </p:nvSpPr>
          <p:spPr>
            <a:xfrm>
              <a:off x="0" y="-38100"/>
              <a:ext cx="2026920" cy="444500"/>
            </a:xfrm>
            <a:prstGeom prst="rect">
              <a:avLst/>
            </a:prstGeom>
          </p:spPr>
          <p:txBody>
            <a:bodyPr anchor="ctr" rtlCol="false" tIns="50800" lIns="50800" bIns="50800" rIns="50800"/>
            <a:lstStyle/>
            <a:p>
              <a:pPr algn="l">
                <a:lnSpc>
                  <a:spcPts val="1679"/>
                </a:lnSpc>
              </a:pPr>
            </a:p>
          </p:txBody>
        </p:sp>
      </p:grpSp>
      <p:grpSp>
        <p:nvGrpSpPr>
          <p:cNvPr name="Group 78" id="78"/>
          <p:cNvGrpSpPr/>
          <p:nvPr/>
        </p:nvGrpSpPr>
        <p:grpSpPr>
          <a:xfrm rot="0">
            <a:off x="14287500" y="4438650"/>
            <a:ext cx="758190" cy="304800"/>
            <a:chOff x="0" y="0"/>
            <a:chExt cx="1010920" cy="406400"/>
          </a:xfrm>
        </p:grpSpPr>
        <p:sp>
          <p:nvSpPr>
            <p:cNvPr name="Freeform 79" id="79"/>
            <p:cNvSpPr/>
            <p:nvPr/>
          </p:nvSpPr>
          <p:spPr>
            <a:xfrm flipH="false" flipV="false" rot="0">
              <a:off x="0" y="0"/>
              <a:ext cx="1010920" cy="406400"/>
            </a:xfrm>
            <a:custGeom>
              <a:avLst/>
              <a:gdLst/>
              <a:ahLst/>
              <a:cxnLst/>
              <a:rect r="r" b="b" t="t" l="l"/>
              <a:pathLst>
                <a:path h="406400" w="1010920">
                  <a:moveTo>
                    <a:pt x="63819" y="0"/>
                  </a:moveTo>
                  <a:lnTo>
                    <a:pt x="947101" y="0"/>
                  </a:lnTo>
                  <a:cubicBezTo>
                    <a:pt x="982347" y="0"/>
                    <a:pt x="1010920" y="28573"/>
                    <a:pt x="1010920" y="63819"/>
                  </a:cubicBezTo>
                  <a:lnTo>
                    <a:pt x="1010920" y="342581"/>
                  </a:lnTo>
                  <a:cubicBezTo>
                    <a:pt x="1010920" y="377827"/>
                    <a:pt x="982347" y="406400"/>
                    <a:pt x="947101" y="406400"/>
                  </a:cubicBezTo>
                  <a:lnTo>
                    <a:pt x="63819" y="406400"/>
                  </a:lnTo>
                  <a:cubicBezTo>
                    <a:pt x="28573" y="406400"/>
                    <a:pt x="0" y="377827"/>
                    <a:pt x="0" y="342581"/>
                  </a:cubicBezTo>
                  <a:lnTo>
                    <a:pt x="0" y="63819"/>
                  </a:lnTo>
                  <a:cubicBezTo>
                    <a:pt x="0" y="28573"/>
                    <a:pt x="28573" y="0"/>
                    <a:pt x="63819" y="0"/>
                  </a:cubicBezTo>
                  <a:close/>
                </a:path>
              </a:pathLst>
            </a:custGeom>
            <a:solidFill>
              <a:srgbClr val="A6D1E6"/>
            </a:solidFill>
          </p:spPr>
        </p:sp>
        <p:sp>
          <p:nvSpPr>
            <p:cNvPr name="TextBox 80" id="80"/>
            <p:cNvSpPr txBox="true"/>
            <p:nvPr/>
          </p:nvSpPr>
          <p:spPr>
            <a:xfrm>
              <a:off x="0" y="-38100"/>
              <a:ext cx="1010920" cy="444500"/>
            </a:xfrm>
            <a:prstGeom prst="rect">
              <a:avLst/>
            </a:prstGeom>
          </p:spPr>
          <p:txBody>
            <a:bodyPr anchor="ctr" rtlCol="false" tIns="50800" lIns="50800" bIns="50800" rIns="50800"/>
            <a:lstStyle/>
            <a:p>
              <a:pPr algn="l">
                <a:lnSpc>
                  <a:spcPts val="1679"/>
                </a:lnSpc>
              </a:pPr>
            </a:p>
          </p:txBody>
        </p:sp>
      </p:grpSp>
      <p:sp>
        <p:nvSpPr>
          <p:cNvPr name="TextBox 81" id="81"/>
          <p:cNvSpPr txBox="true"/>
          <p:nvPr/>
        </p:nvSpPr>
        <p:spPr>
          <a:xfrm rot="0">
            <a:off x="16287750" y="2505075"/>
            <a:ext cx="904875" cy="2236470"/>
          </a:xfrm>
          <a:prstGeom prst="rect">
            <a:avLst/>
          </a:prstGeom>
        </p:spPr>
        <p:txBody>
          <a:bodyPr anchor="t" rtlCol="false" tIns="0" lIns="0" bIns="0" rIns="0">
            <a:spAutoFit/>
          </a:bodyPr>
          <a:lstStyle/>
          <a:p>
            <a:pPr algn="l">
              <a:lnSpc>
                <a:spcPts val="4500"/>
              </a:lnSpc>
            </a:pPr>
            <a:r>
              <a:rPr lang="en-US" sz="1800" b="true">
                <a:solidFill>
                  <a:srgbClr val="3D3C42"/>
                </a:solidFill>
                <a:latin typeface="Arimo Bold"/>
                <a:ea typeface="Arimo Bold"/>
                <a:cs typeface="Arimo Bold"/>
                <a:sym typeface="Arimo Bold"/>
              </a:rPr>
              <a:t>100%</a:t>
            </a:r>
          </a:p>
          <a:p>
            <a:pPr algn="l">
              <a:lnSpc>
                <a:spcPts val="4500"/>
              </a:lnSpc>
            </a:pPr>
            <a:r>
              <a:rPr lang="en-US" sz="1800" b="true">
                <a:solidFill>
                  <a:srgbClr val="3D3C42"/>
                </a:solidFill>
                <a:latin typeface="Arimo Bold"/>
                <a:ea typeface="Arimo Bold"/>
                <a:cs typeface="Arimo Bold"/>
                <a:sym typeface="Arimo Bold"/>
              </a:rPr>
              <a:t>100%</a:t>
            </a:r>
          </a:p>
          <a:p>
            <a:pPr algn="l">
              <a:lnSpc>
                <a:spcPts val="4500"/>
              </a:lnSpc>
            </a:pPr>
            <a:r>
              <a:rPr lang="en-US" sz="1800" b="true">
                <a:solidFill>
                  <a:srgbClr val="3D3C42"/>
                </a:solidFill>
                <a:latin typeface="Arimo Bold"/>
                <a:ea typeface="Arimo Bold"/>
                <a:cs typeface="Arimo Bold"/>
                <a:sym typeface="Arimo Bold"/>
              </a:rPr>
              <a:t>79.8%</a:t>
            </a:r>
          </a:p>
          <a:p>
            <a:pPr algn="l">
              <a:lnSpc>
                <a:spcPts val="4500"/>
              </a:lnSpc>
            </a:pPr>
            <a:r>
              <a:rPr lang="en-US" sz="1800" b="true">
                <a:solidFill>
                  <a:srgbClr val="3D3C42"/>
                </a:solidFill>
                <a:latin typeface="Arimo Bold"/>
                <a:ea typeface="Arimo Bold"/>
                <a:cs typeface="Arimo Bold"/>
                <a:sym typeface="Arimo Bold"/>
              </a:rPr>
              <a:t>39.8%</a:t>
            </a:r>
          </a:p>
        </p:txBody>
      </p:sp>
    </p:spTree>
  </p:cSld>
  <p:clrMapOvr>
    <a:masterClrMapping/>
  </p:clrMapOvr>
</p:sld>
</file>

<file path=ppt/slides/slide8.xml><?xml version="1.0" encoding="utf-8"?>
<p:sld xmlns:p="http://schemas.openxmlformats.org/presentationml/2006/main" xmlns:a="http://schemas.openxmlformats.org/drawingml/2006/main">
  <p:cSld>
    <p:bg>
      <p:bgPr>
        <a:solidFill>
          <a:srgbClr val="FEFBF6"/>
        </a:solidFill>
      </p:bgPr>
    </p:bg>
    <p:spTree>
      <p:nvGrpSpPr>
        <p:cNvPr id="1" name=""/>
        <p:cNvGrpSpPr/>
        <p:nvPr/>
      </p:nvGrpSpPr>
      <p:grpSpPr>
        <a:xfrm>
          <a:off x="0" y="0"/>
          <a:ext cx="0" cy="0"/>
          <a:chOff x="0" y="0"/>
          <a:chExt cx="0" cy="0"/>
        </a:xfrm>
      </p:grpSpPr>
      <p:grpSp>
        <p:nvGrpSpPr>
          <p:cNvPr name="Group 2" id="2"/>
          <p:cNvGrpSpPr/>
          <p:nvPr/>
        </p:nvGrpSpPr>
        <p:grpSpPr>
          <a:xfrm rot="0">
            <a:off x="1028700" y="2659714"/>
            <a:ext cx="3468449" cy="3950566"/>
            <a:chOff x="0" y="0"/>
            <a:chExt cx="1206998" cy="1374771"/>
          </a:xfrm>
        </p:grpSpPr>
        <p:sp>
          <p:nvSpPr>
            <p:cNvPr name="Freeform 3" id="3"/>
            <p:cNvSpPr/>
            <p:nvPr/>
          </p:nvSpPr>
          <p:spPr>
            <a:xfrm flipH="false" flipV="false" rot="0">
              <a:off x="0" y="0"/>
              <a:ext cx="1206998" cy="1374771"/>
            </a:xfrm>
            <a:custGeom>
              <a:avLst/>
              <a:gdLst/>
              <a:ahLst/>
              <a:cxnLst/>
              <a:rect r="r" b="b" t="t" l="l"/>
              <a:pathLst>
                <a:path h="1374771" w="1206998">
                  <a:moveTo>
                    <a:pt x="44642" y="0"/>
                  </a:moveTo>
                  <a:lnTo>
                    <a:pt x="1162356" y="0"/>
                  </a:lnTo>
                  <a:cubicBezTo>
                    <a:pt x="1174195" y="0"/>
                    <a:pt x="1185550" y="4703"/>
                    <a:pt x="1193922" y="13075"/>
                  </a:cubicBezTo>
                  <a:cubicBezTo>
                    <a:pt x="1202294" y="21447"/>
                    <a:pt x="1206998" y="32802"/>
                    <a:pt x="1206998" y="44642"/>
                  </a:cubicBezTo>
                  <a:lnTo>
                    <a:pt x="1206998" y="1330129"/>
                  </a:lnTo>
                  <a:cubicBezTo>
                    <a:pt x="1206998" y="1341969"/>
                    <a:pt x="1202294" y="1353324"/>
                    <a:pt x="1193922" y="1361696"/>
                  </a:cubicBezTo>
                  <a:cubicBezTo>
                    <a:pt x="1185550" y="1370068"/>
                    <a:pt x="1174195" y="1374771"/>
                    <a:pt x="1162356" y="1374771"/>
                  </a:cubicBezTo>
                  <a:lnTo>
                    <a:pt x="44642" y="1374771"/>
                  </a:lnTo>
                  <a:cubicBezTo>
                    <a:pt x="32802" y="1374771"/>
                    <a:pt x="21447" y="1370068"/>
                    <a:pt x="13075" y="1361696"/>
                  </a:cubicBezTo>
                  <a:cubicBezTo>
                    <a:pt x="4703" y="1353324"/>
                    <a:pt x="0" y="1341969"/>
                    <a:pt x="0" y="1330129"/>
                  </a:cubicBezTo>
                  <a:lnTo>
                    <a:pt x="0" y="44642"/>
                  </a:lnTo>
                  <a:cubicBezTo>
                    <a:pt x="0" y="32802"/>
                    <a:pt x="4703" y="21447"/>
                    <a:pt x="13075" y="13075"/>
                  </a:cubicBezTo>
                  <a:cubicBezTo>
                    <a:pt x="21447" y="4703"/>
                    <a:pt x="32802" y="0"/>
                    <a:pt x="44642" y="0"/>
                  </a:cubicBezTo>
                  <a:close/>
                </a:path>
              </a:pathLst>
            </a:custGeom>
            <a:solidFill>
              <a:srgbClr val="A6D1E6"/>
            </a:solidFill>
            <a:ln w="38100" cap="sq">
              <a:solidFill>
                <a:srgbClr val="A6D1E6"/>
              </a:solidFill>
              <a:prstDash val="solid"/>
              <a:miter/>
            </a:ln>
          </p:spPr>
        </p:sp>
        <p:sp>
          <p:nvSpPr>
            <p:cNvPr name="TextBox 4" id="4"/>
            <p:cNvSpPr txBox="true"/>
            <p:nvPr/>
          </p:nvSpPr>
          <p:spPr>
            <a:xfrm>
              <a:off x="0" y="-38100"/>
              <a:ext cx="1206998" cy="1412871"/>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2282932" y="1028700"/>
            <a:ext cx="4976368" cy="8229600"/>
            <a:chOff x="0" y="0"/>
            <a:chExt cx="1731743" cy="2863847"/>
          </a:xfrm>
        </p:grpSpPr>
        <p:sp>
          <p:nvSpPr>
            <p:cNvPr name="Freeform 6" id="6"/>
            <p:cNvSpPr/>
            <p:nvPr/>
          </p:nvSpPr>
          <p:spPr>
            <a:xfrm flipH="false" flipV="false" rot="0">
              <a:off x="0" y="0"/>
              <a:ext cx="1731743" cy="2863847"/>
            </a:xfrm>
            <a:custGeom>
              <a:avLst/>
              <a:gdLst/>
              <a:ahLst/>
              <a:cxnLst/>
              <a:rect r="r" b="b" t="t" l="l"/>
              <a:pathLst>
                <a:path h="2863847" w="1731743">
                  <a:moveTo>
                    <a:pt x="31115" y="0"/>
                  </a:moveTo>
                  <a:lnTo>
                    <a:pt x="1700629" y="0"/>
                  </a:lnTo>
                  <a:cubicBezTo>
                    <a:pt x="1717813" y="0"/>
                    <a:pt x="1731743" y="13931"/>
                    <a:pt x="1731743" y="31115"/>
                  </a:cubicBezTo>
                  <a:lnTo>
                    <a:pt x="1731743" y="2832732"/>
                  </a:lnTo>
                  <a:cubicBezTo>
                    <a:pt x="1731743" y="2849916"/>
                    <a:pt x="1717813" y="2863847"/>
                    <a:pt x="1700629" y="2863847"/>
                  </a:cubicBezTo>
                  <a:lnTo>
                    <a:pt x="31115" y="2863847"/>
                  </a:lnTo>
                  <a:cubicBezTo>
                    <a:pt x="13931" y="2863847"/>
                    <a:pt x="0" y="2849916"/>
                    <a:pt x="0" y="2832732"/>
                  </a:cubicBezTo>
                  <a:lnTo>
                    <a:pt x="0" y="31115"/>
                  </a:lnTo>
                  <a:cubicBezTo>
                    <a:pt x="0" y="13931"/>
                    <a:pt x="13931" y="0"/>
                    <a:pt x="31115" y="0"/>
                  </a:cubicBezTo>
                  <a:close/>
                </a:path>
              </a:pathLst>
            </a:custGeom>
            <a:ln w="38100" cap="sq">
              <a:solidFill>
                <a:srgbClr val="A6D1E6"/>
              </a:solidFill>
              <a:prstDash val="solid"/>
              <a:miter/>
            </a:ln>
          </p:spPr>
        </p:sp>
        <p:sp>
          <p:nvSpPr>
            <p:cNvPr name="TextBox 7" id="7"/>
            <p:cNvSpPr txBox="true"/>
            <p:nvPr/>
          </p:nvSpPr>
          <p:spPr>
            <a:xfrm>
              <a:off x="0" y="-38100"/>
              <a:ext cx="1731743" cy="2901947"/>
            </a:xfrm>
            <a:prstGeom prst="rect">
              <a:avLst/>
            </a:prstGeom>
          </p:spPr>
          <p:txBody>
            <a:bodyPr anchor="ctr" rtlCol="false" tIns="50800" lIns="50800" bIns="50800" rIns="50800"/>
            <a:lstStyle/>
            <a:p>
              <a:pPr algn="ctr">
                <a:lnSpc>
                  <a:spcPts val="2659"/>
                </a:lnSpc>
              </a:pPr>
            </a:p>
          </p:txBody>
        </p:sp>
      </p:grpSp>
      <p:sp>
        <p:nvSpPr>
          <p:cNvPr name="AutoShape 8" id="8"/>
          <p:cNvSpPr/>
          <p:nvPr/>
        </p:nvSpPr>
        <p:spPr>
          <a:xfrm>
            <a:off x="12719190" y="3457340"/>
            <a:ext cx="4128512" cy="0"/>
          </a:xfrm>
          <a:prstGeom prst="line">
            <a:avLst/>
          </a:prstGeom>
          <a:ln cap="rnd" w="19050">
            <a:solidFill>
              <a:srgbClr val="A6D1E6"/>
            </a:solidFill>
            <a:prstDash val="solid"/>
            <a:headEnd type="none" len="sm" w="sm"/>
            <a:tailEnd type="none" len="sm" w="sm"/>
          </a:ln>
        </p:spPr>
      </p:sp>
      <p:sp>
        <p:nvSpPr>
          <p:cNvPr name="AutoShape 9" id="9"/>
          <p:cNvSpPr/>
          <p:nvPr/>
        </p:nvSpPr>
        <p:spPr>
          <a:xfrm>
            <a:off x="12719190" y="5313474"/>
            <a:ext cx="4128512" cy="0"/>
          </a:xfrm>
          <a:prstGeom prst="line">
            <a:avLst/>
          </a:prstGeom>
          <a:ln cap="rnd" w="19050">
            <a:solidFill>
              <a:srgbClr val="A6D1E6"/>
            </a:solidFill>
            <a:prstDash val="solid"/>
            <a:headEnd type="none" len="sm" w="sm"/>
            <a:tailEnd type="none" len="sm" w="sm"/>
          </a:ln>
        </p:spPr>
      </p:sp>
      <p:sp>
        <p:nvSpPr>
          <p:cNvPr name="AutoShape 10" id="10"/>
          <p:cNvSpPr/>
          <p:nvPr/>
        </p:nvSpPr>
        <p:spPr>
          <a:xfrm>
            <a:off x="12719190" y="7169608"/>
            <a:ext cx="4128512" cy="0"/>
          </a:xfrm>
          <a:prstGeom prst="line">
            <a:avLst/>
          </a:prstGeom>
          <a:ln cap="rnd" w="19050">
            <a:solidFill>
              <a:srgbClr val="A6D1E6"/>
            </a:solidFill>
            <a:prstDash val="solid"/>
            <a:headEnd type="none" len="sm" w="sm"/>
            <a:tailEnd type="none" len="sm" w="sm"/>
          </a:ln>
        </p:spPr>
      </p:sp>
      <p:grpSp>
        <p:nvGrpSpPr>
          <p:cNvPr name="Group 11" id="11"/>
          <p:cNvGrpSpPr/>
          <p:nvPr/>
        </p:nvGrpSpPr>
        <p:grpSpPr>
          <a:xfrm rot="0">
            <a:off x="1028700" y="6814183"/>
            <a:ext cx="10988157" cy="2444117"/>
            <a:chOff x="0" y="0"/>
            <a:chExt cx="3823807" cy="850537"/>
          </a:xfrm>
        </p:grpSpPr>
        <p:sp>
          <p:nvSpPr>
            <p:cNvPr name="Freeform 12" id="12"/>
            <p:cNvSpPr/>
            <p:nvPr/>
          </p:nvSpPr>
          <p:spPr>
            <a:xfrm flipH="false" flipV="false" rot="0">
              <a:off x="0" y="0"/>
              <a:ext cx="3823807" cy="850537"/>
            </a:xfrm>
            <a:custGeom>
              <a:avLst/>
              <a:gdLst/>
              <a:ahLst/>
              <a:cxnLst/>
              <a:rect r="r" b="b" t="t" l="l"/>
              <a:pathLst>
                <a:path h="850537" w="3823807">
                  <a:moveTo>
                    <a:pt x="14091" y="0"/>
                  </a:moveTo>
                  <a:lnTo>
                    <a:pt x="3809715" y="0"/>
                  </a:lnTo>
                  <a:cubicBezTo>
                    <a:pt x="3813453" y="0"/>
                    <a:pt x="3817037" y="1485"/>
                    <a:pt x="3819679" y="4127"/>
                  </a:cubicBezTo>
                  <a:cubicBezTo>
                    <a:pt x="3822322" y="6770"/>
                    <a:pt x="3823807" y="10354"/>
                    <a:pt x="3823807" y="14091"/>
                  </a:cubicBezTo>
                  <a:lnTo>
                    <a:pt x="3823807" y="836445"/>
                  </a:lnTo>
                  <a:cubicBezTo>
                    <a:pt x="3823807" y="840183"/>
                    <a:pt x="3822322" y="843767"/>
                    <a:pt x="3819679" y="846409"/>
                  </a:cubicBezTo>
                  <a:cubicBezTo>
                    <a:pt x="3817037" y="849052"/>
                    <a:pt x="3813453" y="850537"/>
                    <a:pt x="3809715" y="850537"/>
                  </a:cubicBezTo>
                  <a:lnTo>
                    <a:pt x="14091" y="850537"/>
                  </a:lnTo>
                  <a:cubicBezTo>
                    <a:pt x="10354" y="850537"/>
                    <a:pt x="6770" y="849052"/>
                    <a:pt x="4127" y="846409"/>
                  </a:cubicBezTo>
                  <a:cubicBezTo>
                    <a:pt x="1485" y="843767"/>
                    <a:pt x="0" y="840183"/>
                    <a:pt x="0" y="836445"/>
                  </a:cubicBezTo>
                  <a:lnTo>
                    <a:pt x="0" y="14091"/>
                  </a:lnTo>
                  <a:cubicBezTo>
                    <a:pt x="0" y="10354"/>
                    <a:pt x="1485" y="6770"/>
                    <a:pt x="4127" y="4127"/>
                  </a:cubicBezTo>
                  <a:cubicBezTo>
                    <a:pt x="6770" y="1485"/>
                    <a:pt x="10354" y="0"/>
                    <a:pt x="14091" y="0"/>
                  </a:cubicBezTo>
                  <a:close/>
                </a:path>
              </a:pathLst>
            </a:custGeom>
            <a:ln w="38100" cap="sq">
              <a:solidFill>
                <a:srgbClr val="A6D1E6"/>
              </a:solidFill>
              <a:prstDash val="solid"/>
              <a:miter/>
            </a:ln>
          </p:spPr>
        </p:sp>
        <p:sp>
          <p:nvSpPr>
            <p:cNvPr name="TextBox 13" id="13"/>
            <p:cNvSpPr txBox="true"/>
            <p:nvPr/>
          </p:nvSpPr>
          <p:spPr>
            <a:xfrm>
              <a:off x="0" y="-38100"/>
              <a:ext cx="3823807" cy="888637"/>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0">
            <a:off x="4763225" y="2659714"/>
            <a:ext cx="7253632" cy="3950566"/>
            <a:chOff x="0" y="0"/>
            <a:chExt cx="2524217" cy="1374771"/>
          </a:xfrm>
        </p:grpSpPr>
        <p:sp>
          <p:nvSpPr>
            <p:cNvPr name="Freeform 15" id="15"/>
            <p:cNvSpPr/>
            <p:nvPr/>
          </p:nvSpPr>
          <p:spPr>
            <a:xfrm flipH="false" flipV="false" rot="0">
              <a:off x="0" y="0"/>
              <a:ext cx="2524217" cy="1374771"/>
            </a:xfrm>
            <a:custGeom>
              <a:avLst/>
              <a:gdLst/>
              <a:ahLst/>
              <a:cxnLst/>
              <a:rect r="r" b="b" t="t" l="l"/>
              <a:pathLst>
                <a:path h="1374771" w="2524217">
                  <a:moveTo>
                    <a:pt x="21346" y="0"/>
                  </a:moveTo>
                  <a:lnTo>
                    <a:pt x="2502870" y="0"/>
                  </a:lnTo>
                  <a:cubicBezTo>
                    <a:pt x="2514659" y="0"/>
                    <a:pt x="2524217" y="9557"/>
                    <a:pt x="2524217" y="21346"/>
                  </a:cubicBezTo>
                  <a:lnTo>
                    <a:pt x="2524217" y="1353425"/>
                  </a:lnTo>
                  <a:cubicBezTo>
                    <a:pt x="2524217" y="1365214"/>
                    <a:pt x="2514659" y="1374771"/>
                    <a:pt x="2502870" y="1374771"/>
                  </a:cubicBezTo>
                  <a:lnTo>
                    <a:pt x="21346" y="1374771"/>
                  </a:lnTo>
                  <a:cubicBezTo>
                    <a:pt x="9557" y="1374771"/>
                    <a:pt x="0" y="1365214"/>
                    <a:pt x="0" y="1353425"/>
                  </a:cubicBezTo>
                  <a:lnTo>
                    <a:pt x="0" y="21346"/>
                  </a:lnTo>
                  <a:cubicBezTo>
                    <a:pt x="0" y="9557"/>
                    <a:pt x="9557" y="0"/>
                    <a:pt x="21346" y="0"/>
                  </a:cubicBezTo>
                  <a:close/>
                </a:path>
              </a:pathLst>
            </a:custGeom>
            <a:ln w="38100" cap="sq">
              <a:solidFill>
                <a:srgbClr val="A6D1E6"/>
              </a:solidFill>
              <a:prstDash val="solid"/>
              <a:miter/>
            </a:ln>
          </p:spPr>
        </p:sp>
        <p:sp>
          <p:nvSpPr>
            <p:cNvPr name="TextBox 16" id="16"/>
            <p:cNvSpPr txBox="true"/>
            <p:nvPr/>
          </p:nvSpPr>
          <p:spPr>
            <a:xfrm>
              <a:off x="0" y="-38100"/>
              <a:ext cx="2524217" cy="1412871"/>
            </a:xfrm>
            <a:prstGeom prst="rect">
              <a:avLst/>
            </a:prstGeom>
          </p:spPr>
          <p:txBody>
            <a:bodyPr anchor="ctr" rtlCol="false" tIns="50800" lIns="50800" bIns="50800" rIns="50800"/>
            <a:lstStyle/>
            <a:p>
              <a:pPr algn="ctr">
                <a:lnSpc>
                  <a:spcPts val="2659"/>
                </a:lnSpc>
              </a:pPr>
            </a:p>
          </p:txBody>
        </p:sp>
      </p:grpSp>
      <p:sp>
        <p:nvSpPr>
          <p:cNvPr name="TextBox 17" id="17"/>
          <p:cNvSpPr txBox="true"/>
          <p:nvPr/>
        </p:nvSpPr>
        <p:spPr>
          <a:xfrm rot="0">
            <a:off x="1028700" y="1076325"/>
            <a:ext cx="11254232" cy="680085"/>
          </a:xfrm>
          <a:prstGeom prst="rect">
            <a:avLst/>
          </a:prstGeom>
        </p:spPr>
        <p:txBody>
          <a:bodyPr anchor="t" rtlCol="false" tIns="0" lIns="0" bIns="0" rIns="0">
            <a:spAutoFit/>
          </a:bodyPr>
          <a:lstStyle/>
          <a:p>
            <a:pPr algn="l" marL="0" indent="0" lvl="0">
              <a:lnSpc>
                <a:spcPts val="5280"/>
              </a:lnSpc>
              <a:spcBef>
                <a:spcPct val="0"/>
              </a:spcBef>
            </a:pPr>
            <a:r>
              <a:rPr lang="en-US" b="true" sz="4800" strike="noStrike" u="none">
                <a:solidFill>
                  <a:srgbClr val="3D3C42"/>
                </a:solidFill>
                <a:latin typeface="Inter Bold"/>
                <a:ea typeface="Inter Bold"/>
                <a:cs typeface="Inter Bold"/>
                <a:sym typeface="Inter Bold"/>
              </a:rPr>
              <a:t>Root Cause: Central Africa</a:t>
            </a:r>
          </a:p>
        </p:txBody>
      </p:sp>
      <p:sp>
        <p:nvSpPr>
          <p:cNvPr name="TextBox 18" id="18"/>
          <p:cNvSpPr txBox="true"/>
          <p:nvPr/>
        </p:nvSpPr>
        <p:spPr>
          <a:xfrm rot="0">
            <a:off x="1028700" y="3022489"/>
            <a:ext cx="3467825" cy="579120"/>
          </a:xfrm>
          <a:prstGeom prst="rect">
            <a:avLst/>
          </a:prstGeom>
        </p:spPr>
        <p:txBody>
          <a:bodyPr anchor="t" rtlCol="false" tIns="0" lIns="0" bIns="0" rIns="0">
            <a:spAutoFit/>
          </a:bodyPr>
          <a:lstStyle/>
          <a:p>
            <a:pPr algn="ctr" marL="0" indent="0" lvl="0">
              <a:lnSpc>
                <a:spcPts val="2310"/>
              </a:lnSpc>
              <a:spcBef>
                <a:spcPct val="0"/>
              </a:spcBef>
            </a:pPr>
            <a:r>
              <a:rPr lang="en-US" b="true" sz="2100" strike="noStrike" u="none">
                <a:solidFill>
                  <a:srgbClr val="3D3C42"/>
                </a:solidFill>
                <a:latin typeface="Inter Bold"/>
                <a:ea typeface="Inter Bold"/>
                <a:cs typeface="Inter Bold"/>
                <a:sym typeface="Inter Bold"/>
              </a:rPr>
              <a:t>Central Africa</a:t>
            </a:r>
          </a:p>
          <a:p>
            <a:pPr algn="ctr" marL="0" indent="0" lvl="0">
              <a:lnSpc>
                <a:spcPts val="2310"/>
              </a:lnSpc>
              <a:spcBef>
                <a:spcPct val="0"/>
              </a:spcBef>
            </a:pPr>
            <a:r>
              <a:rPr lang="en-US" b="true" sz="2100" strike="noStrike" u="none">
                <a:solidFill>
                  <a:srgbClr val="3D3C42"/>
                </a:solidFill>
                <a:latin typeface="Inter Bold"/>
                <a:ea typeface="Inter Bold"/>
                <a:cs typeface="Inter Bold"/>
                <a:sym typeface="Inter Bold"/>
              </a:rPr>
              <a:t>Late Rate</a:t>
            </a:r>
          </a:p>
        </p:txBody>
      </p:sp>
      <p:sp>
        <p:nvSpPr>
          <p:cNvPr name="TextBox 19" id="19"/>
          <p:cNvSpPr txBox="true"/>
          <p:nvPr/>
        </p:nvSpPr>
        <p:spPr>
          <a:xfrm rot="0">
            <a:off x="12719190" y="1463040"/>
            <a:ext cx="4103852" cy="293370"/>
          </a:xfrm>
          <a:prstGeom prst="rect">
            <a:avLst/>
          </a:prstGeom>
        </p:spPr>
        <p:txBody>
          <a:bodyPr anchor="t" rtlCol="false" tIns="0" lIns="0" bIns="0" rIns="0">
            <a:spAutoFit/>
          </a:bodyPr>
          <a:lstStyle/>
          <a:p>
            <a:pPr algn="l" marL="0" indent="0" lvl="0">
              <a:lnSpc>
                <a:spcPts val="2310"/>
              </a:lnSpc>
              <a:spcBef>
                <a:spcPct val="0"/>
              </a:spcBef>
            </a:pPr>
            <a:r>
              <a:rPr lang="en-US" b="true" sz="2100" strike="noStrike" u="none">
                <a:solidFill>
                  <a:srgbClr val="3D3C42"/>
                </a:solidFill>
                <a:latin typeface="Inter Bold"/>
                <a:ea typeface="Inter Bold"/>
                <a:cs typeface="Inter Bold"/>
                <a:sym typeface="Inter Bold"/>
              </a:rPr>
              <a:t>Highest Late Rate by Driver</a:t>
            </a:r>
          </a:p>
        </p:txBody>
      </p:sp>
      <p:sp>
        <p:nvSpPr>
          <p:cNvPr name="TextBox 20" id="20"/>
          <p:cNvSpPr txBox="true"/>
          <p:nvPr/>
        </p:nvSpPr>
        <p:spPr>
          <a:xfrm rot="0">
            <a:off x="12731521" y="2388868"/>
            <a:ext cx="4093870" cy="251460"/>
          </a:xfrm>
          <a:prstGeom prst="rect">
            <a:avLst/>
          </a:prstGeom>
        </p:spPr>
        <p:txBody>
          <a:bodyPr anchor="t" rtlCol="false" tIns="0" lIns="0" bIns="0" rIns="0">
            <a:spAutoFit/>
          </a:bodyPr>
          <a:lstStyle/>
          <a:p>
            <a:pPr algn="l" marL="0" indent="0" lvl="0">
              <a:lnSpc>
                <a:spcPts val="1980"/>
              </a:lnSpc>
              <a:spcBef>
                <a:spcPct val="0"/>
              </a:spcBef>
            </a:pPr>
            <a:r>
              <a:rPr lang="en-US" sz="1800" strike="noStrike" u="none">
                <a:solidFill>
                  <a:srgbClr val="3D3C42"/>
                </a:solidFill>
                <a:latin typeface="Inter"/>
                <a:ea typeface="Inter"/>
                <a:cs typeface="Inter"/>
                <a:sym typeface="Inter"/>
              </a:rPr>
              <a:t>Shipping mode: 100%</a:t>
            </a:r>
          </a:p>
        </p:txBody>
      </p:sp>
      <p:sp>
        <p:nvSpPr>
          <p:cNvPr name="TextBox 21" id="21"/>
          <p:cNvSpPr txBox="true"/>
          <p:nvPr/>
        </p:nvSpPr>
        <p:spPr>
          <a:xfrm rot="0">
            <a:off x="12731521" y="4245002"/>
            <a:ext cx="4093870" cy="251460"/>
          </a:xfrm>
          <a:prstGeom prst="rect">
            <a:avLst/>
          </a:prstGeom>
        </p:spPr>
        <p:txBody>
          <a:bodyPr anchor="t" rtlCol="false" tIns="0" lIns="0" bIns="0" rIns="0">
            <a:spAutoFit/>
          </a:bodyPr>
          <a:lstStyle/>
          <a:p>
            <a:pPr algn="l" marL="0" indent="0" lvl="0">
              <a:lnSpc>
                <a:spcPts val="1980"/>
              </a:lnSpc>
              <a:spcBef>
                <a:spcPct val="0"/>
              </a:spcBef>
            </a:pPr>
            <a:r>
              <a:rPr lang="en-US" sz="1800" strike="noStrike" u="none">
                <a:solidFill>
                  <a:srgbClr val="3D3C42"/>
                </a:solidFill>
                <a:latin typeface="Inter"/>
                <a:ea typeface="Inter"/>
                <a:cs typeface="Inter"/>
                <a:sym typeface="Inter"/>
              </a:rPr>
              <a:t>Order status: 95.0%</a:t>
            </a:r>
          </a:p>
        </p:txBody>
      </p:sp>
      <p:sp>
        <p:nvSpPr>
          <p:cNvPr name="TextBox 22" id="22"/>
          <p:cNvSpPr txBox="true"/>
          <p:nvPr/>
        </p:nvSpPr>
        <p:spPr>
          <a:xfrm rot="0">
            <a:off x="12731521" y="6101136"/>
            <a:ext cx="4093870" cy="251460"/>
          </a:xfrm>
          <a:prstGeom prst="rect">
            <a:avLst/>
          </a:prstGeom>
        </p:spPr>
        <p:txBody>
          <a:bodyPr anchor="t" rtlCol="false" tIns="0" lIns="0" bIns="0" rIns="0">
            <a:spAutoFit/>
          </a:bodyPr>
          <a:lstStyle/>
          <a:p>
            <a:pPr algn="l" marL="0" indent="0" lvl="0">
              <a:lnSpc>
                <a:spcPts val="1980"/>
              </a:lnSpc>
              <a:spcBef>
                <a:spcPct val="0"/>
              </a:spcBef>
            </a:pPr>
            <a:r>
              <a:rPr lang="en-US" sz="1800" strike="noStrike" u="none">
                <a:solidFill>
                  <a:srgbClr val="3D3C42"/>
                </a:solidFill>
                <a:latin typeface="Inter"/>
                <a:ea typeface="Inter"/>
                <a:cs typeface="Inter"/>
                <a:sym typeface="Inter"/>
              </a:rPr>
              <a:t>Payment type: 68.2%</a:t>
            </a:r>
          </a:p>
        </p:txBody>
      </p:sp>
      <p:sp>
        <p:nvSpPr>
          <p:cNvPr name="TextBox 23" id="23"/>
          <p:cNvSpPr txBox="true"/>
          <p:nvPr/>
        </p:nvSpPr>
        <p:spPr>
          <a:xfrm rot="0">
            <a:off x="12731521" y="7957270"/>
            <a:ext cx="4093870" cy="251460"/>
          </a:xfrm>
          <a:prstGeom prst="rect">
            <a:avLst/>
          </a:prstGeom>
        </p:spPr>
        <p:txBody>
          <a:bodyPr anchor="t" rtlCol="false" tIns="0" lIns="0" bIns="0" rIns="0">
            <a:spAutoFit/>
          </a:bodyPr>
          <a:lstStyle/>
          <a:p>
            <a:pPr algn="l" marL="0" indent="0" lvl="0">
              <a:lnSpc>
                <a:spcPts val="1980"/>
              </a:lnSpc>
              <a:spcBef>
                <a:spcPct val="0"/>
              </a:spcBef>
            </a:pPr>
            <a:r>
              <a:rPr lang="en-US" sz="1800" strike="noStrike" u="none">
                <a:solidFill>
                  <a:srgbClr val="3D3C42"/>
                </a:solidFill>
                <a:latin typeface="Inter"/>
                <a:ea typeface="Inter"/>
                <a:cs typeface="Inter"/>
                <a:sym typeface="Inter"/>
              </a:rPr>
              <a:t>Department: 65.4%</a:t>
            </a:r>
          </a:p>
        </p:txBody>
      </p:sp>
      <p:sp>
        <p:nvSpPr>
          <p:cNvPr name="TextBox 24" id="24"/>
          <p:cNvSpPr txBox="true"/>
          <p:nvPr/>
        </p:nvSpPr>
        <p:spPr>
          <a:xfrm rot="0">
            <a:off x="1437280" y="7188658"/>
            <a:ext cx="10096500" cy="293370"/>
          </a:xfrm>
          <a:prstGeom prst="rect">
            <a:avLst/>
          </a:prstGeom>
        </p:spPr>
        <p:txBody>
          <a:bodyPr anchor="t" rtlCol="false" tIns="0" lIns="0" bIns="0" rIns="0">
            <a:spAutoFit/>
          </a:bodyPr>
          <a:lstStyle/>
          <a:p>
            <a:pPr algn="l" marL="0" indent="0" lvl="0">
              <a:lnSpc>
                <a:spcPts val="2310"/>
              </a:lnSpc>
              <a:spcBef>
                <a:spcPct val="0"/>
              </a:spcBef>
            </a:pPr>
            <a:r>
              <a:rPr lang="en-US" b="true" sz="2100" strike="noStrike" u="none">
                <a:solidFill>
                  <a:srgbClr val="3D3C42"/>
                </a:solidFill>
                <a:latin typeface="Inter Bold"/>
                <a:ea typeface="Inter Bold"/>
                <a:cs typeface="Inter Bold"/>
                <a:sym typeface="Inter Bold"/>
              </a:rPr>
              <a:t>Payment holds are a hidden second bottleneck</a:t>
            </a:r>
          </a:p>
        </p:txBody>
      </p:sp>
      <p:sp>
        <p:nvSpPr>
          <p:cNvPr name="TextBox 25" id="25"/>
          <p:cNvSpPr txBox="true"/>
          <p:nvPr/>
        </p:nvSpPr>
        <p:spPr>
          <a:xfrm rot="0">
            <a:off x="5230862" y="3034374"/>
            <a:ext cx="6667500" cy="293370"/>
          </a:xfrm>
          <a:prstGeom prst="rect">
            <a:avLst/>
          </a:prstGeom>
        </p:spPr>
        <p:txBody>
          <a:bodyPr anchor="t" rtlCol="false" tIns="0" lIns="0" bIns="0" rIns="0">
            <a:spAutoFit/>
          </a:bodyPr>
          <a:lstStyle/>
          <a:p>
            <a:pPr algn="l" marL="0" indent="0" lvl="0">
              <a:lnSpc>
                <a:spcPts val="2310"/>
              </a:lnSpc>
              <a:spcBef>
                <a:spcPct val="0"/>
              </a:spcBef>
            </a:pPr>
            <a:r>
              <a:rPr lang="en-US" b="true" sz="2100" strike="noStrike" u="none">
                <a:solidFill>
                  <a:srgbClr val="3D3C42"/>
                </a:solidFill>
                <a:latin typeface="Inter Bold"/>
                <a:ea typeface="Inter Bold"/>
                <a:cs typeface="Inter Bold"/>
                <a:sym typeface="Inter Bold"/>
              </a:rPr>
              <a:t>Top 10 Drivers of Late Delivery</a:t>
            </a:r>
          </a:p>
        </p:txBody>
      </p:sp>
      <p:sp>
        <p:nvSpPr>
          <p:cNvPr name="TextBox 26" id="26"/>
          <p:cNvSpPr txBox="true"/>
          <p:nvPr/>
        </p:nvSpPr>
        <p:spPr>
          <a:xfrm rot="0">
            <a:off x="1437280" y="7920036"/>
            <a:ext cx="10096500" cy="746760"/>
          </a:xfrm>
          <a:prstGeom prst="rect">
            <a:avLst/>
          </a:prstGeom>
        </p:spPr>
        <p:txBody>
          <a:bodyPr anchor="t" rtlCol="false" tIns="0" lIns="0" bIns="0" rIns="0">
            <a:spAutoFit/>
          </a:bodyPr>
          <a:lstStyle/>
          <a:p>
            <a:pPr algn="l" marL="0" indent="0" lvl="0">
              <a:lnSpc>
                <a:spcPts val="1980"/>
              </a:lnSpc>
              <a:spcBef>
                <a:spcPct val="0"/>
              </a:spcBef>
            </a:pPr>
            <a:r>
              <a:rPr lang="en-US" sz="1800" strike="noStrike" u="none">
                <a:solidFill>
                  <a:srgbClr val="3D3C42"/>
                </a:solidFill>
                <a:latin typeface="Inter"/>
                <a:ea typeface="Inter"/>
                <a:cs typeface="Inter"/>
                <a:sym typeface="Inter"/>
              </a:rPr>
              <a:t>In Central Africa, 95.0% of PAYMENT_REVIEW orders and 70.2% of PENDING orders ship late, against 63.6% for the region overall. Faster payment checks would release these orders sooner.</a:t>
            </a:r>
          </a:p>
        </p:txBody>
      </p:sp>
      <p:sp>
        <p:nvSpPr>
          <p:cNvPr name="TextBox 27" id="27"/>
          <p:cNvSpPr txBox="true"/>
          <p:nvPr/>
        </p:nvSpPr>
        <p:spPr>
          <a:xfrm rot="0">
            <a:off x="1028700" y="4219575"/>
            <a:ext cx="3467100" cy="885825"/>
          </a:xfrm>
          <a:prstGeom prst="rect">
            <a:avLst/>
          </a:prstGeom>
        </p:spPr>
        <p:txBody>
          <a:bodyPr anchor="t" rtlCol="false" tIns="0" lIns="0" bIns="0" rIns="0">
            <a:spAutoFit/>
          </a:bodyPr>
          <a:lstStyle/>
          <a:p>
            <a:pPr algn="ctr">
              <a:lnSpc>
                <a:spcPts val="6600"/>
              </a:lnSpc>
            </a:pPr>
            <a:r>
              <a:rPr lang="en-US" sz="6000" b="true">
                <a:solidFill>
                  <a:srgbClr val="7F5283"/>
                </a:solidFill>
                <a:latin typeface="Arimo Bold"/>
                <a:ea typeface="Arimo Bold"/>
                <a:cs typeface="Arimo Bold"/>
                <a:sym typeface="Arimo Bold"/>
              </a:rPr>
              <a:t>63.6%</a:t>
            </a:r>
          </a:p>
        </p:txBody>
      </p:sp>
      <p:sp>
        <p:nvSpPr>
          <p:cNvPr name="TextBox 28" id="28"/>
          <p:cNvSpPr txBox="true"/>
          <p:nvPr/>
        </p:nvSpPr>
        <p:spPr>
          <a:xfrm rot="0">
            <a:off x="1028700" y="5219700"/>
            <a:ext cx="3467100" cy="270510"/>
          </a:xfrm>
          <a:prstGeom prst="rect">
            <a:avLst/>
          </a:prstGeom>
        </p:spPr>
        <p:txBody>
          <a:bodyPr anchor="t" rtlCol="false" tIns="0" lIns="0" bIns="0" rIns="0">
            <a:spAutoFit/>
          </a:bodyPr>
          <a:lstStyle/>
          <a:p>
            <a:pPr algn="ctr">
              <a:lnSpc>
                <a:spcPts val="1980"/>
              </a:lnSpc>
            </a:pPr>
            <a:r>
              <a:rPr lang="en-US" sz="1800">
                <a:solidFill>
                  <a:srgbClr val="3D3C42"/>
                </a:solidFill>
                <a:latin typeface="Arimo"/>
                <a:ea typeface="Arimo"/>
                <a:cs typeface="Arimo"/>
                <a:sym typeface="Arimo"/>
              </a:rPr>
              <a:t>2nd-highest region</a:t>
            </a:r>
          </a:p>
        </p:txBody>
      </p:sp>
      <p:sp>
        <p:nvSpPr>
          <p:cNvPr name="TextBox 29" id="29"/>
          <p:cNvSpPr txBox="true"/>
          <p:nvPr/>
        </p:nvSpPr>
        <p:spPr>
          <a:xfrm rot="0">
            <a:off x="4953000" y="3519487"/>
            <a:ext cx="2857500" cy="2948892"/>
          </a:xfrm>
          <a:prstGeom prst="rect">
            <a:avLst/>
          </a:prstGeom>
        </p:spPr>
        <p:txBody>
          <a:bodyPr anchor="t" rtlCol="false" tIns="0" lIns="0" bIns="0" rIns="0">
            <a:spAutoFit/>
          </a:bodyPr>
          <a:lstStyle/>
          <a:p>
            <a:pPr algn="r">
              <a:lnSpc>
                <a:spcPts val="2325"/>
              </a:lnSpc>
            </a:pPr>
            <a:r>
              <a:rPr lang="en-US" sz="1350">
                <a:solidFill>
                  <a:srgbClr val="3D3C42"/>
                </a:solidFill>
                <a:latin typeface="Arimo"/>
                <a:ea typeface="Arimo"/>
                <a:cs typeface="Arimo"/>
                <a:sym typeface="Arimo"/>
              </a:rPr>
              <a:t>Ship mode: First Class</a:t>
            </a:r>
          </a:p>
          <a:p>
            <a:pPr algn="r">
              <a:lnSpc>
                <a:spcPts val="2325"/>
              </a:lnSpc>
            </a:pPr>
            <a:r>
              <a:rPr lang="en-US" sz="1350">
                <a:solidFill>
                  <a:srgbClr val="3D3C42"/>
                </a:solidFill>
                <a:latin typeface="Arimo"/>
                <a:ea typeface="Arimo"/>
                <a:cs typeface="Arimo"/>
                <a:sym typeface="Arimo"/>
              </a:rPr>
              <a:t>Ship mode: Same Day</a:t>
            </a:r>
          </a:p>
          <a:p>
            <a:pPr algn="r">
              <a:lnSpc>
                <a:spcPts val="2325"/>
              </a:lnSpc>
            </a:pPr>
            <a:r>
              <a:rPr lang="en-US" sz="1350">
                <a:solidFill>
                  <a:srgbClr val="3D3C42"/>
                </a:solidFill>
                <a:latin typeface="Arimo"/>
                <a:ea typeface="Arimo"/>
                <a:cs typeface="Arimo"/>
                <a:sym typeface="Arimo"/>
              </a:rPr>
              <a:t>Status: PAYMENT_REVIEW</a:t>
            </a:r>
          </a:p>
          <a:p>
            <a:pPr algn="r">
              <a:lnSpc>
                <a:spcPts val="2325"/>
              </a:lnSpc>
            </a:pPr>
            <a:r>
              <a:rPr lang="en-US" sz="1350">
                <a:solidFill>
                  <a:srgbClr val="3D3C42"/>
                </a:solidFill>
                <a:latin typeface="Arimo"/>
                <a:ea typeface="Arimo"/>
                <a:cs typeface="Arimo"/>
                <a:sym typeface="Arimo"/>
              </a:rPr>
              <a:t>Ship mode: Second Class</a:t>
            </a:r>
          </a:p>
          <a:p>
            <a:pPr algn="r">
              <a:lnSpc>
                <a:spcPts val="2325"/>
              </a:lnSpc>
            </a:pPr>
            <a:r>
              <a:rPr lang="en-US" sz="1350">
                <a:solidFill>
                  <a:srgbClr val="3D3C42"/>
                </a:solidFill>
                <a:latin typeface="Arimo"/>
                <a:ea typeface="Arimo"/>
                <a:cs typeface="Arimo"/>
                <a:sym typeface="Arimo"/>
              </a:rPr>
              <a:t>Status: PENDING</a:t>
            </a:r>
          </a:p>
          <a:p>
            <a:pPr algn="r">
              <a:lnSpc>
                <a:spcPts val="2325"/>
              </a:lnSpc>
            </a:pPr>
            <a:r>
              <a:rPr lang="en-US" sz="1350">
                <a:solidFill>
                  <a:srgbClr val="3D3C42"/>
                </a:solidFill>
                <a:latin typeface="Arimo"/>
                <a:ea typeface="Arimo"/>
                <a:cs typeface="Arimo"/>
                <a:sym typeface="Arimo"/>
              </a:rPr>
              <a:t>Payment type: PAYMENT</a:t>
            </a:r>
          </a:p>
          <a:p>
            <a:pPr algn="r">
              <a:lnSpc>
                <a:spcPts val="2325"/>
              </a:lnSpc>
            </a:pPr>
            <a:r>
              <a:rPr lang="en-US" sz="1350">
                <a:solidFill>
                  <a:srgbClr val="3D3C42"/>
                </a:solidFill>
                <a:latin typeface="Arimo"/>
                <a:ea typeface="Arimo"/>
                <a:cs typeface="Arimo"/>
                <a:sym typeface="Arimo"/>
              </a:rPr>
              <a:t>Status: PENDING_PAYMENT</a:t>
            </a:r>
          </a:p>
          <a:p>
            <a:pPr algn="r">
              <a:lnSpc>
                <a:spcPts val="2325"/>
              </a:lnSpc>
            </a:pPr>
            <a:r>
              <a:rPr lang="en-US" sz="1350">
                <a:solidFill>
                  <a:srgbClr val="3D3C42"/>
                </a:solidFill>
                <a:latin typeface="Arimo"/>
                <a:ea typeface="Arimo"/>
                <a:cs typeface="Arimo"/>
                <a:sym typeface="Arimo"/>
              </a:rPr>
              <a:t>Payment type: TRANSFER</a:t>
            </a:r>
          </a:p>
          <a:p>
            <a:pPr algn="r">
              <a:lnSpc>
                <a:spcPts val="2325"/>
              </a:lnSpc>
            </a:pPr>
            <a:r>
              <a:rPr lang="en-US" sz="1350">
                <a:solidFill>
                  <a:srgbClr val="3D3C42"/>
                </a:solidFill>
                <a:latin typeface="Arimo"/>
                <a:ea typeface="Arimo"/>
                <a:cs typeface="Arimo"/>
                <a:sym typeface="Arimo"/>
              </a:rPr>
              <a:t>Department: Footwear</a:t>
            </a:r>
          </a:p>
          <a:p>
            <a:pPr algn="r">
              <a:lnSpc>
                <a:spcPts val="2325"/>
              </a:lnSpc>
            </a:pPr>
            <a:r>
              <a:rPr lang="en-US" sz="1350">
                <a:solidFill>
                  <a:srgbClr val="3D3C42"/>
                </a:solidFill>
                <a:latin typeface="Arimo"/>
                <a:ea typeface="Arimo"/>
                <a:cs typeface="Arimo"/>
                <a:sym typeface="Arimo"/>
              </a:rPr>
              <a:t>Segment: Consumer</a:t>
            </a:r>
          </a:p>
        </p:txBody>
      </p:sp>
      <p:grpSp>
        <p:nvGrpSpPr>
          <p:cNvPr name="Group 30" id="30"/>
          <p:cNvGrpSpPr/>
          <p:nvPr/>
        </p:nvGrpSpPr>
        <p:grpSpPr>
          <a:xfrm rot="0">
            <a:off x="7953375" y="3595688"/>
            <a:ext cx="2857500" cy="190500"/>
            <a:chOff x="0" y="0"/>
            <a:chExt cx="3810000" cy="254000"/>
          </a:xfrm>
        </p:grpSpPr>
        <p:sp>
          <p:nvSpPr>
            <p:cNvPr name="Freeform 31" id="31"/>
            <p:cNvSpPr/>
            <p:nvPr/>
          </p:nvSpPr>
          <p:spPr>
            <a:xfrm flipH="false" flipV="false" rot="0">
              <a:off x="0" y="0"/>
              <a:ext cx="3810000" cy="254000"/>
            </a:xfrm>
            <a:custGeom>
              <a:avLst/>
              <a:gdLst/>
              <a:ahLst/>
              <a:cxnLst/>
              <a:rect r="r" b="b" t="t" l="l"/>
              <a:pathLst>
                <a:path h="254000" w="3810000">
                  <a:moveTo>
                    <a:pt x="12700" y="0"/>
                  </a:moveTo>
                  <a:lnTo>
                    <a:pt x="3797300" y="0"/>
                  </a:lnTo>
                  <a:cubicBezTo>
                    <a:pt x="3804314" y="0"/>
                    <a:pt x="3810000" y="5686"/>
                    <a:pt x="3810000" y="12700"/>
                  </a:cubicBezTo>
                  <a:lnTo>
                    <a:pt x="3810000" y="241300"/>
                  </a:lnTo>
                  <a:cubicBezTo>
                    <a:pt x="3810000" y="248314"/>
                    <a:pt x="3804314" y="254000"/>
                    <a:pt x="3797300" y="254000"/>
                  </a:cubicBezTo>
                  <a:lnTo>
                    <a:pt x="12700" y="254000"/>
                  </a:lnTo>
                  <a:cubicBezTo>
                    <a:pt x="5686" y="254000"/>
                    <a:pt x="0" y="248314"/>
                    <a:pt x="0" y="241300"/>
                  </a:cubicBezTo>
                  <a:lnTo>
                    <a:pt x="0" y="12700"/>
                  </a:lnTo>
                  <a:cubicBezTo>
                    <a:pt x="0" y="5686"/>
                    <a:pt x="5686" y="0"/>
                    <a:pt x="12700" y="0"/>
                  </a:cubicBezTo>
                  <a:close/>
                </a:path>
              </a:pathLst>
            </a:custGeom>
            <a:solidFill>
              <a:srgbClr val="7F5283"/>
            </a:solidFill>
          </p:spPr>
        </p:sp>
        <p:sp>
          <p:nvSpPr>
            <p:cNvPr name="TextBox 32" id="32"/>
            <p:cNvSpPr txBox="true"/>
            <p:nvPr/>
          </p:nvSpPr>
          <p:spPr>
            <a:xfrm>
              <a:off x="0" y="-38100"/>
              <a:ext cx="3810000" cy="292100"/>
            </a:xfrm>
            <a:prstGeom prst="rect">
              <a:avLst/>
            </a:prstGeom>
          </p:spPr>
          <p:txBody>
            <a:bodyPr anchor="ctr" rtlCol="false" tIns="50800" lIns="50800" bIns="50800" rIns="50800"/>
            <a:lstStyle/>
            <a:p>
              <a:pPr algn="l">
                <a:lnSpc>
                  <a:spcPts val="1679"/>
                </a:lnSpc>
              </a:pPr>
            </a:p>
          </p:txBody>
        </p:sp>
      </p:grpSp>
      <p:sp>
        <p:nvSpPr>
          <p:cNvPr name="TextBox 33" id="33"/>
          <p:cNvSpPr txBox="true"/>
          <p:nvPr/>
        </p:nvSpPr>
        <p:spPr>
          <a:xfrm rot="0">
            <a:off x="10906125" y="3586162"/>
            <a:ext cx="857250" cy="198120"/>
          </a:xfrm>
          <a:prstGeom prst="rect">
            <a:avLst/>
          </a:prstGeom>
        </p:spPr>
        <p:txBody>
          <a:bodyPr anchor="t" rtlCol="false" tIns="0" lIns="0" bIns="0" rIns="0">
            <a:spAutoFit/>
          </a:bodyPr>
          <a:lstStyle/>
          <a:p>
            <a:pPr algn="l">
              <a:lnSpc>
                <a:spcPts val="1485"/>
              </a:lnSpc>
            </a:pPr>
            <a:r>
              <a:rPr lang="en-US" sz="1350" b="true">
                <a:solidFill>
                  <a:srgbClr val="3D3C42"/>
                </a:solidFill>
                <a:latin typeface="Arimo Bold"/>
                <a:ea typeface="Arimo Bold"/>
                <a:cs typeface="Arimo Bold"/>
                <a:sym typeface="Arimo Bold"/>
              </a:rPr>
              <a:t>100.0%</a:t>
            </a:r>
          </a:p>
        </p:txBody>
      </p:sp>
      <p:grpSp>
        <p:nvGrpSpPr>
          <p:cNvPr name="Group 34" id="34"/>
          <p:cNvGrpSpPr/>
          <p:nvPr/>
        </p:nvGrpSpPr>
        <p:grpSpPr>
          <a:xfrm rot="0">
            <a:off x="7953375" y="3890010"/>
            <a:ext cx="2857500" cy="190500"/>
            <a:chOff x="0" y="0"/>
            <a:chExt cx="3810000" cy="254000"/>
          </a:xfrm>
        </p:grpSpPr>
        <p:sp>
          <p:nvSpPr>
            <p:cNvPr name="Freeform 35" id="35"/>
            <p:cNvSpPr/>
            <p:nvPr/>
          </p:nvSpPr>
          <p:spPr>
            <a:xfrm flipH="false" flipV="false" rot="0">
              <a:off x="0" y="0"/>
              <a:ext cx="3810000" cy="254000"/>
            </a:xfrm>
            <a:custGeom>
              <a:avLst/>
              <a:gdLst/>
              <a:ahLst/>
              <a:cxnLst/>
              <a:rect r="r" b="b" t="t" l="l"/>
              <a:pathLst>
                <a:path h="254000" w="3810000">
                  <a:moveTo>
                    <a:pt x="12700" y="0"/>
                  </a:moveTo>
                  <a:lnTo>
                    <a:pt x="3797300" y="0"/>
                  </a:lnTo>
                  <a:cubicBezTo>
                    <a:pt x="3804314" y="0"/>
                    <a:pt x="3810000" y="5686"/>
                    <a:pt x="3810000" y="12700"/>
                  </a:cubicBezTo>
                  <a:lnTo>
                    <a:pt x="3810000" y="241300"/>
                  </a:lnTo>
                  <a:cubicBezTo>
                    <a:pt x="3810000" y="248314"/>
                    <a:pt x="3804314" y="254000"/>
                    <a:pt x="3797300" y="254000"/>
                  </a:cubicBezTo>
                  <a:lnTo>
                    <a:pt x="12700" y="254000"/>
                  </a:lnTo>
                  <a:cubicBezTo>
                    <a:pt x="5686" y="254000"/>
                    <a:pt x="0" y="248314"/>
                    <a:pt x="0" y="241300"/>
                  </a:cubicBezTo>
                  <a:lnTo>
                    <a:pt x="0" y="12700"/>
                  </a:lnTo>
                  <a:cubicBezTo>
                    <a:pt x="0" y="5686"/>
                    <a:pt x="5686" y="0"/>
                    <a:pt x="12700" y="0"/>
                  </a:cubicBezTo>
                  <a:close/>
                </a:path>
              </a:pathLst>
            </a:custGeom>
            <a:solidFill>
              <a:srgbClr val="7F5283"/>
            </a:solidFill>
          </p:spPr>
        </p:sp>
        <p:sp>
          <p:nvSpPr>
            <p:cNvPr name="TextBox 36" id="36"/>
            <p:cNvSpPr txBox="true"/>
            <p:nvPr/>
          </p:nvSpPr>
          <p:spPr>
            <a:xfrm>
              <a:off x="0" y="-38100"/>
              <a:ext cx="3810000" cy="292100"/>
            </a:xfrm>
            <a:prstGeom prst="rect">
              <a:avLst/>
            </a:prstGeom>
          </p:spPr>
          <p:txBody>
            <a:bodyPr anchor="ctr" rtlCol="false" tIns="50800" lIns="50800" bIns="50800" rIns="50800"/>
            <a:lstStyle/>
            <a:p>
              <a:pPr algn="l">
                <a:lnSpc>
                  <a:spcPts val="1679"/>
                </a:lnSpc>
              </a:pPr>
            </a:p>
          </p:txBody>
        </p:sp>
      </p:grpSp>
      <p:sp>
        <p:nvSpPr>
          <p:cNvPr name="TextBox 37" id="37"/>
          <p:cNvSpPr txBox="true"/>
          <p:nvPr/>
        </p:nvSpPr>
        <p:spPr>
          <a:xfrm rot="0">
            <a:off x="10906125" y="3880485"/>
            <a:ext cx="857250" cy="198120"/>
          </a:xfrm>
          <a:prstGeom prst="rect">
            <a:avLst/>
          </a:prstGeom>
        </p:spPr>
        <p:txBody>
          <a:bodyPr anchor="t" rtlCol="false" tIns="0" lIns="0" bIns="0" rIns="0">
            <a:spAutoFit/>
          </a:bodyPr>
          <a:lstStyle/>
          <a:p>
            <a:pPr algn="l">
              <a:lnSpc>
                <a:spcPts val="1485"/>
              </a:lnSpc>
            </a:pPr>
            <a:r>
              <a:rPr lang="en-US" sz="1350" b="true">
                <a:solidFill>
                  <a:srgbClr val="3D3C42"/>
                </a:solidFill>
                <a:latin typeface="Arimo Bold"/>
                <a:ea typeface="Arimo Bold"/>
                <a:cs typeface="Arimo Bold"/>
                <a:sym typeface="Arimo Bold"/>
              </a:rPr>
              <a:t>100.0% </a:t>
            </a:r>
          </a:p>
        </p:txBody>
      </p:sp>
      <p:grpSp>
        <p:nvGrpSpPr>
          <p:cNvPr name="Group 38" id="38"/>
          <p:cNvGrpSpPr/>
          <p:nvPr/>
        </p:nvGrpSpPr>
        <p:grpSpPr>
          <a:xfrm rot="0">
            <a:off x="7953375" y="4185285"/>
            <a:ext cx="2714625" cy="190500"/>
            <a:chOff x="0" y="0"/>
            <a:chExt cx="3619500" cy="254000"/>
          </a:xfrm>
        </p:grpSpPr>
        <p:sp>
          <p:nvSpPr>
            <p:cNvPr name="Freeform 39" id="39"/>
            <p:cNvSpPr/>
            <p:nvPr/>
          </p:nvSpPr>
          <p:spPr>
            <a:xfrm flipH="false" flipV="false" rot="0">
              <a:off x="0" y="0"/>
              <a:ext cx="3619500" cy="254000"/>
            </a:xfrm>
            <a:custGeom>
              <a:avLst/>
              <a:gdLst/>
              <a:ahLst/>
              <a:cxnLst/>
              <a:rect r="r" b="b" t="t" l="l"/>
              <a:pathLst>
                <a:path h="254000" w="3619500">
                  <a:moveTo>
                    <a:pt x="13368" y="0"/>
                  </a:moveTo>
                  <a:lnTo>
                    <a:pt x="3606131" y="0"/>
                  </a:lnTo>
                  <a:cubicBezTo>
                    <a:pt x="3613515" y="0"/>
                    <a:pt x="3619500" y="5985"/>
                    <a:pt x="3619500" y="13368"/>
                  </a:cubicBezTo>
                  <a:lnTo>
                    <a:pt x="3619500" y="240632"/>
                  </a:lnTo>
                  <a:cubicBezTo>
                    <a:pt x="3619500" y="248015"/>
                    <a:pt x="3613515" y="254000"/>
                    <a:pt x="3606131" y="254000"/>
                  </a:cubicBezTo>
                  <a:lnTo>
                    <a:pt x="13368" y="254000"/>
                  </a:lnTo>
                  <a:cubicBezTo>
                    <a:pt x="5985" y="254000"/>
                    <a:pt x="0" y="248015"/>
                    <a:pt x="0" y="240632"/>
                  </a:cubicBezTo>
                  <a:lnTo>
                    <a:pt x="0" y="13368"/>
                  </a:lnTo>
                  <a:cubicBezTo>
                    <a:pt x="0" y="5985"/>
                    <a:pt x="5985" y="0"/>
                    <a:pt x="13368" y="0"/>
                  </a:cubicBezTo>
                  <a:close/>
                </a:path>
              </a:pathLst>
            </a:custGeom>
            <a:solidFill>
              <a:srgbClr val="9DB2CE"/>
            </a:solidFill>
          </p:spPr>
        </p:sp>
        <p:sp>
          <p:nvSpPr>
            <p:cNvPr name="TextBox 40" id="40"/>
            <p:cNvSpPr txBox="true"/>
            <p:nvPr/>
          </p:nvSpPr>
          <p:spPr>
            <a:xfrm>
              <a:off x="0" y="-38100"/>
              <a:ext cx="3619500" cy="292100"/>
            </a:xfrm>
            <a:prstGeom prst="rect">
              <a:avLst/>
            </a:prstGeom>
          </p:spPr>
          <p:txBody>
            <a:bodyPr anchor="ctr" rtlCol="false" tIns="50800" lIns="50800" bIns="50800" rIns="50800"/>
            <a:lstStyle/>
            <a:p>
              <a:pPr algn="l">
                <a:lnSpc>
                  <a:spcPts val="1679"/>
                </a:lnSpc>
              </a:pPr>
            </a:p>
          </p:txBody>
        </p:sp>
      </p:grpSp>
      <p:sp>
        <p:nvSpPr>
          <p:cNvPr name="TextBox 41" id="41"/>
          <p:cNvSpPr txBox="true"/>
          <p:nvPr/>
        </p:nvSpPr>
        <p:spPr>
          <a:xfrm rot="0">
            <a:off x="10763250" y="4175760"/>
            <a:ext cx="857250" cy="198120"/>
          </a:xfrm>
          <a:prstGeom prst="rect">
            <a:avLst/>
          </a:prstGeom>
        </p:spPr>
        <p:txBody>
          <a:bodyPr anchor="t" rtlCol="false" tIns="0" lIns="0" bIns="0" rIns="0">
            <a:spAutoFit/>
          </a:bodyPr>
          <a:lstStyle/>
          <a:p>
            <a:pPr algn="l">
              <a:lnSpc>
                <a:spcPts val="1485"/>
              </a:lnSpc>
            </a:pPr>
            <a:r>
              <a:rPr lang="en-US" sz="1350" b="true">
                <a:solidFill>
                  <a:srgbClr val="3D3C42"/>
                </a:solidFill>
                <a:latin typeface="Arimo Bold"/>
                <a:ea typeface="Arimo Bold"/>
                <a:cs typeface="Arimo Bold"/>
                <a:sym typeface="Arimo Bold"/>
              </a:rPr>
              <a:t>95.0%</a:t>
            </a:r>
          </a:p>
        </p:txBody>
      </p:sp>
      <p:grpSp>
        <p:nvGrpSpPr>
          <p:cNvPr name="Group 42" id="42"/>
          <p:cNvGrpSpPr/>
          <p:nvPr/>
        </p:nvGrpSpPr>
        <p:grpSpPr>
          <a:xfrm rot="0">
            <a:off x="7953375" y="4480560"/>
            <a:ext cx="2366010" cy="190500"/>
            <a:chOff x="0" y="0"/>
            <a:chExt cx="3154680" cy="254000"/>
          </a:xfrm>
        </p:grpSpPr>
        <p:sp>
          <p:nvSpPr>
            <p:cNvPr name="Freeform 43" id="43"/>
            <p:cNvSpPr/>
            <p:nvPr/>
          </p:nvSpPr>
          <p:spPr>
            <a:xfrm flipH="false" flipV="false" rot="0">
              <a:off x="0" y="0"/>
              <a:ext cx="3154680" cy="254000"/>
            </a:xfrm>
            <a:custGeom>
              <a:avLst/>
              <a:gdLst/>
              <a:ahLst/>
              <a:cxnLst/>
              <a:rect r="r" b="b" t="t" l="l"/>
              <a:pathLst>
                <a:path h="254000" w="3154680">
                  <a:moveTo>
                    <a:pt x="15338" y="0"/>
                  </a:moveTo>
                  <a:lnTo>
                    <a:pt x="3139342" y="0"/>
                  </a:lnTo>
                  <a:cubicBezTo>
                    <a:pt x="3143410" y="0"/>
                    <a:pt x="3147311" y="1616"/>
                    <a:pt x="3150188" y="4492"/>
                  </a:cubicBezTo>
                  <a:cubicBezTo>
                    <a:pt x="3153064" y="7369"/>
                    <a:pt x="3154680" y="11270"/>
                    <a:pt x="3154680" y="15338"/>
                  </a:cubicBezTo>
                  <a:lnTo>
                    <a:pt x="3154680" y="238662"/>
                  </a:lnTo>
                  <a:cubicBezTo>
                    <a:pt x="3154680" y="247133"/>
                    <a:pt x="3147813" y="254000"/>
                    <a:pt x="3139342" y="254000"/>
                  </a:cubicBezTo>
                  <a:lnTo>
                    <a:pt x="15338" y="254000"/>
                  </a:lnTo>
                  <a:cubicBezTo>
                    <a:pt x="6867" y="254000"/>
                    <a:pt x="0" y="247133"/>
                    <a:pt x="0" y="238662"/>
                  </a:cubicBezTo>
                  <a:lnTo>
                    <a:pt x="0" y="15338"/>
                  </a:lnTo>
                  <a:cubicBezTo>
                    <a:pt x="0" y="6867"/>
                    <a:pt x="6867" y="0"/>
                    <a:pt x="15338" y="0"/>
                  </a:cubicBezTo>
                  <a:close/>
                </a:path>
              </a:pathLst>
            </a:custGeom>
            <a:solidFill>
              <a:srgbClr val="7F5283"/>
            </a:solidFill>
          </p:spPr>
        </p:sp>
        <p:sp>
          <p:nvSpPr>
            <p:cNvPr name="TextBox 44" id="44"/>
            <p:cNvSpPr txBox="true"/>
            <p:nvPr/>
          </p:nvSpPr>
          <p:spPr>
            <a:xfrm>
              <a:off x="0" y="-38100"/>
              <a:ext cx="3154680" cy="292100"/>
            </a:xfrm>
            <a:prstGeom prst="rect">
              <a:avLst/>
            </a:prstGeom>
          </p:spPr>
          <p:txBody>
            <a:bodyPr anchor="ctr" rtlCol="false" tIns="50800" lIns="50800" bIns="50800" rIns="50800"/>
            <a:lstStyle/>
            <a:p>
              <a:pPr algn="l">
                <a:lnSpc>
                  <a:spcPts val="1679"/>
                </a:lnSpc>
              </a:pPr>
            </a:p>
          </p:txBody>
        </p:sp>
      </p:grpSp>
      <p:sp>
        <p:nvSpPr>
          <p:cNvPr name="TextBox 45" id="45"/>
          <p:cNvSpPr txBox="true"/>
          <p:nvPr/>
        </p:nvSpPr>
        <p:spPr>
          <a:xfrm rot="0">
            <a:off x="10414635" y="4471035"/>
            <a:ext cx="857250" cy="198120"/>
          </a:xfrm>
          <a:prstGeom prst="rect">
            <a:avLst/>
          </a:prstGeom>
        </p:spPr>
        <p:txBody>
          <a:bodyPr anchor="t" rtlCol="false" tIns="0" lIns="0" bIns="0" rIns="0">
            <a:spAutoFit/>
          </a:bodyPr>
          <a:lstStyle/>
          <a:p>
            <a:pPr algn="l">
              <a:lnSpc>
                <a:spcPts val="1485"/>
              </a:lnSpc>
            </a:pPr>
            <a:r>
              <a:rPr lang="en-US" sz="1350" b="true">
                <a:solidFill>
                  <a:srgbClr val="3D3C42"/>
                </a:solidFill>
                <a:latin typeface="Arimo Bold"/>
                <a:ea typeface="Arimo Bold"/>
                <a:cs typeface="Arimo Bold"/>
                <a:sym typeface="Arimo Bold"/>
              </a:rPr>
              <a:t>82.8%</a:t>
            </a:r>
          </a:p>
        </p:txBody>
      </p:sp>
      <p:grpSp>
        <p:nvGrpSpPr>
          <p:cNvPr name="Group 46" id="46"/>
          <p:cNvGrpSpPr/>
          <p:nvPr/>
        </p:nvGrpSpPr>
        <p:grpSpPr>
          <a:xfrm rot="0">
            <a:off x="7953375" y="4774882"/>
            <a:ext cx="2005965" cy="190500"/>
            <a:chOff x="0" y="0"/>
            <a:chExt cx="2674620" cy="254000"/>
          </a:xfrm>
        </p:grpSpPr>
        <p:sp>
          <p:nvSpPr>
            <p:cNvPr name="Freeform 47" id="47"/>
            <p:cNvSpPr/>
            <p:nvPr/>
          </p:nvSpPr>
          <p:spPr>
            <a:xfrm flipH="false" flipV="false" rot="0">
              <a:off x="0" y="0"/>
              <a:ext cx="2674620" cy="254000"/>
            </a:xfrm>
            <a:custGeom>
              <a:avLst/>
              <a:gdLst/>
              <a:ahLst/>
              <a:cxnLst/>
              <a:rect r="r" b="b" t="t" l="l"/>
              <a:pathLst>
                <a:path h="254000" w="2674620">
                  <a:moveTo>
                    <a:pt x="18091" y="0"/>
                  </a:moveTo>
                  <a:lnTo>
                    <a:pt x="2656529" y="0"/>
                  </a:lnTo>
                  <a:cubicBezTo>
                    <a:pt x="2661327" y="0"/>
                    <a:pt x="2665929" y="1906"/>
                    <a:pt x="2669321" y="5299"/>
                  </a:cubicBezTo>
                  <a:cubicBezTo>
                    <a:pt x="2672714" y="8692"/>
                    <a:pt x="2674620" y="13293"/>
                    <a:pt x="2674620" y="18091"/>
                  </a:cubicBezTo>
                  <a:lnTo>
                    <a:pt x="2674620" y="235909"/>
                  </a:lnTo>
                  <a:cubicBezTo>
                    <a:pt x="2674620" y="240707"/>
                    <a:pt x="2672714" y="245308"/>
                    <a:pt x="2669321" y="248701"/>
                  </a:cubicBezTo>
                  <a:cubicBezTo>
                    <a:pt x="2665929" y="252094"/>
                    <a:pt x="2661327" y="254000"/>
                    <a:pt x="2656529" y="254000"/>
                  </a:cubicBezTo>
                  <a:lnTo>
                    <a:pt x="18091" y="254000"/>
                  </a:lnTo>
                  <a:cubicBezTo>
                    <a:pt x="13293" y="254000"/>
                    <a:pt x="8692" y="252094"/>
                    <a:pt x="5299" y="248701"/>
                  </a:cubicBezTo>
                  <a:cubicBezTo>
                    <a:pt x="1906" y="245308"/>
                    <a:pt x="0" y="240707"/>
                    <a:pt x="0" y="235909"/>
                  </a:cubicBezTo>
                  <a:lnTo>
                    <a:pt x="0" y="18091"/>
                  </a:lnTo>
                  <a:cubicBezTo>
                    <a:pt x="0" y="13293"/>
                    <a:pt x="1906" y="8692"/>
                    <a:pt x="5299" y="5299"/>
                  </a:cubicBezTo>
                  <a:cubicBezTo>
                    <a:pt x="8692" y="1906"/>
                    <a:pt x="13293" y="0"/>
                    <a:pt x="18091" y="0"/>
                  </a:cubicBezTo>
                  <a:close/>
                </a:path>
              </a:pathLst>
            </a:custGeom>
            <a:solidFill>
              <a:srgbClr val="9DB2CE"/>
            </a:solidFill>
          </p:spPr>
        </p:sp>
        <p:sp>
          <p:nvSpPr>
            <p:cNvPr name="TextBox 48" id="48"/>
            <p:cNvSpPr txBox="true"/>
            <p:nvPr/>
          </p:nvSpPr>
          <p:spPr>
            <a:xfrm>
              <a:off x="0" y="-38100"/>
              <a:ext cx="2674620" cy="292100"/>
            </a:xfrm>
            <a:prstGeom prst="rect">
              <a:avLst/>
            </a:prstGeom>
          </p:spPr>
          <p:txBody>
            <a:bodyPr anchor="ctr" rtlCol="false" tIns="50800" lIns="50800" bIns="50800" rIns="50800"/>
            <a:lstStyle/>
            <a:p>
              <a:pPr algn="l">
                <a:lnSpc>
                  <a:spcPts val="1679"/>
                </a:lnSpc>
              </a:pPr>
            </a:p>
          </p:txBody>
        </p:sp>
      </p:grpSp>
      <p:sp>
        <p:nvSpPr>
          <p:cNvPr name="TextBox 49" id="49"/>
          <p:cNvSpPr txBox="true"/>
          <p:nvPr/>
        </p:nvSpPr>
        <p:spPr>
          <a:xfrm rot="0">
            <a:off x="10054590" y="4765358"/>
            <a:ext cx="857250" cy="198120"/>
          </a:xfrm>
          <a:prstGeom prst="rect">
            <a:avLst/>
          </a:prstGeom>
        </p:spPr>
        <p:txBody>
          <a:bodyPr anchor="t" rtlCol="false" tIns="0" lIns="0" bIns="0" rIns="0">
            <a:spAutoFit/>
          </a:bodyPr>
          <a:lstStyle/>
          <a:p>
            <a:pPr algn="l">
              <a:lnSpc>
                <a:spcPts val="1485"/>
              </a:lnSpc>
            </a:pPr>
            <a:r>
              <a:rPr lang="en-US" sz="1350" b="true">
                <a:solidFill>
                  <a:srgbClr val="3D3C42"/>
                </a:solidFill>
                <a:latin typeface="Arimo Bold"/>
                <a:ea typeface="Arimo Bold"/>
                <a:cs typeface="Arimo Bold"/>
                <a:sym typeface="Arimo Bold"/>
              </a:rPr>
              <a:t>70.2%</a:t>
            </a:r>
          </a:p>
        </p:txBody>
      </p:sp>
      <p:grpSp>
        <p:nvGrpSpPr>
          <p:cNvPr name="Group 50" id="50"/>
          <p:cNvGrpSpPr/>
          <p:nvPr/>
        </p:nvGrpSpPr>
        <p:grpSpPr>
          <a:xfrm rot="0">
            <a:off x="7953375" y="5070158"/>
            <a:ext cx="1948815" cy="190500"/>
            <a:chOff x="0" y="0"/>
            <a:chExt cx="2598420" cy="254000"/>
          </a:xfrm>
        </p:grpSpPr>
        <p:sp>
          <p:nvSpPr>
            <p:cNvPr name="Freeform 51" id="51"/>
            <p:cNvSpPr/>
            <p:nvPr/>
          </p:nvSpPr>
          <p:spPr>
            <a:xfrm flipH="false" flipV="false" rot="0">
              <a:off x="0" y="0"/>
              <a:ext cx="2598420" cy="254000"/>
            </a:xfrm>
            <a:custGeom>
              <a:avLst/>
              <a:gdLst/>
              <a:ahLst/>
              <a:cxnLst/>
              <a:rect r="r" b="b" t="t" l="l"/>
              <a:pathLst>
                <a:path h="254000" w="2598420">
                  <a:moveTo>
                    <a:pt x="18622" y="0"/>
                  </a:moveTo>
                  <a:lnTo>
                    <a:pt x="2579798" y="0"/>
                  </a:lnTo>
                  <a:cubicBezTo>
                    <a:pt x="2590083" y="0"/>
                    <a:pt x="2598420" y="8337"/>
                    <a:pt x="2598420" y="18622"/>
                  </a:cubicBezTo>
                  <a:lnTo>
                    <a:pt x="2598420" y="235378"/>
                  </a:lnTo>
                  <a:cubicBezTo>
                    <a:pt x="2598420" y="240317"/>
                    <a:pt x="2596458" y="245054"/>
                    <a:pt x="2592966" y="248546"/>
                  </a:cubicBezTo>
                  <a:cubicBezTo>
                    <a:pt x="2589474" y="252038"/>
                    <a:pt x="2584737" y="254000"/>
                    <a:pt x="2579798" y="254000"/>
                  </a:cubicBezTo>
                  <a:lnTo>
                    <a:pt x="18622" y="254000"/>
                  </a:lnTo>
                  <a:cubicBezTo>
                    <a:pt x="8337" y="254000"/>
                    <a:pt x="0" y="245663"/>
                    <a:pt x="0" y="235378"/>
                  </a:cubicBezTo>
                  <a:lnTo>
                    <a:pt x="0" y="18622"/>
                  </a:lnTo>
                  <a:cubicBezTo>
                    <a:pt x="0" y="8337"/>
                    <a:pt x="8337" y="0"/>
                    <a:pt x="18622" y="0"/>
                  </a:cubicBezTo>
                  <a:close/>
                </a:path>
              </a:pathLst>
            </a:custGeom>
            <a:solidFill>
              <a:srgbClr val="9DB2CE"/>
            </a:solidFill>
          </p:spPr>
        </p:sp>
        <p:sp>
          <p:nvSpPr>
            <p:cNvPr name="TextBox 52" id="52"/>
            <p:cNvSpPr txBox="true"/>
            <p:nvPr/>
          </p:nvSpPr>
          <p:spPr>
            <a:xfrm>
              <a:off x="0" y="-38100"/>
              <a:ext cx="2598420" cy="292100"/>
            </a:xfrm>
            <a:prstGeom prst="rect">
              <a:avLst/>
            </a:prstGeom>
          </p:spPr>
          <p:txBody>
            <a:bodyPr anchor="ctr" rtlCol="false" tIns="50800" lIns="50800" bIns="50800" rIns="50800"/>
            <a:lstStyle/>
            <a:p>
              <a:pPr algn="l">
                <a:lnSpc>
                  <a:spcPts val="1679"/>
                </a:lnSpc>
              </a:pPr>
            </a:p>
          </p:txBody>
        </p:sp>
      </p:grpSp>
      <p:sp>
        <p:nvSpPr>
          <p:cNvPr name="TextBox 53" id="53"/>
          <p:cNvSpPr txBox="true"/>
          <p:nvPr/>
        </p:nvSpPr>
        <p:spPr>
          <a:xfrm rot="0">
            <a:off x="9997440" y="5060632"/>
            <a:ext cx="857250" cy="198120"/>
          </a:xfrm>
          <a:prstGeom prst="rect">
            <a:avLst/>
          </a:prstGeom>
        </p:spPr>
        <p:txBody>
          <a:bodyPr anchor="t" rtlCol="false" tIns="0" lIns="0" bIns="0" rIns="0">
            <a:spAutoFit/>
          </a:bodyPr>
          <a:lstStyle/>
          <a:p>
            <a:pPr algn="l">
              <a:lnSpc>
                <a:spcPts val="1485"/>
              </a:lnSpc>
            </a:pPr>
            <a:r>
              <a:rPr lang="en-US" sz="1350" b="true">
                <a:solidFill>
                  <a:srgbClr val="3D3C42"/>
                </a:solidFill>
                <a:latin typeface="Arimo Bold"/>
                <a:ea typeface="Arimo Bold"/>
                <a:cs typeface="Arimo Bold"/>
                <a:sym typeface="Arimo Bold"/>
              </a:rPr>
              <a:t>68.2%</a:t>
            </a:r>
          </a:p>
        </p:txBody>
      </p:sp>
      <p:grpSp>
        <p:nvGrpSpPr>
          <p:cNvPr name="Group 54" id="54"/>
          <p:cNvGrpSpPr/>
          <p:nvPr/>
        </p:nvGrpSpPr>
        <p:grpSpPr>
          <a:xfrm rot="0">
            <a:off x="7953375" y="5364480"/>
            <a:ext cx="1903095" cy="190500"/>
            <a:chOff x="0" y="0"/>
            <a:chExt cx="2537460" cy="254000"/>
          </a:xfrm>
        </p:grpSpPr>
        <p:sp>
          <p:nvSpPr>
            <p:cNvPr name="Freeform 55" id="55"/>
            <p:cNvSpPr/>
            <p:nvPr/>
          </p:nvSpPr>
          <p:spPr>
            <a:xfrm flipH="false" flipV="false" rot="0">
              <a:off x="0" y="0"/>
              <a:ext cx="2537460" cy="254000"/>
            </a:xfrm>
            <a:custGeom>
              <a:avLst/>
              <a:gdLst/>
              <a:ahLst/>
              <a:cxnLst/>
              <a:rect r="r" b="b" t="t" l="l"/>
              <a:pathLst>
                <a:path h="254000" w="2537460">
                  <a:moveTo>
                    <a:pt x="19069" y="0"/>
                  </a:moveTo>
                  <a:lnTo>
                    <a:pt x="2518391" y="0"/>
                  </a:lnTo>
                  <a:cubicBezTo>
                    <a:pt x="2528923" y="0"/>
                    <a:pt x="2537460" y="8538"/>
                    <a:pt x="2537460" y="19069"/>
                  </a:cubicBezTo>
                  <a:lnTo>
                    <a:pt x="2537460" y="234931"/>
                  </a:lnTo>
                  <a:cubicBezTo>
                    <a:pt x="2537460" y="239988"/>
                    <a:pt x="2535451" y="244839"/>
                    <a:pt x="2531875" y="248415"/>
                  </a:cubicBezTo>
                  <a:cubicBezTo>
                    <a:pt x="2528299" y="251991"/>
                    <a:pt x="2523448" y="254000"/>
                    <a:pt x="2518391" y="254000"/>
                  </a:cubicBezTo>
                  <a:lnTo>
                    <a:pt x="19069" y="254000"/>
                  </a:lnTo>
                  <a:cubicBezTo>
                    <a:pt x="14012" y="254000"/>
                    <a:pt x="9161" y="251991"/>
                    <a:pt x="5585" y="248415"/>
                  </a:cubicBezTo>
                  <a:cubicBezTo>
                    <a:pt x="2009" y="244839"/>
                    <a:pt x="0" y="239988"/>
                    <a:pt x="0" y="234931"/>
                  </a:cubicBezTo>
                  <a:lnTo>
                    <a:pt x="0" y="19069"/>
                  </a:lnTo>
                  <a:cubicBezTo>
                    <a:pt x="0" y="14012"/>
                    <a:pt x="2009" y="9161"/>
                    <a:pt x="5585" y="5585"/>
                  </a:cubicBezTo>
                  <a:cubicBezTo>
                    <a:pt x="9161" y="2009"/>
                    <a:pt x="14012" y="0"/>
                    <a:pt x="19069" y="0"/>
                  </a:cubicBezTo>
                  <a:close/>
                </a:path>
              </a:pathLst>
            </a:custGeom>
            <a:solidFill>
              <a:srgbClr val="9DB2CE"/>
            </a:solidFill>
          </p:spPr>
        </p:sp>
        <p:sp>
          <p:nvSpPr>
            <p:cNvPr name="TextBox 56" id="56"/>
            <p:cNvSpPr txBox="true"/>
            <p:nvPr/>
          </p:nvSpPr>
          <p:spPr>
            <a:xfrm>
              <a:off x="0" y="-38100"/>
              <a:ext cx="2537460" cy="292100"/>
            </a:xfrm>
            <a:prstGeom prst="rect">
              <a:avLst/>
            </a:prstGeom>
          </p:spPr>
          <p:txBody>
            <a:bodyPr anchor="ctr" rtlCol="false" tIns="50800" lIns="50800" bIns="50800" rIns="50800"/>
            <a:lstStyle/>
            <a:p>
              <a:pPr algn="l">
                <a:lnSpc>
                  <a:spcPts val="1679"/>
                </a:lnSpc>
              </a:pPr>
            </a:p>
          </p:txBody>
        </p:sp>
      </p:grpSp>
      <p:sp>
        <p:nvSpPr>
          <p:cNvPr name="TextBox 57" id="57"/>
          <p:cNvSpPr txBox="true"/>
          <p:nvPr/>
        </p:nvSpPr>
        <p:spPr>
          <a:xfrm rot="0">
            <a:off x="9951720" y="5354955"/>
            <a:ext cx="857250" cy="198120"/>
          </a:xfrm>
          <a:prstGeom prst="rect">
            <a:avLst/>
          </a:prstGeom>
        </p:spPr>
        <p:txBody>
          <a:bodyPr anchor="t" rtlCol="false" tIns="0" lIns="0" bIns="0" rIns="0">
            <a:spAutoFit/>
          </a:bodyPr>
          <a:lstStyle/>
          <a:p>
            <a:pPr algn="l">
              <a:lnSpc>
                <a:spcPts val="1485"/>
              </a:lnSpc>
            </a:pPr>
            <a:r>
              <a:rPr lang="en-US" sz="1350" b="true">
                <a:solidFill>
                  <a:srgbClr val="3D3C42"/>
                </a:solidFill>
                <a:latin typeface="Arimo Bold"/>
                <a:ea typeface="Arimo Bold"/>
                <a:cs typeface="Arimo Bold"/>
                <a:sym typeface="Arimo Bold"/>
              </a:rPr>
              <a:t>66.6%</a:t>
            </a:r>
          </a:p>
        </p:txBody>
      </p:sp>
      <p:grpSp>
        <p:nvGrpSpPr>
          <p:cNvPr name="Group 58" id="58"/>
          <p:cNvGrpSpPr/>
          <p:nvPr/>
        </p:nvGrpSpPr>
        <p:grpSpPr>
          <a:xfrm rot="0">
            <a:off x="7953375" y="5659755"/>
            <a:ext cx="1871662" cy="190500"/>
            <a:chOff x="0" y="0"/>
            <a:chExt cx="2495550" cy="254000"/>
          </a:xfrm>
        </p:grpSpPr>
        <p:sp>
          <p:nvSpPr>
            <p:cNvPr name="Freeform 59" id="59"/>
            <p:cNvSpPr/>
            <p:nvPr/>
          </p:nvSpPr>
          <p:spPr>
            <a:xfrm flipH="false" flipV="false" rot="0">
              <a:off x="0" y="0"/>
              <a:ext cx="2495550" cy="254000"/>
            </a:xfrm>
            <a:custGeom>
              <a:avLst/>
              <a:gdLst/>
              <a:ahLst/>
              <a:cxnLst/>
              <a:rect r="r" b="b" t="t" l="l"/>
              <a:pathLst>
                <a:path h="254000" w="2495550">
                  <a:moveTo>
                    <a:pt x="19389" y="0"/>
                  </a:moveTo>
                  <a:lnTo>
                    <a:pt x="2476161" y="0"/>
                  </a:lnTo>
                  <a:cubicBezTo>
                    <a:pt x="2486869" y="0"/>
                    <a:pt x="2495550" y="8681"/>
                    <a:pt x="2495550" y="19389"/>
                  </a:cubicBezTo>
                  <a:lnTo>
                    <a:pt x="2495550" y="234611"/>
                  </a:lnTo>
                  <a:cubicBezTo>
                    <a:pt x="2495550" y="245319"/>
                    <a:pt x="2486869" y="254000"/>
                    <a:pt x="2476161" y="254000"/>
                  </a:cubicBezTo>
                  <a:lnTo>
                    <a:pt x="19389" y="254000"/>
                  </a:lnTo>
                  <a:cubicBezTo>
                    <a:pt x="8681" y="254000"/>
                    <a:pt x="0" y="245319"/>
                    <a:pt x="0" y="234611"/>
                  </a:cubicBezTo>
                  <a:lnTo>
                    <a:pt x="0" y="19389"/>
                  </a:lnTo>
                  <a:cubicBezTo>
                    <a:pt x="0" y="8681"/>
                    <a:pt x="8681" y="0"/>
                    <a:pt x="19389" y="0"/>
                  </a:cubicBezTo>
                  <a:close/>
                </a:path>
              </a:pathLst>
            </a:custGeom>
            <a:solidFill>
              <a:srgbClr val="9DB2CE"/>
            </a:solidFill>
          </p:spPr>
        </p:sp>
        <p:sp>
          <p:nvSpPr>
            <p:cNvPr name="TextBox 60" id="60"/>
            <p:cNvSpPr txBox="true"/>
            <p:nvPr/>
          </p:nvSpPr>
          <p:spPr>
            <a:xfrm>
              <a:off x="0" y="-38100"/>
              <a:ext cx="2495550" cy="292100"/>
            </a:xfrm>
            <a:prstGeom prst="rect">
              <a:avLst/>
            </a:prstGeom>
          </p:spPr>
          <p:txBody>
            <a:bodyPr anchor="ctr" rtlCol="false" tIns="50800" lIns="50800" bIns="50800" rIns="50800"/>
            <a:lstStyle/>
            <a:p>
              <a:pPr algn="l">
                <a:lnSpc>
                  <a:spcPts val="1679"/>
                </a:lnSpc>
              </a:pPr>
            </a:p>
          </p:txBody>
        </p:sp>
      </p:grpSp>
      <p:sp>
        <p:nvSpPr>
          <p:cNvPr name="TextBox 61" id="61"/>
          <p:cNvSpPr txBox="true"/>
          <p:nvPr/>
        </p:nvSpPr>
        <p:spPr>
          <a:xfrm rot="0">
            <a:off x="9920288" y="5650230"/>
            <a:ext cx="857250" cy="198120"/>
          </a:xfrm>
          <a:prstGeom prst="rect">
            <a:avLst/>
          </a:prstGeom>
        </p:spPr>
        <p:txBody>
          <a:bodyPr anchor="t" rtlCol="false" tIns="0" lIns="0" bIns="0" rIns="0">
            <a:spAutoFit/>
          </a:bodyPr>
          <a:lstStyle/>
          <a:p>
            <a:pPr algn="l">
              <a:lnSpc>
                <a:spcPts val="1485"/>
              </a:lnSpc>
            </a:pPr>
            <a:r>
              <a:rPr lang="en-US" sz="1350" b="true">
                <a:solidFill>
                  <a:srgbClr val="3D3C42"/>
                </a:solidFill>
                <a:latin typeface="Arimo Bold"/>
                <a:ea typeface="Arimo Bold"/>
                <a:cs typeface="Arimo Bold"/>
                <a:sym typeface="Arimo Bold"/>
              </a:rPr>
              <a:t>65.5%</a:t>
            </a:r>
          </a:p>
        </p:txBody>
      </p:sp>
      <p:grpSp>
        <p:nvGrpSpPr>
          <p:cNvPr name="Group 62" id="62"/>
          <p:cNvGrpSpPr/>
          <p:nvPr/>
        </p:nvGrpSpPr>
        <p:grpSpPr>
          <a:xfrm rot="0">
            <a:off x="7953375" y="5955030"/>
            <a:ext cx="1868805" cy="190500"/>
            <a:chOff x="0" y="0"/>
            <a:chExt cx="2491740" cy="254000"/>
          </a:xfrm>
        </p:grpSpPr>
        <p:sp>
          <p:nvSpPr>
            <p:cNvPr name="Freeform 63" id="63"/>
            <p:cNvSpPr/>
            <p:nvPr/>
          </p:nvSpPr>
          <p:spPr>
            <a:xfrm flipH="false" flipV="false" rot="0">
              <a:off x="0" y="0"/>
              <a:ext cx="2491740" cy="254000"/>
            </a:xfrm>
            <a:custGeom>
              <a:avLst/>
              <a:gdLst/>
              <a:ahLst/>
              <a:cxnLst/>
              <a:rect r="r" b="b" t="t" l="l"/>
              <a:pathLst>
                <a:path h="254000" w="2491740">
                  <a:moveTo>
                    <a:pt x="19419" y="0"/>
                  </a:moveTo>
                  <a:lnTo>
                    <a:pt x="2472321" y="0"/>
                  </a:lnTo>
                  <a:cubicBezTo>
                    <a:pt x="2483046" y="0"/>
                    <a:pt x="2491740" y="8694"/>
                    <a:pt x="2491740" y="19419"/>
                  </a:cubicBezTo>
                  <a:lnTo>
                    <a:pt x="2491740" y="234581"/>
                  </a:lnTo>
                  <a:cubicBezTo>
                    <a:pt x="2491740" y="245306"/>
                    <a:pt x="2483046" y="254000"/>
                    <a:pt x="2472321" y="254000"/>
                  </a:cubicBezTo>
                  <a:lnTo>
                    <a:pt x="19419" y="254000"/>
                  </a:lnTo>
                  <a:cubicBezTo>
                    <a:pt x="8694" y="254000"/>
                    <a:pt x="0" y="245306"/>
                    <a:pt x="0" y="234581"/>
                  </a:cubicBezTo>
                  <a:lnTo>
                    <a:pt x="0" y="19419"/>
                  </a:lnTo>
                  <a:cubicBezTo>
                    <a:pt x="0" y="8694"/>
                    <a:pt x="8694" y="0"/>
                    <a:pt x="19419" y="0"/>
                  </a:cubicBezTo>
                  <a:close/>
                </a:path>
              </a:pathLst>
            </a:custGeom>
            <a:solidFill>
              <a:srgbClr val="A6D1E6"/>
            </a:solidFill>
          </p:spPr>
        </p:sp>
        <p:sp>
          <p:nvSpPr>
            <p:cNvPr name="TextBox 64" id="64"/>
            <p:cNvSpPr txBox="true"/>
            <p:nvPr/>
          </p:nvSpPr>
          <p:spPr>
            <a:xfrm>
              <a:off x="0" y="-38100"/>
              <a:ext cx="2491740" cy="292100"/>
            </a:xfrm>
            <a:prstGeom prst="rect">
              <a:avLst/>
            </a:prstGeom>
          </p:spPr>
          <p:txBody>
            <a:bodyPr anchor="ctr" rtlCol="false" tIns="50800" lIns="50800" bIns="50800" rIns="50800"/>
            <a:lstStyle/>
            <a:p>
              <a:pPr algn="l">
                <a:lnSpc>
                  <a:spcPts val="1679"/>
                </a:lnSpc>
              </a:pPr>
            </a:p>
          </p:txBody>
        </p:sp>
      </p:grpSp>
      <p:sp>
        <p:nvSpPr>
          <p:cNvPr name="TextBox 65" id="65"/>
          <p:cNvSpPr txBox="true"/>
          <p:nvPr/>
        </p:nvSpPr>
        <p:spPr>
          <a:xfrm rot="0">
            <a:off x="9917430" y="5945505"/>
            <a:ext cx="857250" cy="198120"/>
          </a:xfrm>
          <a:prstGeom prst="rect">
            <a:avLst/>
          </a:prstGeom>
        </p:spPr>
        <p:txBody>
          <a:bodyPr anchor="t" rtlCol="false" tIns="0" lIns="0" bIns="0" rIns="0">
            <a:spAutoFit/>
          </a:bodyPr>
          <a:lstStyle/>
          <a:p>
            <a:pPr algn="l">
              <a:lnSpc>
                <a:spcPts val="1485"/>
              </a:lnSpc>
            </a:pPr>
            <a:r>
              <a:rPr lang="en-US" sz="1350" b="true">
                <a:solidFill>
                  <a:srgbClr val="3D3C42"/>
                </a:solidFill>
                <a:latin typeface="Arimo Bold"/>
                <a:ea typeface="Arimo Bold"/>
                <a:cs typeface="Arimo Bold"/>
                <a:sym typeface="Arimo Bold"/>
              </a:rPr>
              <a:t>65.4%</a:t>
            </a:r>
          </a:p>
        </p:txBody>
      </p:sp>
      <p:grpSp>
        <p:nvGrpSpPr>
          <p:cNvPr name="Group 66" id="66"/>
          <p:cNvGrpSpPr/>
          <p:nvPr/>
        </p:nvGrpSpPr>
        <p:grpSpPr>
          <a:xfrm rot="0">
            <a:off x="7953375" y="6249353"/>
            <a:ext cx="1865948" cy="190500"/>
            <a:chOff x="0" y="0"/>
            <a:chExt cx="2487930" cy="254000"/>
          </a:xfrm>
        </p:grpSpPr>
        <p:sp>
          <p:nvSpPr>
            <p:cNvPr name="Freeform 67" id="67"/>
            <p:cNvSpPr/>
            <p:nvPr/>
          </p:nvSpPr>
          <p:spPr>
            <a:xfrm flipH="false" flipV="false" rot="0">
              <a:off x="0" y="0"/>
              <a:ext cx="2487930" cy="254000"/>
            </a:xfrm>
            <a:custGeom>
              <a:avLst/>
              <a:gdLst/>
              <a:ahLst/>
              <a:cxnLst/>
              <a:rect r="r" b="b" t="t" l="l"/>
              <a:pathLst>
                <a:path h="254000" w="2487930">
                  <a:moveTo>
                    <a:pt x="19449" y="0"/>
                  </a:moveTo>
                  <a:lnTo>
                    <a:pt x="2468481" y="0"/>
                  </a:lnTo>
                  <a:cubicBezTo>
                    <a:pt x="2473639" y="0"/>
                    <a:pt x="2478586" y="2049"/>
                    <a:pt x="2482234" y="5696"/>
                  </a:cubicBezTo>
                  <a:cubicBezTo>
                    <a:pt x="2485881" y="9344"/>
                    <a:pt x="2487930" y="14291"/>
                    <a:pt x="2487930" y="19449"/>
                  </a:cubicBezTo>
                  <a:lnTo>
                    <a:pt x="2487930" y="234551"/>
                  </a:lnTo>
                  <a:cubicBezTo>
                    <a:pt x="2487930" y="245293"/>
                    <a:pt x="2479223" y="254000"/>
                    <a:pt x="2468481" y="254000"/>
                  </a:cubicBezTo>
                  <a:lnTo>
                    <a:pt x="19449" y="254000"/>
                  </a:lnTo>
                  <a:cubicBezTo>
                    <a:pt x="8707" y="254000"/>
                    <a:pt x="0" y="245293"/>
                    <a:pt x="0" y="234551"/>
                  </a:cubicBezTo>
                  <a:lnTo>
                    <a:pt x="0" y="19449"/>
                  </a:lnTo>
                  <a:cubicBezTo>
                    <a:pt x="0" y="8707"/>
                    <a:pt x="8707" y="0"/>
                    <a:pt x="19449" y="0"/>
                  </a:cubicBezTo>
                  <a:close/>
                </a:path>
              </a:pathLst>
            </a:custGeom>
            <a:solidFill>
              <a:srgbClr val="A6D1E6"/>
            </a:solidFill>
          </p:spPr>
        </p:sp>
        <p:sp>
          <p:nvSpPr>
            <p:cNvPr name="TextBox 68" id="68"/>
            <p:cNvSpPr txBox="true"/>
            <p:nvPr/>
          </p:nvSpPr>
          <p:spPr>
            <a:xfrm>
              <a:off x="0" y="-38100"/>
              <a:ext cx="2487930" cy="292100"/>
            </a:xfrm>
            <a:prstGeom prst="rect">
              <a:avLst/>
            </a:prstGeom>
          </p:spPr>
          <p:txBody>
            <a:bodyPr anchor="ctr" rtlCol="false" tIns="50800" lIns="50800" bIns="50800" rIns="50800"/>
            <a:lstStyle/>
            <a:p>
              <a:pPr algn="l">
                <a:lnSpc>
                  <a:spcPts val="1679"/>
                </a:lnSpc>
              </a:pPr>
            </a:p>
          </p:txBody>
        </p:sp>
      </p:grpSp>
      <p:sp>
        <p:nvSpPr>
          <p:cNvPr name="TextBox 69" id="69"/>
          <p:cNvSpPr txBox="true"/>
          <p:nvPr/>
        </p:nvSpPr>
        <p:spPr>
          <a:xfrm rot="0">
            <a:off x="9914572" y="6239828"/>
            <a:ext cx="857250" cy="198120"/>
          </a:xfrm>
          <a:prstGeom prst="rect">
            <a:avLst/>
          </a:prstGeom>
        </p:spPr>
        <p:txBody>
          <a:bodyPr anchor="t" rtlCol="false" tIns="0" lIns="0" bIns="0" rIns="0">
            <a:spAutoFit/>
          </a:bodyPr>
          <a:lstStyle/>
          <a:p>
            <a:pPr algn="l">
              <a:lnSpc>
                <a:spcPts val="1485"/>
              </a:lnSpc>
            </a:pPr>
            <a:r>
              <a:rPr lang="en-US" sz="1350" b="true">
                <a:solidFill>
                  <a:srgbClr val="3D3C42"/>
                </a:solidFill>
                <a:latin typeface="Arimo Bold"/>
                <a:ea typeface="Arimo Bold"/>
                <a:cs typeface="Arimo Bold"/>
                <a:sym typeface="Arimo Bold"/>
              </a:rPr>
              <a:t>65.3%</a:t>
            </a:r>
          </a:p>
        </p:txBody>
      </p:sp>
      <p:grpSp>
        <p:nvGrpSpPr>
          <p:cNvPr name="Group 70" id="70"/>
          <p:cNvGrpSpPr/>
          <p:nvPr/>
        </p:nvGrpSpPr>
        <p:grpSpPr>
          <a:xfrm rot="0">
            <a:off x="12715875" y="2800350"/>
            <a:ext cx="4124325" cy="190500"/>
            <a:chOff x="0" y="0"/>
            <a:chExt cx="5499100" cy="254000"/>
          </a:xfrm>
        </p:grpSpPr>
        <p:sp>
          <p:nvSpPr>
            <p:cNvPr name="Freeform 71" id="71"/>
            <p:cNvSpPr/>
            <p:nvPr/>
          </p:nvSpPr>
          <p:spPr>
            <a:xfrm flipH="false" flipV="false" rot="0">
              <a:off x="0" y="0"/>
              <a:ext cx="5499100" cy="254000"/>
            </a:xfrm>
            <a:custGeom>
              <a:avLst/>
              <a:gdLst/>
              <a:ahLst/>
              <a:cxnLst/>
              <a:rect r="r" b="b" t="t" l="l"/>
              <a:pathLst>
                <a:path h="254000" w="5499100">
                  <a:moveTo>
                    <a:pt x="29330" y="0"/>
                  </a:moveTo>
                  <a:lnTo>
                    <a:pt x="5469770" y="0"/>
                  </a:lnTo>
                  <a:cubicBezTo>
                    <a:pt x="5477549" y="0"/>
                    <a:pt x="5485009" y="3090"/>
                    <a:pt x="5490509" y="8591"/>
                  </a:cubicBezTo>
                  <a:cubicBezTo>
                    <a:pt x="5496010" y="14091"/>
                    <a:pt x="5499100" y="21551"/>
                    <a:pt x="5499100" y="29330"/>
                  </a:cubicBezTo>
                  <a:lnTo>
                    <a:pt x="5499100" y="224670"/>
                  </a:lnTo>
                  <a:cubicBezTo>
                    <a:pt x="5499100" y="232449"/>
                    <a:pt x="5496010" y="239909"/>
                    <a:pt x="5490509" y="245409"/>
                  </a:cubicBezTo>
                  <a:cubicBezTo>
                    <a:pt x="5485009" y="250910"/>
                    <a:pt x="5477549" y="254000"/>
                    <a:pt x="5469770" y="254000"/>
                  </a:cubicBezTo>
                  <a:lnTo>
                    <a:pt x="29330" y="254000"/>
                  </a:lnTo>
                  <a:cubicBezTo>
                    <a:pt x="21551" y="254000"/>
                    <a:pt x="14091" y="250910"/>
                    <a:pt x="8591" y="245409"/>
                  </a:cubicBezTo>
                  <a:cubicBezTo>
                    <a:pt x="3090" y="239909"/>
                    <a:pt x="0" y="232449"/>
                    <a:pt x="0" y="224670"/>
                  </a:cubicBezTo>
                  <a:lnTo>
                    <a:pt x="0" y="29330"/>
                  </a:lnTo>
                  <a:cubicBezTo>
                    <a:pt x="0" y="21551"/>
                    <a:pt x="3090" y="14091"/>
                    <a:pt x="8591" y="8591"/>
                  </a:cubicBezTo>
                  <a:cubicBezTo>
                    <a:pt x="14091" y="3090"/>
                    <a:pt x="21551" y="0"/>
                    <a:pt x="29330" y="0"/>
                  </a:cubicBezTo>
                  <a:close/>
                </a:path>
              </a:pathLst>
            </a:custGeom>
            <a:solidFill>
              <a:srgbClr val="D2E6EE"/>
            </a:solidFill>
          </p:spPr>
        </p:sp>
        <p:sp>
          <p:nvSpPr>
            <p:cNvPr name="TextBox 72" id="72"/>
            <p:cNvSpPr txBox="true"/>
            <p:nvPr/>
          </p:nvSpPr>
          <p:spPr>
            <a:xfrm>
              <a:off x="0" y="-38100"/>
              <a:ext cx="5499100" cy="292100"/>
            </a:xfrm>
            <a:prstGeom prst="rect">
              <a:avLst/>
            </a:prstGeom>
          </p:spPr>
          <p:txBody>
            <a:bodyPr anchor="ctr" rtlCol="false" tIns="50800" lIns="50800" bIns="50800" rIns="50800"/>
            <a:lstStyle/>
            <a:p>
              <a:pPr algn="l">
                <a:lnSpc>
                  <a:spcPts val="1679"/>
                </a:lnSpc>
              </a:pPr>
            </a:p>
          </p:txBody>
        </p:sp>
      </p:grpSp>
      <p:grpSp>
        <p:nvGrpSpPr>
          <p:cNvPr name="Group 73" id="73"/>
          <p:cNvGrpSpPr/>
          <p:nvPr/>
        </p:nvGrpSpPr>
        <p:grpSpPr>
          <a:xfrm rot="0">
            <a:off x="12715875" y="2800350"/>
            <a:ext cx="4124325" cy="190500"/>
            <a:chOff x="0" y="0"/>
            <a:chExt cx="5499100" cy="254000"/>
          </a:xfrm>
        </p:grpSpPr>
        <p:sp>
          <p:nvSpPr>
            <p:cNvPr name="Freeform 74" id="74"/>
            <p:cNvSpPr/>
            <p:nvPr/>
          </p:nvSpPr>
          <p:spPr>
            <a:xfrm flipH="false" flipV="false" rot="0">
              <a:off x="0" y="0"/>
              <a:ext cx="5499100" cy="254000"/>
            </a:xfrm>
            <a:custGeom>
              <a:avLst/>
              <a:gdLst/>
              <a:ahLst/>
              <a:cxnLst/>
              <a:rect r="r" b="b" t="t" l="l"/>
              <a:pathLst>
                <a:path h="254000" w="5499100">
                  <a:moveTo>
                    <a:pt x="29330" y="0"/>
                  </a:moveTo>
                  <a:lnTo>
                    <a:pt x="5469770" y="0"/>
                  </a:lnTo>
                  <a:cubicBezTo>
                    <a:pt x="5477549" y="0"/>
                    <a:pt x="5485009" y="3090"/>
                    <a:pt x="5490509" y="8591"/>
                  </a:cubicBezTo>
                  <a:cubicBezTo>
                    <a:pt x="5496010" y="14091"/>
                    <a:pt x="5499100" y="21551"/>
                    <a:pt x="5499100" y="29330"/>
                  </a:cubicBezTo>
                  <a:lnTo>
                    <a:pt x="5499100" y="224670"/>
                  </a:lnTo>
                  <a:cubicBezTo>
                    <a:pt x="5499100" y="232449"/>
                    <a:pt x="5496010" y="239909"/>
                    <a:pt x="5490509" y="245409"/>
                  </a:cubicBezTo>
                  <a:cubicBezTo>
                    <a:pt x="5485009" y="250910"/>
                    <a:pt x="5477549" y="254000"/>
                    <a:pt x="5469770" y="254000"/>
                  </a:cubicBezTo>
                  <a:lnTo>
                    <a:pt x="29330" y="254000"/>
                  </a:lnTo>
                  <a:cubicBezTo>
                    <a:pt x="21551" y="254000"/>
                    <a:pt x="14091" y="250910"/>
                    <a:pt x="8591" y="245409"/>
                  </a:cubicBezTo>
                  <a:cubicBezTo>
                    <a:pt x="3090" y="239909"/>
                    <a:pt x="0" y="232449"/>
                    <a:pt x="0" y="224670"/>
                  </a:cubicBezTo>
                  <a:lnTo>
                    <a:pt x="0" y="29330"/>
                  </a:lnTo>
                  <a:cubicBezTo>
                    <a:pt x="0" y="21551"/>
                    <a:pt x="3090" y="14091"/>
                    <a:pt x="8591" y="8591"/>
                  </a:cubicBezTo>
                  <a:cubicBezTo>
                    <a:pt x="14091" y="3090"/>
                    <a:pt x="21551" y="0"/>
                    <a:pt x="29330" y="0"/>
                  </a:cubicBezTo>
                  <a:close/>
                </a:path>
              </a:pathLst>
            </a:custGeom>
            <a:solidFill>
              <a:srgbClr val="7F5283"/>
            </a:solidFill>
          </p:spPr>
        </p:sp>
        <p:sp>
          <p:nvSpPr>
            <p:cNvPr name="TextBox 75" id="75"/>
            <p:cNvSpPr txBox="true"/>
            <p:nvPr/>
          </p:nvSpPr>
          <p:spPr>
            <a:xfrm>
              <a:off x="0" y="-38100"/>
              <a:ext cx="5499100" cy="292100"/>
            </a:xfrm>
            <a:prstGeom prst="rect">
              <a:avLst/>
            </a:prstGeom>
          </p:spPr>
          <p:txBody>
            <a:bodyPr anchor="ctr" rtlCol="false" tIns="50800" lIns="50800" bIns="50800" rIns="50800"/>
            <a:lstStyle/>
            <a:p>
              <a:pPr algn="l">
                <a:lnSpc>
                  <a:spcPts val="1679"/>
                </a:lnSpc>
              </a:pPr>
            </a:p>
          </p:txBody>
        </p:sp>
      </p:grpSp>
      <p:grpSp>
        <p:nvGrpSpPr>
          <p:cNvPr name="Group 76" id="76"/>
          <p:cNvGrpSpPr/>
          <p:nvPr/>
        </p:nvGrpSpPr>
        <p:grpSpPr>
          <a:xfrm rot="0">
            <a:off x="12715875" y="4657725"/>
            <a:ext cx="4124325" cy="190500"/>
            <a:chOff x="0" y="0"/>
            <a:chExt cx="5499100" cy="254000"/>
          </a:xfrm>
        </p:grpSpPr>
        <p:sp>
          <p:nvSpPr>
            <p:cNvPr name="Freeform 77" id="77"/>
            <p:cNvSpPr/>
            <p:nvPr/>
          </p:nvSpPr>
          <p:spPr>
            <a:xfrm flipH="false" flipV="false" rot="0">
              <a:off x="0" y="0"/>
              <a:ext cx="5499100" cy="254000"/>
            </a:xfrm>
            <a:custGeom>
              <a:avLst/>
              <a:gdLst/>
              <a:ahLst/>
              <a:cxnLst/>
              <a:rect r="r" b="b" t="t" l="l"/>
              <a:pathLst>
                <a:path h="254000" w="5499100">
                  <a:moveTo>
                    <a:pt x="29330" y="0"/>
                  </a:moveTo>
                  <a:lnTo>
                    <a:pt x="5469770" y="0"/>
                  </a:lnTo>
                  <a:cubicBezTo>
                    <a:pt x="5477549" y="0"/>
                    <a:pt x="5485009" y="3090"/>
                    <a:pt x="5490509" y="8591"/>
                  </a:cubicBezTo>
                  <a:cubicBezTo>
                    <a:pt x="5496010" y="14091"/>
                    <a:pt x="5499100" y="21551"/>
                    <a:pt x="5499100" y="29330"/>
                  </a:cubicBezTo>
                  <a:lnTo>
                    <a:pt x="5499100" y="224670"/>
                  </a:lnTo>
                  <a:cubicBezTo>
                    <a:pt x="5499100" y="232449"/>
                    <a:pt x="5496010" y="239909"/>
                    <a:pt x="5490509" y="245409"/>
                  </a:cubicBezTo>
                  <a:cubicBezTo>
                    <a:pt x="5485009" y="250910"/>
                    <a:pt x="5477549" y="254000"/>
                    <a:pt x="5469770" y="254000"/>
                  </a:cubicBezTo>
                  <a:lnTo>
                    <a:pt x="29330" y="254000"/>
                  </a:lnTo>
                  <a:cubicBezTo>
                    <a:pt x="21551" y="254000"/>
                    <a:pt x="14091" y="250910"/>
                    <a:pt x="8591" y="245409"/>
                  </a:cubicBezTo>
                  <a:cubicBezTo>
                    <a:pt x="3090" y="239909"/>
                    <a:pt x="0" y="232449"/>
                    <a:pt x="0" y="224670"/>
                  </a:cubicBezTo>
                  <a:lnTo>
                    <a:pt x="0" y="29330"/>
                  </a:lnTo>
                  <a:cubicBezTo>
                    <a:pt x="0" y="21551"/>
                    <a:pt x="3090" y="14091"/>
                    <a:pt x="8591" y="8591"/>
                  </a:cubicBezTo>
                  <a:cubicBezTo>
                    <a:pt x="14091" y="3090"/>
                    <a:pt x="21551" y="0"/>
                    <a:pt x="29330" y="0"/>
                  </a:cubicBezTo>
                  <a:close/>
                </a:path>
              </a:pathLst>
            </a:custGeom>
            <a:solidFill>
              <a:srgbClr val="D2E6EE"/>
            </a:solidFill>
          </p:spPr>
        </p:sp>
        <p:sp>
          <p:nvSpPr>
            <p:cNvPr name="TextBox 78" id="78"/>
            <p:cNvSpPr txBox="true"/>
            <p:nvPr/>
          </p:nvSpPr>
          <p:spPr>
            <a:xfrm>
              <a:off x="0" y="-38100"/>
              <a:ext cx="5499100" cy="292100"/>
            </a:xfrm>
            <a:prstGeom prst="rect">
              <a:avLst/>
            </a:prstGeom>
          </p:spPr>
          <p:txBody>
            <a:bodyPr anchor="ctr" rtlCol="false" tIns="50800" lIns="50800" bIns="50800" rIns="50800"/>
            <a:lstStyle/>
            <a:p>
              <a:pPr algn="l">
                <a:lnSpc>
                  <a:spcPts val="1679"/>
                </a:lnSpc>
              </a:pPr>
            </a:p>
          </p:txBody>
        </p:sp>
      </p:grpSp>
      <p:grpSp>
        <p:nvGrpSpPr>
          <p:cNvPr name="Group 79" id="79"/>
          <p:cNvGrpSpPr/>
          <p:nvPr/>
        </p:nvGrpSpPr>
        <p:grpSpPr>
          <a:xfrm rot="0">
            <a:off x="12715875" y="4657725"/>
            <a:ext cx="3917633" cy="190500"/>
            <a:chOff x="0" y="0"/>
            <a:chExt cx="5223510" cy="254000"/>
          </a:xfrm>
        </p:grpSpPr>
        <p:sp>
          <p:nvSpPr>
            <p:cNvPr name="Freeform 80" id="80"/>
            <p:cNvSpPr/>
            <p:nvPr/>
          </p:nvSpPr>
          <p:spPr>
            <a:xfrm flipH="false" flipV="false" rot="0">
              <a:off x="0" y="0"/>
              <a:ext cx="5223510" cy="254000"/>
            </a:xfrm>
            <a:custGeom>
              <a:avLst/>
              <a:gdLst/>
              <a:ahLst/>
              <a:cxnLst/>
              <a:rect r="r" b="b" t="t" l="l"/>
              <a:pathLst>
                <a:path h="254000" w="5223510">
                  <a:moveTo>
                    <a:pt x="30878" y="0"/>
                  </a:moveTo>
                  <a:lnTo>
                    <a:pt x="5192632" y="0"/>
                  </a:lnTo>
                  <a:cubicBezTo>
                    <a:pt x="5209685" y="0"/>
                    <a:pt x="5223510" y="13824"/>
                    <a:pt x="5223510" y="30878"/>
                  </a:cubicBezTo>
                  <a:lnTo>
                    <a:pt x="5223510" y="223122"/>
                  </a:lnTo>
                  <a:cubicBezTo>
                    <a:pt x="5223510" y="231312"/>
                    <a:pt x="5220257" y="239165"/>
                    <a:pt x="5214466" y="244956"/>
                  </a:cubicBezTo>
                  <a:cubicBezTo>
                    <a:pt x="5208675" y="250747"/>
                    <a:pt x="5200821" y="254000"/>
                    <a:pt x="5192632" y="254000"/>
                  </a:cubicBezTo>
                  <a:lnTo>
                    <a:pt x="30878" y="254000"/>
                  </a:lnTo>
                  <a:cubicBezTo>
                    <a:pt x="22688" y="254000"/>
                    <a:pt x="14835" y="250747"/>
                    <a:pt x="9044" y="244956"/>
                  </a:cubicBezTo>
                  <a:cubicBezTo>
                    <a:pt x="3253" y="239165"/>
                    <a:pt x="0" y="231312"/>
                    <a:pt x="0" y="223122"/>
                  </a:cubicBezTo>
                  <a:lnTo>
                    <a:pt x="0" y="30878"/>
                  </a:lnTo>
                  <a:cubicBezTo>
                    <a:pt x="0" y="22688"/>
                    <a:pt x="3253" y="14835"/>
                    <a:pt x="9044" y="9044"/>
                  </a:cubicBezTo>
                  <a:cubicBezTo>
                    <a:pt x="14835" y="3253"/>
                    <a:pt x="22688" y="0"/>
                    <a:pt x="30878" y="0"/>
                  </a:cubicBezTo>
                  <a:close/>
                </a:path>
              </a:pathLst>
            </a:custGeom>
            <a:solidFill>
              <a:srgbClr val="9DB2CE"/>
            </a:solidFill>
          </p:spPr>
        </p:sp>
        <p:sp>
          <p:nvSpPr>
            <p:cNvPr name="TextBox 81" id="81"/>
            <p:cNvSpPr txBox="true"/>
            <p:nvPr/>
          </p:nvSpPr>
          <p:spPr>
            <a:xfrm>
              <a:off x="0" y="-38100"/>
              <a:ext cx="5223510" cy="292100"/>
            </a:xfrm>
            <a:prstGeom prst="rect">
              <a:avLst/>
            </a:prstGeom>
          </p:spPr>
          <p:txBody>
            <a:bodyPr anchor="ctr" rtlCol="false" tIns="50800" lIns="50800" bIns="50800" rIns="50800"/>
            <a:lstStyle/>
            <a:p>
              <a:pPr algn="l">
                <a:lnSpc>
                  <a:spcPts val="1679"/>
                </a:lnSpc>
              </a:pPr>
            </a:p>
          </p:txBody>
        </p:sp>
      </p:grpSp>
      <p:grpSp>
        <p:nvGrpSpPr>
          <p:cNvPr name="Group 82" id="82"/>
          <p:cNvGrpSpPr/>
          <p:nvPr/>
        </p:nvGrpSpPr>
        <p:grpSpPr>
          <a:xfrm rot="0">
            <a:off x="12715875" y="6515100"/>
            <a:ext cx="4124325" cy="190500"/>
            <a:chOff x="0" y="0"/>
            <a:chExt cx="5499100" cy="254000"/>
          </a:xfrm>
        </p:grpSpPr>
        <p:sp>
          <p:nvSpPr>
            <p:cNvPr name="Freeform 83" id="83"/>
            <p:cNvSpPr/>
            <p:nvPr/>
          </p:nvSpPr>
          <p:spPr>
            <a:xfrm flipH="false" flipV="false" rot="0">
              <a:off x="0" y="0"/>
              <a:ext cx="5499100" cy="254000"/>
            </a:xfrm>
            <a:custGeom>
              <a:avLst/>
              <a:gdLst/>
              <a:ahLst/>
              <a:cxnLst/>
              <a:rect r="r" b="b" t="t" l="l"/>
              <a:pathLst>
                <a:path h="254000" w="5499100">
                  <a:moveTo>
                    <a:pt x="29330" y="0"/>
                  </a:moveTo>
                  <a:lnTo>
                    <a:pt x="5469770" y="0"/>
                  </a:lnTo>
                  <a:cubicBezTo>
                    <a:pt x="5477549" y="0"/>
                    <a:pt x="5485009" y="3090"/>
                    <a:pt x="5490509" y="8591"/>
                  </a:cubicBezTo>
                  <a:cubicBezTo>
                    <a:pt x="5496010" y="14091"/>
                    <a:pt x="5499100" y="21551"/>
                    <a:pt x="5499100" y="29330"/>
                  </a:cubicBezTo>
                  <a:lnTo>
                    <a:pt x="5499100" y="224670"/>
                  </a:lnTo>
                  <a:cubicBezTo>
                    <a:pt x="5499100" y="232449"/>
                    <a:pt x="5496010" y="239909"/>
                    <a:pt x="5490509" y="245409"/>
                  </a:cubicBezTo>
                  <a:cubicBezTo>
                    <a:pt x="5485009" y="250910"/>
                    <a:pt x="5477549" y="254000"/>
                    <a:pt x="5469770" y="254000"/>
                  </a:cubicBezTo>
                  <a:lnTo>
                    <a:pt x="29330" y="254000"/>
                  </a:lnTo>
                  <a:cubicBezTo>
                    <a:pt x="21551" y="254000"/>
                    <a:pt x="14091" y="250910"/>
                    <a:pt x="8591" y="245409"/>
                  </a:cubicBezTo>
                  <a:cubicBezTo>
                    <a:pt x="3090" y="239909"/>
                    <a:pt x="0" y="232449"/>
                    <a:pt x="0" y="224670"/>
                  </a:cubicBezTo>
                  <a:lnTo>
                    <a:pt x="0" y="29330"/>
                  </a:lnTo>
                  <a:cubicBezTo>
                    <a:pt x="0" y="21551"/>
                    <a:pt x="3090" y="14091"/>
                    <a:pt x="8591" y="8591"/>
                  </a:cubicBezTo>
                  <a:cubicBezTo>
                    <a:pt x="14091" y="3090"/>
                    <a:pt x="21551" y="0"/>
                    <a:pt x="29330" y="0"/>
                  </a:cubicBezTo>
                  <a:close/>
                </a:path>
              </a:pathLst>
            </a:custGeom>
            <a:solidFill>
              <a:srgbClr val="D2E6EE"/>
            </a:solidFill>
          </p:spPr>
        </p:sp>
        <p:sp>
          <p:nvSpPr>
            <p:cNvPr name="TextBox 84" id="84"/>
            <p:cNvSpPr txBox="true"/>
            <p:nvPr/>
          </p:nvSpPr>
          <p:spPr>
            <a:xfrm>
              <a:off x="0" y="-38100"/>
              <a:ext cx="5499100" cy="292100"/>
            </a:xfrm>
            <a:prstGeom prst="rect">
              <a:avLst/>
            </a:prstGeom>
          </p:spPr>
          <p:txBody>
            <a:bodyPr anchor="ctr" rtlCol="false" tIns="50800" lIns="50800" bIns="50800" rIns="50800"/>
            <a:lstStyle/>
            <a:p>
              <a:pPr algn="l">
                <a:lnSpc>
                  <a:spcPts val="1679"/>
                </a:lnSpc>
              </a:pPr>
            </a:p>
          </p:txBody>
        </p:sp>
      </p:grpSp>
      <p:grpSp>
        <p:nvGrpSpPr>
          <p:cNvPr name="Group 85" id="85"/>
          <p:cNvGrpSpPr/>
          <p:nvPr/>
        </p:nvGrpSpPr>
        <p:grpSpPr>
          <a:xfrm rot="0">
            <a:off x="12715875" y="6515100"/>
            <a:ext cx="2812733" cy="190500"/>
            <a:chOff x="0" y="0"/>
            <a:chExt cx="3750310" cy="254000"/>
          </a:xfrm>
        </p:grpSpPr>
        <p:sp>
          <p:nvSpPr>
            <p:cNvPr name="Freeform 86" id="86"/>
            <p:cNvSpPr/>
            <p:nvPr/>
          </p:nvSpPr>
          <p:spPr>
            <a:xfrm flipH="false" flipV="false" rot="0">
              <a:off x="0" y="0"/>
              <a:ext cx="3750310" cy="254000"/>
            </a:xfrm>
            <a:custGeom>
              <a:avLst/>
              <a:gdLst/>
              <a:ahLst/>
              <a:cxnLst/>
              <a:rect r="r" b="b" t="t" l="l"/>
              <a:pathLst>
                <a:path h="254000" w="3750310">
                  <a:moveTo>
                    <a:pt x="43007" y="0"/>
                  </a:moveTo>
                  <a:lnTo>
                    <a:pt x="3707303" y="0"/>
                  </a:lnTo>
                  <a:cubicBezTo>
                    <a:pt x="3731055" y="0"/>
                    <a:pt x="3750310" y="19255"/>
                    <a:pt x="3750310" y="43007"/>
                  </a:cubicBezTo>
                  <a:lnTo>
                    <a:pt x="3750310" y="210993"/>
                  </a:lnTo>
                  <a:cubicBezTo>
                    <a:pt x="3750310" y="234745"/>
                    <a:pt x="3731055" y="254000"/>
                    <a:pt x="3707303" y="254000"/>
                  </a:cubicBezTo>
                  <a:lnTo>
                    <a:pt x="43007" y="254000"/>
                  </a:lnTo>
                  <a:cubicBezTo>
                    <a:pt x="19255" y="254000"/>
                    <a:pt x="0" y="234745"/>
                    <a:pt x="0" y="210993"/>
                  </a:cubicBezTo>
                  <a:lnTo>
                    <a:pt x="0" y="43007"/>
                  </a:lnTo>
                  <a:cubicBezTo>
                    <a:pt x="0" y="19255"/>
                    <a:pt x="19255" y="0"/>
                    <a:pt x="43007" y="0"/>
                  </a:cubicBezTo>
                  <a:close/>
                </a:path>
              </a:pathLst>
            </a:custGeom>
            <a:solidFill>
              <a:srgbClr val="9DB2CE"/>
            </a:solidFill>
          </p:spPr>
        </p:sp>
        <p:sp>
          <p:nvSpPr>
            <p:cNvPr name="TextBox 87" id="87"/>
            <p:cNvSpPr txBox="true"/>
            <p:nvPr/>
          </p:nvSpPr>
          <p:spPr>
            <a:xfrm>
              <a:off x="0" y="-38100"/>
              <a:ext cx="3750310" cy="292100"/>
            </a:xfrm>
            <a:prstGeom prst="rect">
              <a:avLst/>
            </a:prstGeom>
          </p:spPr>
          <p:txBody>
            <a:bodyPr anchor="ctr" rtlCol="false" tIns="50800" lIns="50800" bIns="50800" rIns="50800"/>
            <a:lstStyle/>
            <a:p>
              <a:pPr algn="l">
                <a:lnSpc>
                  <a:spcPts val="1679"/>
                </a:lnSpc>
              </a:pPr>
            </a:p>
          </p:txBody>
        </p:sp>
      </p:grpSp>
      <p:grpSp>
        <p:nvGrpSpPr>
          <p:cNvPr name="Group 88" id="88"/>
          <p:cNvGrpSpPr/>
          <p:nvPr/>
        </p:nvGrpSpPr>
        <p:grpSpPr>
          <a:xfrm rot="0">
            <a:off x="12715875" y="8372475"/>
            <a:ext cx="4124325" cy="190500"/>
            <a:chOff x="0" y="0"/>
            <a:chExt cx="5499100" cy="254000"/>
          </a:xfrm>
        </p:grpSpPr>
        <p:sp>
          <p:nvSpPr>
            <p:cNvPr name="Freeform 89" id="89"/>
            <p:cNvSpPr/>
            <p:nvPr/>
          </p:nvSpPr>
          <p:spPr>
            <a:xfrm flipH="false" flipV="false" rot="0">
              <a:off x="0" y="0"/>
              <a:ext cx="5499100" cy="254000"/>
            </a:xfrm>
            <a:custGeom>
              <a:avLst/>
              <a:gdLst/>
              <a:ahLst/>
              <a:cxnLst/>
              <a:rect r="r" b="b" t="t" l="l"/>
              <a:pathLst>
                <a:path h="254000" w="5499100">
                  <a:moveTo>
                    <a:pt x="29330" y="0"/>
                  </a:moveTo>
                  <a:lnTo>
                    <a:pt x="5469770" y="0"/>
                  </a:lnTo>
                  <a:cubicBezTo>
                    <a:pt x="5477549" y="0"/>
                    <a:pt x="5485009" y="3090"/>
                    <a:pt x="5490509" y="8591"/>
                  </a:cubicBezTo>
                  <a:cubicBezTo>
                    <a:pt x="5496010" y="14091"/>
                    <a:pt x="5499100" y="21551"/>
                    <a:pt x="5499100" y="29330"/>
                  </a:cubicBezTo>
                  <a:lnTo>
                    <a:pt x="5499100" y="224670"/>
                  </a:lnTo>
                  <a:cubicBezTo>
                    <a:pt x="5499100" y="232449"/>
                    <a:pt x="5496010" y="239909"/>
                    <a:pt x="5490509" y="245409"/>
                  </a:cubicBezTo>
                  <a:cubicBezTo>
                    <a:pt x="5485009" y="250910"/>
                    <a:pt x="5477549" y="254000"/>
                    <a:pt x="5469770" y="254000"/>
                  </a:cubicBezTo>
                  <a:lnTo>
                    <a:pt x="29330" y="254000"/>
                  </a:lnTo>
                  <a:cubicBezTo>
                    <a:pt x="21551" y="254000"/>
                    <a:pt x="14091" y="250910"/>
                    <a:pt x="8591" y="245409"/>
                  </a:cubicBezTo>
                  <a:cubicBezTo>
                    <a:pt x="3090" y="239909"/>
                    <a:pt x="0" y="232449"/>
                    <a:pt x="0" y="224670"/>
                  </a:cubicBezTo>
                  <a:lnTo>
                    <a:pt x="0" y="29330"/>
                  </a:lnTo>
                  <a:cubicBezTo>
                    <a:pt x="0" y="21551"/>
                    <a:pt x="3090" y="14091"/>
                    <a:pt x="8591" y="8591"/>
                  </a:cubicBezTo>
                  <a:cubicBezTo>
                    <a:pt x="14091" y="3090"/>
                    <a:pt x="21551" y="0"/>
                    <a:pt x="29330" y="0"/>
                  </a:cubicBezTo>
                  <a:close/>
                </a:path>
              </a:pathLst>
            </a:custGeom>
            <a:solidFill>
              <a:srgbClr val="D2E6EE"/>
            </a:solidFill>
          </p:spPr>
        </p:sp>
        <p:sp>
          <p:nvSpPr>
            <p:cNvPr name="TextBox 90" id="90"/>
            <p:cNvSpPr txBox="true"/>
            <p:nvPr/>
          </p:nvSpPr>
          <p:spPr>
            <a:xfrm>
              <a:off x="0" y="-38100"/>
              <a:ext cx="5499100" cy="292100"/>
            </a:xfrm>
            <a:prstGeom prst="rect">
              <a:avLst/>
            </a:prstGeom>
          </p:spPr>
          <p:txBody>
            <a:bodyPr anchor="ctr" rtlCol="false" tIns="50800" lIns="50800" bIns="50800" rIns="50800"/>
            <a:lstStyle/>
            <a:p>
              <a:pPr algn="l">
                <a:lnSpc>
                  <a:spcPts val="1679"/>
                </a:lnSpc>
              </a:pPr>
            </a:p>
          </p:txBody>
        </p:sp>
      </p:grpSp>
      <p:grpSp>
        <p:nvGrpSpPr>
          <p:cNvPr name="Group 91" id="91"/>
          <p:cNvGrpSpPr/>
          <p:nvPr/>
        </p:nvGrpSpPr>
        <p:grpSpPr>
          <a:xfrm rot="0">
            <a:off x="12715875" y="8372475"/>
            <a:ext cx="2697480" cy="190500"/>
            <a:chOff x="0" y="0"/>
            <a:chExt cx="3596640" cy="254000"/>
          </a:xfrm>
        </p:grpSpPr>
        <p:sp>
          <p:nvSpPr>
            <p:cNvPr name="Freeform 92" id="92"/>
            <p:cNvSpPr/>
            <p:nvPr/>
          </p:nvSpPr>
          <p:spPr>
            <a:xfrm flipH="false" flipV="false" rot="0">
              <a:off x="0" y="0"/>
              <a:ext cx="3596640" cy="254000"/>
            </a:xfrm>
            <a:custGeom>
              <a:avLst/>
              <a:gdLst/>
              <a:ahLst/>
              <a:cxnLst/>
              <a:rect r="r" b="b" t="t" l="l"/>
              <a:pathLst>
                <a:path h="254000" w="3596640">
                  <a:moveTo>
                    <a:pt x="44845" y="0"/>
                  </a:moveTo>
                  <a:lnTo>
                    <a:pt x="3551796" y="0"/>
                  </a:lnTo>
                  <a:cubicBezTo>
                    <a:pt x="3576563" y="0"/>
                    <a:pt x="3596640" y="20078"/>
                    <a:pt x="3596640" y="44845"/>
                  </a:cubicBezTo>
                  <a:lnTo>
                    <a:pt x="3596640" y="209155"/>
                  </a:lnTo>
                  <a:cubicBezTo>
                    <a:pt x="3596640" y="233922"/>
                    <a:pt x="3576563" y="254000"/>
                    <a:pt x="3551796" y="254000"/>
                  </a:cubicBezTo>
                  <a:lnTo>
                    <a:pt x="44845" y="254000"/>
                  </a:lnTo>
                  <a:cubicBezTo>
                    <a:pt x="20078" y="254000"/>
                    <a:pt x="0" y="233922"/>
                    <a:pt x="0" y="209155"/>
                  </a:cubicBezTo>
                  <a:lnTo>
                    <a:pt x="0" y="44845"/>
                  </a:lnTo>
                  <a:cubicBezTo>
                    <a:pt x="0" y="20078"/>
                    <a:pt x="20078" y="0"/>
                    <a:pt x="44845" y="0"/>
                  </a:cubicBezTo>
                  <a:close/>
                </a:path>
              </a:pathLst>
            </a:custGeom>
            <a:solidFill>
              <a:srgbClr val="A6D1E6"/>
            </a:solidFill>
          </p:spPr>
        </p:sp>
        <p:sp>
          <p:nvSpPr>
            <p:cNvPr name="TextBox 93" id="93"/>
            <p:cNvSpPr txBox="true"/>
            <p:nvPr/>
          </p:nvSpPr>
          <p:spPr>
            <a:xfrm>
              <a:off x="0" y="-38100"/>
              <a:ext cx="3596640" cy="292100"/>
            </a:xfrm>
            <a:prstGeom prst="rect">
              <a:avLst/>
            </a:prstGeom>
          </p:spPr>
          <p:txBody>
            <a:bodyPr anchor="ctr" rtlCol="false" tIns="50800" lIns="50800" bIns="50800" rIns="50800"/>
            <a:lstStyle/>
            <a:p>
              <a:pPr algn="l">
                <a:lnSpc>
                  <a:spcPts val="1679"/>
                </a:lnSpc>
              </a:pPr>
            </a:p>
          </p:txBody>
        </p:sp>
      </p:grpSp>
    </p:spTree>
  </p:cSld>
  <p:clrMapOvr>
    <a:masterClrMapping/>
  </p:clrMapOvr>
</p:sld>
</file>

<file path=ppt/slides/slide9.xml><?xml version="1.0" encoding="utf-8"?>
<p:sld xmlns:p="http://schemas.openxmlformats.org/presentationml/2006/main" xmlns:a="http://schemas.openxmlformats.org/drawingml/2006/main">
  <p:cSld>
    <p:bg>
      <p:bgPr>
        <a:solidFill>
          <a:srgbClr val="FEFBF6"/>
        </a:solidFill>
      </p:bgPr>
    </p:bg>
    <p:spTree>
      <p:nvGrpSpPr>
        <p:cNvPr id="1" name=""/>
        <p:cNvGrpSpPr/>
        <p:nvPr/>
      </p:nvGrpSpPr>
      <p:grpSpPr>
        <a:xfrm>
          <a:off x="0" y="0"/>
          <a:ext cx="0" cy="0"/>
          <a:chOff x="0" y="0"/>
          <a:chExt cx="0" cy="0"/>
        </a:xfrm>
      </p:grpSpPr>
      <p:grpSp>
        <p:nvGrpSpPr>
          <p:cNvPr name="Group 2" id="2"/>
          <p:cNvGrpSpPr/>
          <p:nvPr/>
        </p:nvGrpSpPr>
        <p:grpSpPr>
          <a:xfrm rot="0">
            <a:off x="12282932" y="1028700"/>
            <a:ext cx="4976368" cy="8229600"/>
            <a:chOff x="0" y="0"/>
            <a:chExt cx="1731743" cy="2863847"/>
          </a:xfrm>
        </p:grpSpPr>
        <p:sp>
          <p:nvSpPr>
            <p:cNvPr name="Freeform 3" id="3"/>
            <p:cNvSpPr/>
            <p:nvPr/>
          </p:nvSpPr>
          <p:spPr>
            <a:xfrm flipH="false" flipV="false" rot="0">
              <a:off x="0" y="0"/>
              <a:ext cx="1731743" cy="2863847"/>
            </a:xfrm>
            <a:custGeom>
              <a:avLst/>
              <a:gdLst/>
              <a:ahLst/>
              <a:cxnLst/>
              <a:rect r="r" b="b" t="t" l="l"/>
              <a:pathLst>
                <a:path h="2863847" w="1731743">
                  <a:moveTo>
                    <a:pt x="31115" y="0"/>
                  </a:moveTo>
                  <a:lnTo>
                    <a:pt x="1700629" y="0"/>
                  </a:lnTo>
                  <a:cubicBezTo>
                    <a:pt x="1717813" y="0"/>
                    <a:pt x="1731743" y="13931"/>
                    <a:pt x="1731743" y="31115"/>
                  </a:cubicBezTo>
                  <a:lnTo>
                    <a:pt x="1731743" y="2832732"/>
                  </a:lnTo>
                  <a:cubicBezTo>
                    <a:pt x="1731743" y="2849916"/>
                    <a:pt x="1717813" y="2863847"/>
                    <a:pt x="1700629" y="2863847"/>
                  </a:cubicBezTo>
                  <a:lnTo>
                    <a:pt x="31115" y="2863847"/>
                  </a:lnTo>
                  <a:cubicBezTo>
                    <a:pt x="13931" y="2863847"/>
                    <a:pt x="0" y="2849916"/>
                    <a:pt x="0" y="2832732"/>
                  </a:cubicBezTo>
                  <a:lnTo>
                    <a:pt x="0" y="31115"/>
                  </a:lnTo>
                  <a:cubicBezTo>
                    <a:pt x="0" y="13931"/>
                    <a:pt x="13931" y="0"/>
                    <a:pt x="31115" y="0"/>
                  </a:cubicBezTo>
                  <a:close/>
                </a:path>
              </a:pathLst>
            </a:custGeom>
            <a:ln w="38100" cap="sq">
              <a:solidFill>
                <a:srgbClr val="A6D1E6"/>
              </a:solidFill>
              <a:prstDash val="solid"/>
              <a:miter/>
            </a:ln>
          </p:spPr>
        </p:sp>
        <p:sp>
          <p:nvSpPr>
            <p:cNvPr name="TextBox 4" id="4"/>
            <p:cNvSpPr txBox="true"/>
            <p:nvPr/>
          </p:nvSpPr>
          <p:spPr>
            <a:xfrm>
              <a:off x="0" y="-38100"/>
              <a:ext cx="1731743" cy="2901947"/>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028700" y="6814183"/>
            <a:ext cx="10988157" cy="2444117"/>
            <a:chOff x="0" y="0"/>
            <a:chExt cx="3823807" cy="850537"/>
          </a:xfrm>
        </p:grpSpPr>
        <p:sp>
          <p:nvSpPr>
            <p:cNvPr name="Freeform 6" id="6"/>
            <p:cNvSpPr/>
            <p:nvPr/>
          </p:nvSpPr>
          <p:spPr>
            <a:xfrm flipH="false" flipV="false" rot="0">
              <a:off x="0" y="0"/>
              <a:ext cx="3823807" cy="850537"/>
            </a:xfrm>
            <a:custGeom>
              <a:avLst/>
              <a:gdLst/>
              <a:ahLst/>
              <a:cxnLst/>
              <a:rect r="r" b="b" t="t" l="l"/>
              <a:pathLst>
                <a:path h="850537" w="3823807">
                  <a:moveTo>
                    <a:pt x="14091" y="0"/>
                  </a:moveTo>
                  <a:lnTo>
                    <a:pt x="3809715" y="0"/>
                  </a:lnTo>
                  <a:cubicBezTo>
                    <a:pt x="3813453" y="0"/>
                    <a:pt x="3817037" y="1485"/>
                    <a:pt x="3819679" y="4127"/>
                  </a:cubicBezTo>
                  <a:cubicBezTo>
                    <a:pt x="3822322" y="6770"/>
                    <a:pt x="3823807" y="10354"/>
                    <a:pt x="3823807" y="14091"/>
                  </a:cubicBezTo>
                  <a:lnTo>
                    <a:pt x="3823807" y="836445"/>
                  </a:lnTo>
                  <a:cubicBezTo>
                    <a:pt x="3823807" y="840183"/>
                    <a:pt x="3822322" y="843767"/>
                    <a:pt x="3819679" y="846409"/>
                  </a:cubicBezTo>
                  <a:cubicBezTo>
                    <a:pt x="3817037" y="849052"/>
                    <a:pt x="3813453" y="850537"/>
                    <a:pt x="3809715" y="850537"/>
                  </a:cubicBezTo>
                  <a:lnTo>
                    <a:pt x="14091" y="850537"/>
                  </a:lnTo>
                  <a:cubicBezTo>
                    <a:pt x="10354" y="850537"/>
                    <a:pt x="6770" y="849052"/>
                    <a:pt x="4127" y="846409"/>
                  </a:cubicBezTo>
                  <a:cubicBezTo>
                    <a:pt x="1485" y="843767"/>
                    <a:pt x="0" y="840183"/>
                    <a:pt x="0" y="836445"/>
                  </a:cubicBezTo>
                  <a:lnTo>
                    <a:pt x="0" y="14091"/>
                  </a:lnTo>
                  <a:cubicBezTo>
                    <a:pt x="0" y="10354"/>
                    <a:pt x="1485" y="6770"/>
                    <a:pt x="4127" y="4127"/>
                  </a:cubicBezTo>
                  <a:cubicBezTo>
                    <a:pt x="6770" y="1485"/>
                    <a:pt x="10354" y="0"/>
                    <a:pt x="14091" y="0"/>
                  </a:cubicBezTo>
                  <a:close/>
                </a:path>
              </a:pathLst>
            </a:custGeom>
            <a:ln w="38100" cap="sq">
              <a:solidFill>
                <a:srgbClr val="A6D1E6"/>
              </a:solidFill>
              <a:prstDash val="solid"/>
              <a:miter/>
            </a:ln>
          </p:spPr>
        </p:sp>
        <p:sp>
          <p:nvSpPr>
            <p:cNvPr name="TextBox 7" id="7"/>
            <p:cNvSpPr txBox="true"/>
            <p:nvPr/>
          </p:nvSpPr>
          <p:spPr>
            <a:xfrm>
              <a:off x="0" y="-38100"/>
              <a:ext cx="3823807" cy="888637"/>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028700" y="2659714"/>
            <a:ext cx="3468449" cy="3950566"/>
            <a:chOff x="0" y="0"/>
            <a:chExt cx="1206998" cy="1374771"/>
          </a:xfrm>
        </p:grpSpPr>
        <p:sp>
          <p:nvSpPr>
            <p:cNvPr name="Freeform 9" id="9"/>
            <p:cNvSpPr/>
            <p:nvPr/>
          </p:nvSpPr>
          <p:spPr>
            <a:xfrm flipH="false" flipV="false" rot="0">
              <a:off x="0" y="0"/>
              <a:ext cx="1206998" cy="1374771"/>
            </a:xfrm>
            <a:custGeom>
              <a:avLst/>
              <a:gdLst/>
              <a:ahLst/>
              <a:cxnLst/>
              <a:rect r="r" b="b" t="t" l="l"/>
              <a:pathLst>
                <a:path h="1374771" w="1206998">
                  <a:moveTo>
                    <a:pt x="44642" y="0"/>
                  </a:moveTo>
                  <a:lnTo>
                    <a:pt x="1162356" y="0"/>
                  </a:lnTo>
                  <a:cubicBezTo>
                    <a:pt x="1174195" y="0"/>
                    <a:pt x="1185550" y="4703"/>
                    <a:pt x="1193922" y="13075"/>
                  </a:cubicBezTo>
                  <a:cubicBezTo>
                    <a:pt x="1202294" y="21447"/>
                    <a:pt x="1206998" y="32802"/>
                    <a:pt x="1206998" y="44642"/>
                  </a:cubicBezTo>
                  <a:lnTo>
                    <a:pt x="1206998" y="1330129"/>
                  </a:lnTo>
                  <a:cubicBezTo>
                    <a:pt x="1206998" y="1341969"/>
                    <a:pt x="1202294" y="1353324"/>
                    <a:pt x="1193922" y="1361696"/>
                  </a:cubicBezTo>
                  <a:cubicBezTo>
                    <a:pt x="1185550" y="1370068"/>
                    <a:pt x="1174195" y="1374771"/>
                    <a:pt x="1162356" y="1374771"/>
                  </a:cubicBezTo>
                  <a:lnTo>
                    <a:pt x="44642" y="1374771"/>
                  </a:lnTo>
                  <a:cubicBezTo>
                    <a:pt x="32802" y="1374771"/>
                    <a:pt x="21447" y="1370068"/>
                    <a:pt x="13075" y="1361696"/>
                  </a:cubicBezTo>
                  <a:cubicBezTo>
                    <a:pt x="4703" y="1353324"/>
                    <a:pt x="0" y="1341969"/>
                    <a:pt x="0" y="1330129"/>
                  </a:cubicBezTo>
                  <a:lnTo>
                    <a:pt x="0" y="44642"/>
                  </a:lnTo>
                  <a:cubicBezTo>
                    <a:pt x="0" y="32802"/>
                    <a:pt x="4703" y="21447"/>
                    <a:pt x="13075" y="13075"/>
                  </a:cubicBezTo>
                  <a:cubicBezTo>
                    <a:pt x="21447" y="4703"/>
                    <a:pt x="32802" y="0"/>
                    <a:pt x="44642" y="0"/>
                  </a:cubicBezTo>
                  <a:close/>
                </a:path>
              </a:pathLst>
            </a:custGeom>
            <a:solidFill>
              <a:srgbClr val="A6D1E6"/>
            </a:solidFill>
            <a:ln w="38100" cap="sq">
              <a:solidFill>
                <a:srgbClr val="A6D1E6"/>
              </a:solidFill>
              <a:prstDash val="solid"/>
              <a:miter/>
            </a:ln>
          </p:spPr>
        </p:sp>
        <p:sp>
          <p:nvSpPr>
            <p:cNvPr name="TextBox 10" id="10"/>
            <p:cNvSpPr txBox="true"/>
            <p:nvPr/>
          </p:nvSpPr>
          <p:spPr>
            <a:xfrm>
              <a:off x="0" y="-38100"/>
              <a:ext cx="1206998" cy="1412871"/>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5040148" y="3036671"/>
            <a:ext cx="4103852" cy="293370"/>
          </a:xfrm>
          <a:prstGeom prst="rect">
            <a:avLst/>
          </a:prstGeom>
        </p:spPr>
        <p:txBody>
          <a:bodyPr anchor="t" rtlCol="false" tIns="0" lIns="0" bIns="0" rIns="0">
            <a:spAutoFit/>
          </a:bodyPr>
          <a:lstStyle/>
          <a:p>
            <a:pPr algn="l" marL="0" indent="0" lvl="0">
              <a:lnSpc>
                <a:spcPts val="2310"/>
              </a:lnSpc>
              <a:spcBef>
                <a:spcPct val="0"/>
              </a:spcBef>
            </a:pPr>
            <a:r>
              <a:rPr lang="en-US" b="true" sz="2100" strike="noStrike" u="none">
                <a:solidFill>
                  <a:srgbClr val="3D3C42"/>
                </a:solidFill>
                <a:latin typeface="Inter Bold"/>
                <a:ea typeface="Inter Bold"/>
                <a:cs typeface="Inter Bold"/>
                <a:sym typeface="Inter Bold"/>
              </a:rPr>
              <a:t>Delay % by Month</a:t>
            </a:r>
          </a:p>
        </p:txBody>
      </p:sp>
      <p:grpSp>
        <p:nvGrpSpPr>
          <p:cNvPr name="Group 12" id="12"/>
          <p:cNvGrpSpPr/>
          <p:nvPr/>
        </p:nvGrpSpPr>
        <p:grpSpPr>
          <a:xfrm rot="0">
            <a:off x="4763225" y="2659714"/>
            <a:ext cx="7253632" cy="3950566"/>
            <a:chOff x="0" y="0"/>
            <a:chExt cx="2524217" cy="1374771"/>
          </a:xfrm>
        </p:grpSpPr>
        <p:sp>
          <p:nvSpPr>
            <p:cNvPr name="Freeform 13" id="13"/>
            <p:cNvSpPr/>
            <p:nvPr/>
          </p:nvSpPr>
          <p:spPr>
            <a:xfrm flipH="false" flipV="false" rot="0">
              <a:off x="0" y="0"/>
              <a:ext cx="2524217" cy="1374771"/>
            </a:xfrm>
            <a:custGeom>
              <a:avLst/>
              <a:gdLst/>
              <a:ahLst/>
              <a:cxnLst/>
              <a:rect r="r" b="b" t="t" l="l"/>
              <a:pathLst>
                <a:path h="1374771" w="2524217">
                  <a:moveTo>
                    <a:pt x="21346" y="0"/>
                  </a:moveTo>
                  <a:lnTo>
                    <a:pt x="2502870" y="0"/>
                  </a:lnTo>
                  <a:cubicBezTo>
                    <a:pt x="2514659" y="0"/>
                    <a:pt x="2524217" y="9557"/>
                    <a:pt x="2524217" y="21346"/>
                  </a:cubicBezTo>
                  <a:lnTo>
                    <a:pt x="2524217" y="1353425"/>
                  </a:lnTo>
                  <a:cubicBezTo>
                    <a:pt x="2524217" y="1365214"/>
                    <a:pt x="2514659" y="1374771"/>
                    <a:pt x="2502870" y="1374771"/>
                  </a:cubicBezTo>
                  <a:lnTo>
                    <a:pt x="21346" y="1374771"/>
                  </a:lnTo>
                  <a:cubicBezTo>
                    <a:pt x="9557" y="1374771"/>
                    <a:pt x="0" y="1365214"/>
                    <a:pt x="0" y="1353425"/>
                  </a:cubicBezTo>
                  <a:lnTo>
                    <a:pt x="0" y="21346"/>
                  </a:lnTo>
                  <a:cubicBezTo>
                    <a:pt x="0" y="9557"/>
                    <a:pt x="9557" y="0"/>
                    <a:pt x="21346" y="0"/>
                  </a:cubicBezTo>
                  <a:close/>
                </a:path>
              </a:pathLst>
            </a:custGeom>
            <a:ln w="38100" cap="sq">
              <a:solidFill>
                <a:srgbClr val="A6D1E6"/>
              </a:solidFill>
              <a:prstDash val="solid"/>
              <a:miter/>
            </a:ln>
          </p:spPr>
        </p:sp>
        <p:sp>
          <p:nvSpPr>
            <p:cNvPr name="TextBox 14" id="14"/>
            <p:cNvSpPr txBox="true"/>
            <p:nvPr/>
          </p:nvSpPr>
          <p:spPr>
            <a:xfrm>
              <a:off x="0" y="-38100"/>
              <a:ext cx="2524217" cy="1412871"/>
            </a:xfrm>
            <a:prstGeom prst="rect">
              <a:avLst/>
            </a:prstGeom>
          </p:spPr>
          <p:txBody>
            <a:bodyPr anchor="ctr" rtlCol="false" tIns="50800" lIns="50800" bIns="50800" rIns="50800"/>
            <a:lstStyle/>
            <a:p>
              <a:pPr algn="ctr">
                <a:lnSpc>
                  <a:spcPts val="2659"/>
                </a:lnSpc>
              </a:pPr>
            </a:p>
          </p:txBody>
        </p:sp>
      </p:grpSp>
      <p:sp>
        <p:nvSpPr>
          <p:cNvPr name="AutoShape 15" id="15"/>
          <p:cNvSpPr/>
          <p:nvPr/>
        </p:nvSpPr>
        <p:spPr>
          <a:xfrm>
            <a:off x="12719190" y="3457340"/>
            <a:ext cx="4128512" cy="0"/>
          </a:xfrm>
          <a:prstGeom prst="line">
            <a:avLst/>
          </a:prstGeom>
          <a:ln cap="rnd" w="19050">
            <a:solidFill>
              <a:srgbClr val="A6D1E6"/>
            </a:solidFill>
            <a:prstDash val="solid"/>
            <a:headEnd type="none" len="sm" w="sm"/>
            <a:tailEnd type="none" len="sm" w="sm"/>
          </a:ln>
        </p:spPr>
      </p:sp>
      <p:sp>
        <p:nvSpPr>
          <p:cNvPr name="AutoShape 16" id="16"/>
          <p:cNvSpPr/>
          <p:nvPr/>
        </p:nvSpPr>
        <p:spPr>
          <a:xfrm>
            <a:off x="12719190" y="5313474"/>
            <a:ext cx="4128512" cy="0"/>
          </a:xfrm>
          <a:prstGeom prst="line">
            <a:avLst/>
          </a:prstGeom>
          <a:ln cap="rnd" w="19050">
            <a:solidFill>
              <a:srgbClr val="A6D1E6"/>
            </a:solidFill>
            <a:prstDash val="solid"/>
            <a:headEnd type="none" len="sm" w="sm"/>
            <a:tailEnd type="none" len="sm" w="sm"/>
          </a:ln>
        </p:spPr>
      </p:sp>
      <p:sp>
        <p:nvSpPr>
          <p:cNvPr name="AutoShape 17" id="17"/>
          <p:cNvSpPr/>
          <p:nvPr/>
        </p:nvSpPr>
        <p:spPr>
          <a:xfrm>
            <a:off x="12719190" y="7169608"/>
            <a:ext cx="4128512" cy="0"/>
          </a:xfrm>
          <a:prstGeom prst="line">
            <a:avLst/>
          </a:prstGeom>
          <a:ln cap="rnd" w="19050">
            <a:solidFill>
              <a:srgbClr val="A6D1E6"/>
            </a:solidFill>
            <a:prstDash val="solid"/>
            <a:headEnd type="none" len="sm" w="sm"/>
            <a:tailEnd type="none" len="sm" w="sm"/>
          </a:ln>
        </p:spPr>
      </p:sp>
      <p:sp>
        <p:nvSpPr>
          <p:cNvPr name="TextBox 18" id="18"/>
          <p:cNvSpPr txBox="true"/>
          <p:nvPr/>
        </p:nvSpPr>
        <p:spPr>
          <a:xfrm rot="0">
            <a:off x="1028700" y="1076325"/>
            <a:ext cx="11254232" cy="680085"/>
          </a:xfrm>
          <a:prstGeom prst="rect">
            <a:avLst/>
          </a:prstGeom>
        </p:spPr>
        <p:txBody>
          <a:bodyPr anchor="t" rtlCol="false" tIns="0" lIns="0" bIns="0" rIns="0">
            <a:spAutoFit/>
          </a:bodyPr>
          <a:lstStyle/>
          <a:p>
            <a:pPr algn="l" marL="0" indent="0" lvl="0">
              <a:lnSpc>
                <a:spcPts val="5280"/>
              </a:lnSpc>
              <a:spcBef>
                <a:spcPct val="0"/>
              </a:spcBef>
            </a:pPr>
            <a:r>
              <a:rPr lang="en-US" b="true" sz="4800" strike="noStrike" u="none">
                <a:solidFill>
                  <a:srgbClr val="3D3C42"/>
                </a:solidFill>
                <a:latin typeface="Inter Bold"/>
                <a:ea typeface="Inter Bold"/>
                <a:cs typeface="Inter Bold"/>
                <a:sym typeface="Inter Bold"/>
              </a:rPr>
              <a:t>Time-Based Delay Patterns</a:t>
            </a:r>
          </a:p>
        </p:txBody>
      </p:sp>
      <p:sp>
        <p:nvSpPr>
          <p:cNvPr name="TextBox 19" id="19"/>
          <p:cNvSpPr txBox="true"/>
          <p:nvPr/>
        </p:nvSpPr>
        <p:spPr>
          <a:xfrm rot="0">
            <a:off x="12719190" y="1463040"/>
            <a:ext cx="4103852" cy="293370"/>
          </a:xfrm>
          <a:prstGeom prst="rect">
            <a:avLst/>
          </a:prstGeom>
        </p:spPr>
        <p:txBody>
          <a:bodyPr anchor="t" rtlCol="false" tIns="0" lIns="0" bIns="0" rIns="0">
            <a:spAutoFit/>
          </a:bodyPr>
          <a:lstStyle/>
          <a:p>
            <a:pPr algn="l" marL="0" indent="0" lvl="0">
              <a:lnSpc>
                <a:spcPts val="2310"/>
              </a:lnSpc>
              <a:spcBef>
                <a:spcPct val="0"/>
              </a:spcBef>
            </a:pPr>
            <a:r>
              <a:rPr lang="en-US" b="true" sz="2100" strike="noStrike" u="none">
                <a:solidFill>
                  <a:srgbClr val="3D3C42"/>
                </a:solidFill>
                <a:latin typeface="Inter Bold"/>
                <a:ea typeface="Inter Bold"/>
                <a:cs typeface="Inter Bold"/>
                <a:sym typeface="Inter Bold"/>
              </a:rPr>
              <a:t>What It Means</a:t>
            </a:r>
          </a:p>
        </p:txBody>
      </p:sp>
      <p:sp>
        <p:nvSpPr>
          <p:cNvPr name="TextBox 20" id="20"/>
          <p:cNvSpPr txBox="true"/>
          <p:nvPr/>
        </p:nvSpPr>
        <p:spPr>
          <a:xfrm rot="0">
            <a:off x="3912870" y="8439150"/>
            <a:ext cx="2476500" cy="251460"/>
          </a:xfrm>
          <a:prstGeom prst="rect">
            <a:avLst/>
          </a:prstGeom>
        </p:spPr>
        <p:txBody>
          <a:bodyPr anchor="t" rtlCol="false" tIns="0" lIns="0" bIns="0" rIns="0">
            <a:spAutoFit/>
          </a:bodyPr>
          <a:lstStyle/>
          <a:p>
            <a:pPr algn="ctr" marL="0" indent="0" lvl="0">
              <a:lnSpc>
                <a:spcPts val="1980"/>
              </a:lnSpc>
              <a:spcBef>
                <a:spcPct val="0"/>
              </a:spcBef>
            </a:pPr>
            <a:r>
              <a:rPr lang="en-US" sz="1800" strike="noStrike" u="none">
                <a:solidFill>
                  <a:srgbClr val="3D3C42"/>
                </a:solidFill>
                <a:latin typeface="Inter"/>
                <a:ea typeface="Inter"/>
                <a:cs typeface="Inter"/>
                <a:sym typeface="Inter"/>
              </a:rPr>
              <a:t>20:00</a:t>
            </a:r>
          </a:p>
        </p:txBody>
      </p:sp>
      <p:sp>
        <p:nvSpPr>
          <p:cNvPr name="TextBox 21" id="21"/>
          <p:cNvSpPr txBox="true"/>
          <p:nvPr/>
        </p:nvSpPr>
        <p:spPr>
          <a:xfrm rot="0">
            <a:off x="9408795" y="8439150"/>
            <a:ext cx="2476500" cy="251460"/>
          </a:xfrm>
          <a:prstGeom prst="rect">
            <a:avLst/>
          </a:prstGeom>
        </p:spPr>
        <p:txBody>
          <a:bodyPr anchor="t" rtlCol="false" tIns="0" lIns="0" bIns="0" rIns="0">
            <a:spAutoFit/>
          </a:bodyPr>
          <a:lstStyle/>
          <a:p>
            <a:pPr algn="ctr" marL="0" indent="0" lvl="0">
              <a:lnSpc>
                <a:spcPts val="1980"/>
              </a:lnSpc>
              <a:spcBef>
                <a:spcPct val="0"/>
              </a:spcBef>
            </a:pPr>
            <a:r>
              <a:rPr lang="en-US" sz="1800" strike="noStrike" u="none">
                <a:solidFill>
                  <a:srgbClr val="3D3C42"/>
                </a:solidFill>
                <a:latin typeface="Inter"/>
                <a:ea typeface="Inter"/>
                <a:cs typeface="Inter"/>
                <a:sym typeface="Inter"/>
              </a:rPr>
              <a:t>19:00 (lowest)</a:t>
            </a:r>
          </a:p>
        </p:txBody>
      </p:sp>
      <p:sp>
        <p:nvSpPr>
          <p:cNvPr name="TextBox 22" id="22"/>
          <p:cNvSpPr txBox="true"/>
          <p:nvPr/>
        </p:nvSpPr>
        <p:spPr>
          <a:xfrm rot="0">
            <a:off x="1163955" y="8439150"/>
            <a:ext cx="2476500" cy="251460"/>
          </a:xfrm>
          <a:prstGeom prst="rect">
            <a:avLst/>
          </a:prstGeom>
        </p:spPr>
        <p:txBody>
          <a:bodyPr anchor="t" rtlCol="false" tIns="0" lIns="0" bIns="0" rIns="0">
            <a:spAutoFit/>
          </a:bodyPr>
          <a:lstStyle/>
          <a:p>
            <a:pPr algn="ctr" marL="0" indent="0" lvl="0">
              <a:lnSpc>
                <a:spcPts val="1980"/>
              </a:lnSpc>
              <a:spcBef>
                <a:spcPct val="0"/>
              </a:spcBef>
            </a:pPr>
            <a:r>
              <a:rPr lang="en-US" sz="1800" strike="noStrike" u="none">
                <a:solidFill>
                  <a:srgbClr val="3D3C42"/>
                </a:solidFill>
                <a:latin typeface="Inter"/>
                <a:ea typeface="Inter"/>
                <a:cs typeface="Inter"/>
                <a:sym typeface="Inter"/>
              </a:rPr>
              <a:t>12:00 (peak)</a:t>
            </a:r>
          </a:p>
        </p:txBody>
      </p:sp>
      <p:sp>
        <p:nvSpPr>
          <p:cNvPr name="TextBox 23" id="23"/>
          <p:cNvSpPr txBox="true"/>
          <p:nvPr/>
        </p:nvSpPr>
        <p:spPr>
          <a:xfrm rot="0">
            <a:off x="6659880" y="8439150"/>
            <a:ext cx="2476500" cy="251460"/>
          </a:xfrm>
          <a:prstGeom prst="rect">
            <a:avLst/>
          </a:prstGeom>
        </p:spPr>
        <p:txBody>
          <a:bodyPr anchor="t" rtlCol="false" tIns="0" lIns="0" bIns="0" rIns="0">
            <a:spAutoFit/>
          </a:bodyPr>
          <a:lstStyle/>
          <a:p>
            <a:pPr algn="ctr" marL="0" indent="0" lvl="0">
              <a:lnSpc>
                <a:spcPts val="1980"/>
              </a:lnSpc>
              <a:spcBef>
                <a:spcPct val="0"/>
              </a:spcBef>
            </a:pPr>
            <a:r>
              <a:rPr lang="en-US" sz="1800" strike="noStrike" u="none">
                <a:solidFill>
                  <a:srgbClr val="3D3C42"/>
                </a:solidFill>
                <a:latin typeface="Inter"/>
                <a:ea typeface="Inter"/>
                <a:cs typeface="Inter"/>
                <a:sym typeface="Inter"/>
              </a:rPr>
              <a:t>01:00</a:t>
            </a:r>
          </a:p>
        </p:txBody>
      </p:sp>
      <p:sp>
        <p:nvSpPr>
          <p:cNvPr name="TextBox 24" id="24"/>
          <p:cNvSpPr txBox="true"/>
          <p:nvPr/>
        </p:nvSpPr>
        <p:spPr>
          <a:xfrm rot="0">
            <a:off x="1028700" y="3022489"/>
            <a:ext cx="3467825" cy="293370"/>
          </a:xfrm>
          <a:prstGeom prst="rect">
            <a:avLst/>
          </a:prstGeom>
        </p:spPr>
        <p:txBody>
          <a:bodyPr anchor="t" rtlCol="false" tIns="0" lIns="0" bIns="0" rIns="0">
            <a:spAutoFit/>
          </a:bodyPr>
          <a:lstStyle/>
          <a:p>
            <a:pPr algn="ctr" marL="0" indent="0" lvl="0">
              <a:lnSpc>
                <a:spcPts val="2310"/>
              </a:lnSpc>
              <a:spcBef>
                <a:spcPct val="0"/>
              </a:spcBef>
            </a:pPr>
            <a:r>
              <a:rPr lang="en-US" b="true" sz="2100" strike="noStrike" u="none">
                <a:solidFill>
                  <a:srgbClr val="3D3C42"/>
                </a:solidFill>
                <a:latin typeface="Inter Bold"/>
                <a:ea typeface="Inter Bold"/>
                <a:cs typeface="Inter Bold"/>
                <a:sym typeface="Inter Bold"/>
              </a:rPr>
              <a:t>Peak Month</a:t>
            </a:r>
          </a:p>
        </p:txBody>
      </p:sp>
      <p:sp>
        <p:nvSpPr>
          <p:cNvPr name="TextBox 25" id="25"/>
          <p:cNvSpPr txBox="true"/>
          <p:nvPr/>
        </p:nvSpPr>
        <p:spPr>
          <a:xfrm rot="0">
            <a:off x="1028700" y="5162550"/>
            <a:ext cx="3467100" cy="293370"/>
          </a:xfrm>
          <a:prstGeom prst="rect">
            <a:avLst/>
          </a:prstGeom>
        </p:spPr>
        <p:txBody>
          <a:bodyPr anchor="t" rtlCol="false" tIns="0" lIns="0" bIns="0" rIns="0">
            <a:spAutoFit/>
          </a:bodyPr>
          <a:lstStyle/>
          <a:p>
            <a:pPr algn="ctr" marL="0" indent="0" lvl="0">
              <a:lnSpc>
                <a:spcPts val="2310"/>
              </a:lnSpc>
              <a:spcBef>
                <a:spcPct val="0"/>
              </a:spcBef>
            </a:pPr>
            <a:r>
              <a:rPr lang="en-US" b="true" sz="2100" strike="noStrike" u="none">
                <a:solidFill>
                  <a:srgbClr val="3D3C42"/>
                </a:solidFill>
                <a:latin typeface="Inter Bold"/>
                <a:ea typeface="Inter Bold"/>
                <a:cs typeface="Inter Bold"/>
                <a:sym typeface="Inter Bold"/>
              </a:rPr>
              <a:t>December</a:t>
            </a:r>
          </a:p>
        </p:txBody>
      </p:sp>
      <p:sp>
        <p:nvSpPr>
          <p:cNvPr name="TextBox 26" id="26"/>
          <p:cNvSpPr txBox="true"/>
          <p:nvPr/>
        </p:nvSpPr>
        <p:spPr>
          <a:xfrm rot="0">
            <a:off x="1028700" y="4152900"/>
            <a:ext cx="3467100" cy="857250"/>
          </a:xfrm>
          <a:prstGeom prst="rect">
            <a:avLst/>
          </a:prstGeom>
        </p:spPr>
        <p:txBody>
          <a:bodyPr anchor="t" rtlCol="false" tIns="0" lIns="0" bIns="0" rIns="0">
            <a:spAutoFit/>
          </a:bodyPr>
          <a:lstStyle/>
          <a:p>
            <a:pPr algn="ctr" marL="0" indent="0" lvl="0">
              <a:lnSpc>
                <a:spcPts val="6600"/>
              </a:lnSpc>
              <a:spcBef>
                <a:spcPct val="0"/>
              </a:spcBef>
            </a:pPr>
            <a:r>
              <a:rPr lang="en-US" b="true" sz="6000" strike="noStrike" u="none">
                <a:solidFill>
                  <a:srgbClr val="7F5283"/>
                </a:solidFill>
                <a:latin typeface="Inter Bold"/>
                <a:ea typeface="Inter Bold"/>
                <a:cs typeface="Inter Bold"/>
                <a:sym typeface="Inter Bold"/>
              </a:rPr>
              <a:t>60.7%</a:t>
            </a:r>
          </a:p>
        </p:txBody>
      </p:sp>
      <p:sp>
        <p:nvSpPr>
          <p:cNvPr name="TextBox 27" id="27"/>
          <p:cNvSpPr txBox="true"/>
          <p:nvPr/>
        </p:nvSpPr>
        <p:spPr>
          <a:xfrm rot="0">
            <a:off x="12731521" y="2379343"/>
            <a:ext cx="4093870" cy="281940"/>
          </a:xfrm>
          <a:prstGeom prst="rect">
            <a:avLst/>
          </a:prstGeom>
        </p:spPr>
        <p:txBody>
          <a:bodyPr anchor="t" rtlCol="false" tIns="0" lIns="0" bIns="0" rIns="0">
            <a:spAutoFit/>
          </a:bodyPr>
          <a:lstStyle/>
          <a:p>
            <a:pPr algn="l" marL="0" indent="0" lvl="0">
              <a:lnSpc>
                <a:spcPts val="2145"/>
              </a:lnSpc>
              <a:spcBef>
                <a:spcPct val="0"/>
              </a:spcBef>
            </a:pPr>
            <a:r>
              <a:rPr lang="en-US" b="true" sz="1950" strike="noStrike" u="none">
                <a:solidFill>
                  <a:srgbClr val="3D3C42"/>
                </a:solidFill>
                <a:latin typeface="Inter Bold"/>
                <a:ea typeface="Inter Bold"/>
                <a:cs typeface="Inter Bold"/>
                <a:sym typeface="Inter Bold"/>
              </a:rPr>
              <a:t>Seasonal peaks</a:t>
            </a:r>
          </a:p>
        </p:txBody>
      </p:sp>
      <p:sp>
        <p:nvSpPr>
          <p:cNvPr name="TextBox 28" id="28"/>
          <p:cNvSpPr txBox="true"/>
          <p:nvPr/>
        </p:nvSpPr>
        <p:spPr>
          <a:xfrm rot="0">
            <a:off x="12731521" y="4235477"/>
            <a:ext cx="4093870" cy="281940"/>
          </a:xfrm>
          <a:prstGeom prst="rect">
            <a:avLst/>
          </a:prstGeom>
        </p:spPr>
        <p:txBody>
          <a:bodyPr anchor="t" rtlCol="false" tIns="0" lIns="0" bIns="0" rIns="0">
            <a:spAutoFit/>
          </a:bodyPr>
          <a:lstStyle/>
          <a:p>
            <a:pPr algn="l" marL="0" indent="0" lvl="0">
              <a:lnSpc>
                <a:spcPts val="2145"/>
              </a:lnSpc>
              <a:spcBef>
                <a:spcPct val="0"/>
              </a:spcBef>
            </a:pPr>
            <a:r>
              <a:rPr lang="en-US" b="true" sz="1950" strike="noStrike" u="none">
                <a:solidFill>
                  <a:srgbClr val="3D3C42"/>
                </a:solidFill>
                <a:latin typeface="Inter Bold"/>
                <a:ea typeface="Inter Bold"/>
                <a:cs typeface="Inter Bold"/>
                <a:sym typeface="Inter Bold"/>
              </a:rPr>
              <a:t>Narrow range</a:t>
            </a:r>
          </a:p>
        </p:txBody>
      </p:sp>
      <p:sp>
        <p:nvSpPr>
          <p:cNvPr name="TextBox 29" id="29"/>
          <p:cNvSpPr txBox="true"/>
          <p:nvPr/>
        </p:nvSpPr>
        <p:spPr>
          <a:xfrm rot="0">
            <a:off x="12731521" y="6091611"/>
            <a:ext cx="4093870" cy="281940"/>
          </a:xfrm>
          <a:prstGeom prst="rect">
            <a:avLst/>
          </a:prstGeom>
        </p:spPr>
        <p:txBody>
          <a:bodyPr anchor="t" rtlCol="false" tIns="0" lIns="0" bIns="0" rIns="0">
            <a:spAutoFit/>
          </a:bodyPr>
          <a:lstStyle/>
          <a:p>
            <a:pPr algn="l" marL="0" indent="0" lvl="0">
              <a:lnSpc>
                <a:spcPts val="2145"/>
              </a:lnSpc>
              <a:spcBef>
                <a:spcPct val="0"/>
              </a:spcBef>
            </a:pPr>
            <a:r>
              <a:rPr lang="en-US" b="true" sz="1950" strike="noStrike" u="none">
                <a:solidFill>
                  <a:srgbClr val="3D3C42"/>
                </a:solidFill>
                <a:latin typeface="Inter Bold"/>
                <a:ea typeface="Inter Bold"/>
                <a:cs typeface="Inter Bold"/>
                <a:sym typeface="Inter Bold"/>
              </a:rPr>
              <a:t>Midday and evening risk</a:t>
            </a:r>
          </a:p>
        </p:txBody>
      </p:sp>
      <p:sp>
        <p:nvSpPr>
          <p:cNvPr name="TextBox 30" id="30"/>
          <p:cNvSpPr txBox="true"/>
          <p:nvPr/>
        </p:nvSpPr>
        <p:spPr>
          <a:xfrm rot="0">
            <a:off x="12731521" y="7947745"/>
            <a:ext cx="4093870" cy="281940"/>
          </a:xfrm>
          <a:prstGeom prst="rect">
            <a:avLst/>
          </a:prstGeom>
        </p:spPr>
        <p:txBody>
          <a:bodyPr anchor="t" rtlCol="false" tIns="0" lIns="0" bIns="0" rIns="0">
            <a:spAutoFit/>
          </a:bodyPr>
          <a:lstStyle/>
          <a:p>
            <a:pPr algn="l" marL="0" indent="0" lvl="0">
              <a:lnSpc>
                <a:spcPts val="2145"/>
              </a:lnSpc>
              <a:spcBef>
                <a:spcPct val="0"/>
              </a:spcBef>
            </a:pPr>
            <a:r>
              <a:rPr lang="en-US" b="true" sz="1950" strike="noStrike" u="none">
                <a:solidFill>
                  <a:srgbClr val="3D3C42"/>
                </a:solidFill>
                <a:latin typeface="Inter Bold"/>
                <a:ea typeface="Inter Bold"/>
                <a:cs typeface="Inter Bold"/>
                <a:sym typeface="Inter Bold"/>
              </a:rPr>
              <a:t>Fix the process first</a:t>
            </a:r>
          </a:p>
        </p:txBody>
      </p:sp>
      <p:sp>
        <p:nvSpPr>
          <p:cNvPr name="TextBox 31" id="31"/>
          <p:cNvSpPr txBox="true"/>
          <p:nvPr/>
        </p:nvSpPr>
        <p:spPr>
          <a:xfrm rot="0">
            <a:off x="1219200" y="5600700"/>
            <a:ext cx="3086100" cy="458153"/>
          </a:xfrm>
          <a:prstGeom prst="rect">
            <a:avLst/>
          </a:prstGeom>
        </p:spPr>
        <p:txBody>
          <a:bodyPr anchor="t" rtlCol="false" tIns="0" lIns="0" bIns="0" rIns="0">
            <a:spAutoFit/>
          </a:bodyPr>
          <a:lstStyle/>
          <a:p>
            <a:pPr algn="ctr" marL="0" indent="0" lvl="0">
              <a:lnSpc>
                <a:spcPts val="1732"/>
              </a:lnSpc>
              <a:spcBef>
                <a:spcPct val="0"/>
              </a:spcBef>
            </a:pPr>
            <a:r>
              <a:rPr lang="en-US" sz="1575" strike="noStrike" u="none">
                <a:solidFill>
                  <a:srgbClr val="3D3C42"/>
                </a:solidFill>
                <a:latin typeface="Arimo"/>
                <a:ea typeface="Arimo"/>
                <a:cs typeface="Arimo"/>
                <a:sym typeface="Arimo"/>
              </a:rPr>
              <a:t>then July 60.6%</a:t>
            </a:r>
          </a:p>
          <a:p>
            <a:pPr algn="ctr" marL="0" indent="0" lvl="0">
              <a:lnSpc>
                <a:spcPts val="1732"/>
              </a:lnSpc>
              <a:spcBef>
                <a:spcPct val="0"/>
              </a:spcBef>
            </a:pPr>
            <a:r>
              <a:rPr lang="en-US" sz="1575" strike="noStrike" u="none">
                <a:solidFill>
                  <a:srgbClr val="3D3C42"/>
                </a:solidFill>
                <a:latin typeface="Arimo"/>
                <a:ea typeface="Arimo"/>
                <a:cs typeface="Arimo"/>
                <a:sym typeface="Arimo"/>
              </a:rPr>
              <a:t>and September 60.5%</a:t>
            </a:r>
          </a:p>
        </p:txBody>
      </p:sp>
      <p:grpSp>
        <p:nvGrpSpPr>
          <p:cNvPr name="Group 32" id="32"/>
          <p:cNvGrpSpPr/>
          <p:nvPr/>
        </p:nvGrpSpPr>
        <p:grpSpPr>
          <a:xfrm rot="0">
            <a:off x="5715000" y="5591175"/>
            <a:ext cx="5953125" cy="19050"/>
            <a:chOff x="0" y="0"/>
            <a:chExt cx="7937500" cy="25400"/>
          </a:xfrm>
        </p:grpSpPr>
        <p:sp>
          <p:nvSpPr>
            <p:cNvPr name="Freeform 33" id="33"/>
            <p:cNvSpPr/>
            <p:nvPr/>
          </p:nvSpPr>
          <p:spPr>
            <a:xfrm flipH="false" flipV="false" rot="0">
              <a:off x="0" y="0"/>
              <a:ext cx="7937500" cy="25400"/>
            </a:xfrm>
            <a:custGeom>
              <a:avLst/>
              <a:gdLst/>
              <a:ahLst/>
              <a:cxnLst/>
              <a:rect r="r" b="b" t="t" l="l"/>
              <a:pathLst>
                <a:path h="25400" w="7937500">
                  <a:moveTo>
                    <a:pt x="0" y="0"/>
                  </a:moveTo>
                  <a:lnTo>
                    <a:pt x="7937500" y="0"/>
                  </a:lnTo>
                  <a:lnTo>
                    <a:pt x="7937500" y="25400"/>
                  </a:lnTo>
                  <a:lnTo>
                    <a:pt x="0" y="25400"/>
                  </a:lnTo>
                  <a:close/>
                </a:path>
              </a:pathLst>
            </a:custGeom>
            <a:solidFill>
              <a:srgbClr val="E6E1D8"/>
            </a:solidFill>
          </p:spPr>
        </p:sp>
        <p:sp>
          <p:nvSpPr>
            <p:cNvPr name="TextBox 34" id="34"/>
            <p:cNvSpPr txBox="true"/>
            <p:nvPr/>
          </p:nvSpPr>
          <p:spPr>
            <a:xfrm>
              <a:off x="0" y="-38100"/>
              <a:ext cx="7937500" cy="63500"/>
            </a:xfrm>
            <a:prstGeom prst="rect">
              <a:avLst/>
            </a:prstGeom>
          </p:spPr>
          <p:txBody>
            <a:bodyPr anchor="ctr" rtlCol="false" tIns="50800" lIns="50800" bIns="50800" rIns="50800"/>
            <a:lstStyle/>
            <a:p>
              <a:pPr algn="l">
                <a:lnSpc>
                  <a:spcPts val="1679"/>
                </a:lnSpc>
              </a:pPr>
            </a:p>
          </p:txBody>
        </p:sp>
      </p:grpSp>
      <p:grpSp>
        <p:nvGrpSpPr>
          <p:cNvPr name="Group 35" id="35"/>
          <p:cNvGrpSpPr/>
          <p:nvPr/>
        </p:nvGrpSpPr>
        <p:grpSpPr>
          <a:xfrm rot="0">
            <a:off x="5715000" y="4600575"/>
            <a:ext cx="5953125" cy="19050"/>
            <a:chOff x="0" y="0"/>
            <a:chExt cx="7937500" cy="25400"/>
          </a:xfrm>
        </p:grpSpPr>
        <p:sp>
          <p:nvSpPr>
            <p:cNvPr name="Freeform 36" id="36"/>
            <p:cNvSpPr/>
            <p:nvPr/>
          </p:nvSpPr>
          <p:spPr>
            <a:xfrm flipH="false" flipV="false" rot="0">
              <a:off x="0" y="0"/>
              <a:ext cx="7937500" cy="25400"/>
            </a:xfrm>
            <a:custGeom>
              <a:avLst/>
              <a:gdLst/>
              <a:ahLst/>
              <a:cxnLst/>
              <a:rect r="r" b="b" t="t" l="l"/>
              <a:pathLst>
                <a:path h="25400" w="7937500">
                  <a:moveTo>
                    <a:pt x="0" y="0"/>
                  </a:moveTo>
                  <a:lnTo>
                    <a:pt x="7937500" y="0"/>
                  </a:lnTo>
                  <a:lnTo>
                    <a:pt x="7937500" y="25400"/>
                  </a:lnTo>
                  <a:lnTo>
                    <a:pt x="0" y="25400"/>
                  </a:lnTo>
                  <a:close/>
                </a:path>
              </a:pathLst>
            </a:custGeom>
            <a:solidFill>
              <a:srgbClr val="E6E1D8"/>
            </a:solidFill>
          </p:spPr>
        </p:sp>
        <p:sp>
          <p:nvSpPr>
            <p:cNvPr name="TextBox 37" id="37"/>
            <p:cNvSpPr txBox="true"/>
            <p:nvPr/>
          </p:nvSpPr>
          <p:spPr>
            <a:xfrm>
              <a:off x="0" y="-38100"/>
              <a:ext cx="7937500" cy="63500"/>
            </a:xfrm>
            <a:prstGeom prst="rect">
              <a:avLst/>
            </a:prstGeom>
          </p:spPr>
          <p:txBody>
            <a:bodyPr anchor="ctr" rtlCol="false" tIns="50800" lIns="50800" bIns="50800" rIns="50800"/>
            <a:lstStyle/>
            <a:p>
              <a:pPr algn="l">
                <a:lnSpc>
                  <a:spcPts val="1679"/>
                </a:lnSpc>
              </a:pPr>
            </a:p>
          </p:txBody>
        </p:sp>
      </p:grpSp>
      <p:grpSp>
        <p:nvGrpSpPr>
          <p:cNvPr name="Group 38" id="38"/>
          <p:cNvGrpSpPr/>
          <p:nvPr/>
        </p:nvGrpSpPr>
        <p:grpSpPr>
          <a:xfrm rot="0">
            <a:off x="5715000" y="3609975"/>
            <a:ext cx="5953125" cy="19050"/>
            <a:chOff x="0" y="0"/>
            <a:chExt cx="7937500" cy="25400"/>
          </a:xfrm>
        </p:grpSpPr>
        <p:sp>
          <p:nvSpPr>
            <p:cNvPr name="Freeform 39" id="39"/>
            <p:cNvSpPr/>
            <p:nvPr/>
          </p:nvSpPr>
          <p:spPr>
            <a:xfrm flipH="false" flipV="false" rot="0">
              <a:off x="0" y="0"/>
              <a:ext cx="7937500" cy="25400"/>
            </a:xfrm>
            <a:custGeom>
              <a:avLst/>
              <a:gdLst/>
              <a:ahLst/>
              <a:cxnLst/>
              <a:rect r="r" b="b" t="t" l="l"/>
              <a:pathLst>
                <a:path h="25400" w="7937500">
                  <a:moveTo>
                    <a:pt x="0" y="0"/>
                  </a:moveTo>
                  <a:lnTo>
                    <a:pt x="7937500" y="0"/>
                  </a:lnTo>
                  <a:lnTo>
                    <a:pt x="7937500" y="25400"/>
                  </a:lnTo>
                  <a:lnTo>
                    <a:pt x="0" y="25400"/>
                  </a:lnTo>
                  <a:close/>
                </a:path>
              </a:pathLst>
            </a:custGeom>
            <a:solidFill>
              <a:srgbClr val="E6E1D8"/>
            </a:solidFill>
          </p:spPr>
        </p:sp>
        <p:sp>
          <p:nvSpPr>
            <p:cNvPr name="TextBox 40" id="40"/>
            <p:cNvSpPr txBox="true"/>
            <p:nvPr/>
          </p:nvSpPr>
          <p:spPr>
            <a:xfrm>
              <a:off x="0" y="-38100"/>
              <a:ext cx="7937500" cy="63500"/>
            </a:xfrm>
            <a:prstGeom prst="rect">
              <a:avLst/>
            </a:prstGeom>
          </p:spPr>
          <p:txBody>
            <a:bodyPr anchor="ctr" rtlCol="false" tIns="50800" lIns="50800" bIns="50800" rIns="50800"/>
            <a:lstStyle/>
            <a:p>
              <a:pPr algn="l">
                <a:lnSpc>
                  <a:spcPts val="1679"/>
                </a:lnSpc>
              </a:pPr>
            </a:p>
          </p:txBody>
        </p:sp>
      </p:grpSp>
      <p:sp>
        <p:nvSpPr>
          <p:cNvPr name="TextBox 41" id="41"/>
          <p:cNvSpPr txBox="true"/>
          <p:nvPr/>
        </p:nvSpPr>
        <p:spPr>
          <a:xfrm rot="0">
            <a:off x="5029200" y="3514725"/>
            <a:ext cx="590550" cy="198120"/>
          </a:xfrm>
          <a:prstGeom prst="rect">
            <a:avLst/>
          </a:prstGeom>
        </p:spPr>
        <p:txBody>
          <a:bodyPr anchor="t" rtlCol="false" tIns="0" lIns="0" bIns="0" rIns="0">
            <a:spAutoFit/>
          </a:bodyPr>
          <a:lstStyle/>
          <a:p>
            <a:pPr algn="r">
              <a:lnSpc>
                <a:spcPts val="1485"/>
              </a:lnSpc>
            </a:pPr>
            <a:r>
              <a:rPr lang="en-US" sz="1350">
                <a:solidFill>
                  <a:srgbClr val="3D3C42"/>
                </a:solidFill>
                <a:latin typeface="Arimo"/>
                <a:ea typeface="Arimo"/>
                <a:cs typeface="Arimo"/>
                <a:sym typeface="Arimo"/>
              </a:rPr>
              <a:t>61%</a:t>
            </a:r>
          </a:p>
        </p:txBody>
      </p:sp>
      <p:sp>
        <p:nvSpPr>
          <p:cNvPr name="TextBox 42" id="42"/>
          <p:cNvSpPr txBox="true"/>
          <p:nvPr/>
        </p:nvSpPr>
        <p:spPr>
          <a:xfrm rot="0">
            <a:off x="5029200" y="4505325"/>
            <a:ext cx="590550" cy="198120"/>
          </a:xfrm>
          <a:prstGeom prst="rect">
            <a:avLst/>
          </a:prstGeom>
        </p:spPr>
        <p:txBody>
          <a:bodyPr anchor="t" rtlCol="false" tIns="0" lIns="0" bIns="0" rIns="0">
            <a:spAutoFit/>
          </a:bodyPr>
          <a:lstStyle/>
          <a:p>
            <a:pPr algn="r">
              <a:lnSpc>
                <a:spcPts val="1485"/>
              </a:lnSpc>
            </a:pPr>
            <a:r>
              <a:rPr lang="en-US" sz="1350">
                <a:solidFill>
                  <a:srgbClr val="3D3C42"/>
                </a:solidFill>
                <a:latin typeface="Arimo"/>
                <a:ea typeface="Arimo"/>
                <a:cs typeface="Arimo"/>
                <a:sym typeface="Arimo"/>
              </a:rPr>
              <a:t>60%</a:t>
            </a:r>
          </a:p>
        </p:txBody>
      </p:sp>
      <p:sp>
        <p:nvSpPr>
          <p:cNvPr name="TextBox 43" id="43"/>
          <p:cNvSpPr txBox="true"/>
          <p:nvPr/>
        </p:nvSpPr>
        <p:spPr>
          <a:xfrm rot="0">
            <a:off x="5029200" y="5495925"/>
            <a:ext cx="590550" cy="198120"/>
          </a:xfrm>
          <a:prstGeom prst="rect">
            <a:avLst/>
          </a:prstGeom>
        </p:spPr>
        <p:txBody>
          <a:bodyPr anchor="t" rtlCol="false" tIns="0" lIns="0" bIns="0" rIns="0">
            <a:spAutoFit/>
          </a:bodyPr>
          <a:lstStyle/>
          <a:p>
            <a:pPr algn="r">
              <a:lnSpc>
                <a:spcPts val="1485"/>
              </a:lnSpc>
            </a:pPr>
            <a:r>
              <a:rPr lang="en-US" sz="1350">
                <a:solidFill>
                  <a:srgbClr val="3D3C42"/>
                </a:solidFill>
                <a:latin typeface="Arimo"/>
                <a:ea typeface="Arimo"/>
                <a:cs typeface="Arimo"/>
                <a:sym typeface="Arimo"/>
              </a:rPr>
              <a:t>59%</a:t>
            </a:r>
          </a:p>
        </p:txBody>
      </p:sp>
      <p:grpSp>
        <p:nvGrpSpPr>
          <p:cNvPr name="Group 44" id="44"/>
          <p:cNvGrpSpPr/>
          <p:nvPr/>
        </p:nvGrpSpPr>
        <p:grpSpPr>
          <a:xfrm rot="0">
            <a:off x="5715000" y="3524250"/>
            <a:ext cx="5953125" cy="2762250"/>
            <a:chOff x="0" y="0"/>
            <a:chExt cx="7937500" cy="3683000"/>
          </a:xfrm>
        </p:grpSpPr>
        <p:sp>
          <p:nvSpPr>
            <p:cNvPr name="Freeform 45" id="45"/>
            <p:cNvSpPr/>
            <p:nvPr/>
          </p:nvSpPr>
          <p:spPr>
            <a:xfrm flipH="false" flipV="false" rot="0">
              <a:off x="190500" y="535940"/>
              <a:ext cx="7493000" cy="1915160"/>
            </a:xfrm>
            <a:custGeom>
              <a:avLst/>
              <a:gdLst/>
              <a:ahLst/>
              <a:cxnLst/>
              <a:rect r="r" b="b" t="t" l="l"/>
              <a:pathLst>
                <a:path h="1915160" w="7493000">
                  <a:moveTo>
                    <a:pt x="0" y="1466850"/>
                  </a:moveTo>
                  <a:lnTo>
                    <a:pt x="680720" y="713740"/>
                  </a:lnTo>
                  <a:lnTo>
                    <a:pt x="1362710" y="647700"/>
                  </a:lnTo>
                  <a:lnTo>
                    <a:pt x="2043430" y="1915160"/>
                  </a:lnTo>
                  <a:lnTo>
                    <a:pt x="2724150" y="410210"/>
                  </a:lnTo>
                  <a:lnTo>
                    <a:pt x="3406140" y="1202690"/>
                  </a:lnTo>
                  <a:lnTo>
                    <a:pt x="4086860" y="92710"/>
                  </a:lnTo>
                  <a:lnTo>
                    <a:pt x="4768850" y="356870"/>
                  </a:lnTo>
                  <a:lnTo>
                    <a:pt x="5449570" y="304800"/>
                  </a:lnTo>
                  <a:lnTo>
                    <a:pt x="6130290" y="1254760"/>
                  </a:lnTo>
                  <a:lnTo>
                    <a:pt x="6812280" y="1109980"/>
                  </a:lnTo>
                  <a:lnTo>
                    <a:pt x="7493000" y="0"/>
                  </a:lnTo>
                </a:path>
              </a:pathLst>
            </a:custGeom>
            <a:ln w="47625" cap="sq">
              <a:solidFill>
                <a:srgbClr val="7F5283"/>
              </a:solidFill>
              <a:prstDash val="solid"/>
              <a:miter/>
            </a:ln>
          </p:spPr>
        </p:sp>
        <p:sp>
          <p:nvSpPr>
            <p:cNvPr name="TextBox 46" id="46"/>
            <p:cNvSpPr txBox="true"/>
            <p:nvPr/>
          </p:nvSpPr>
          <p:spPr>
            <a:xfrm>
              <a:off x="0" y="-38100"/>
              <a:ext cx="7937500" cy="3721100"/>
            </a:xfrm>
            <a:prstGeom prst="rect">
              <a:avLst/>
            </a:prstGeom>
          </p:spPr>
          <p:txBody>
            <a:bodyPr anchor="ctr" rtlCol="false" tIns="50800" lIns="50800" bIns="50800" rIns="50800"/>
            <a:lstStyle/>
            <a:p>
              <a:pPr algn="l">
                <a:lnSpc>
                  <a:spcPts val="1679"/>
                </a:lnSpc>
              </a:pPr>
            </a:p>
          </p:txBody>
        </p:sp>
      </p:grpSp>
      <p:grpSp>
        <p:nvGrpSpPr>
          <p:cNvPr name="Group 47" id="47"/>
          <p:cNvGrpSpPr/>
          <p:nvPr/>
        </p:nvGrpSpPr>
        <p:grpSpPr>
          <a:xfrm rot="0">
            <a:off x="5791200" y="4959668"/>
            <a:ext cx="133350" cy="133350"/>
            <a:chOff x="0" y="0"/>
            <a:chExt cx="177800" cy="177800"/>
          </a:xfrm>
        </p:grpSpPr>
        <p:sp>
          <p:nvSpPr>
            <p:cNvPr name="Freeform 48" id="48"/>
            <p:cNvSpPr/>
            <p:nvPr/>
          </p:nvSpPr>
          <p:spPr>
            <a:xfrm flipH="false" flipV="false" rot="0">
              <a:off x="0" y="0"/>
              <a:ext cx="177800" cy="177800"/>
            </a:xfrm>
            <a:custGeom>
              <a:avLst/>
              <a:gdLst/>
              <a:ahLst/>
              <a:cxnLst/>
              <a:rect r="r" b="b" t="t" l="l"/>
              <a:pathLst>
                <a:path h="177800" w="177800">
                  <a:moveTo>
                    <a:pt x="88900" y="0"/>
                  </a:moveTo>
                  <a:cubicBezTo>
                    <a:pt x="39802" y="0"/>
                    <a:pt x="0" y="39802"/>
                    <a:pt x="0" y="88900"/>
                  </a:cubicBezTo>
                  <a:cubicBezTo>
                    <a:pt x="0" y="137998"/>
                    <a:pt x="39802" y="177800"/>
                    <a:pt x="88900" y="177800"/>
                  </a:cubicBezTo>
                  <a:cubicBezTo>
                    <a:pt x="137998" y="177800"/>
                    <a:pt x="177800" y="137998"/>
                    <a:pt x="177800" y="88900"/>
                  </a:cubicBezTo>
                  <a:cubicBezTo>
                    <a:pt x="177800" y="39802"/>
                    <a:pt x="137998" y="0"/>
                    <a:pt x="88900" y="0"/>
                  </a:cubicBezTo>
                  <a:close/>
                </a:path>
              </a:pathLst>
            </a:custGeom>
            <a:solidFill>
              <a:srgbClr val="7F5283"/>
            </a:solidFill>
          </p:spPr>
        </p:sp>
        <p:sp>
          <p:nvSpPr>
            <p:cNvPr name="TextBox 49" id="49"/>
            <p:cNvSpPr txBox="true"/>
            <p:nvPr/>
          </p:nvSpPr>
          <p:spPr>
            <a:xfrm>
              <a:off x="0" y="-38100"/>
              <a:ext cx="177800" cy="215900"/>
            </a:xfrm>
            <a:prstGeom prst="rect">
              <a:avLst/>
            </a:prstGeom>
          </p:spPr>
          <p:txBody>
            <a:bodyPr anchor="ctr" rtlCol="false" tIns="50800" lIns="50800" bIns="50800" rIns="50800"/>
            <a:lstStyle/>
            <a:p>
              <a:pPr algn="l">
                <a:lnSpc>
                  <a:spcPts val="1679"/>
                </a:lnSpc>
              </a:pPr>
            </a:p>
          </p:txBody>
        </p:sp>
      </p:grpSp>
      <p:sp>
        <p:nvSpPr>
          <p:cNvPr name="TextBox 50" id="50"/>
          <p:cNvSpPr txBox="true"/>
          <p:nvPr/>
        </p:nvSpPr>
        <p:spPr>
          <a:xfrm rot="0">
            <a:off x="5591175" y="6200775"/>
            <a:ext cx="533400" cy="186690"/>
          </a:xfrm>
          <a:prstGeom prst="rect">
            <a:avLst/>
          </a:prstGeom>
        </p:spPr>
        <p:txBody>
          <a:bodyPr anchor="t" rtlCol="false" tIns="0" lIns="0" bIns="0" rIns="0">
            <a:spAutoFit/>
          </a:bodyPr>
          <a:lstStyle/>
          <a:p>
            <a:pPr algn="ctr">
              <a:lnSpc>
                <a:spcPts val="1320"/>
              </a:lnSpc>
            </a:pPr>
            <a:r>
              <a:rPr lang="en-US" sz="1200">
                <a:solidFill>
                  <a:srgbClr val="3D3C42"/>
                </a:solidFill>
                <a:latin typeface="Arimo"/>
                <a:ea typeface="Arimo"/>
                <a:cs typeface="Arimo"/>
                <a:sym typeface="Arimo"/>
              </a:rPr>
              <a:t>Jan</a:t>
            </a:r>
          </a:p>
        </p:txBody>
      </p:sp>
      <p:grpSp>
        <p:nvGrpSpPr>
          <p:cNvPr name="Group 51" id="51"/>
          <p:cNvGrpSpPr/>
          <p:nvPr/>
        </p:nvGrpSpPr>
        <p:grpSpPr>
          <a:xfrm rot="0">
            <a:off x="6301740" y="4394835"/>
            <a:ext cx="133350" cy="133350"/>
            <a:chOff x="0" y="0"/>
            <a:chExt cx="177800" cy="177800"/>
          </a:xfrm>
        </p:grpSpPr>
        <p:sp>
          <p:nvSpPr>
            <p:cNvPr name="Freeform 52" id="52"/>
            <p:cNvSpPr/>
            <p:nvPr/>
          </p:nvSpPr>
          <p:spPr>
            <a:xfrm flipH="false" flipV="false" rot="0">
              <a:off x="0" y="0"/>
              <a:ext cx="177800" cy="177800"/>
            </a:xfrm>
            <a:custGeom>
              <a:avLst/>
              <a:gdLst/>
              <a:ahLst/>
              <a:cxnLst/>
              <a:rect r="r" b="b" t="t" l="l"/>
              <a:pathLst>
                <a:path h="177800" w="177800">
                  <a:moveTo>
                    <a:pt x="88900" y="0"/>
                  </a:moveTo>
                  <a:cubicBezTo>
                    <a:pt x="39802" y="0"/>
                    <a:pt x="0" y="39802"/>
                    <a:pt x="0" y="88900"/>
                  </a:cubicBezTo>
                  <a:cubicBezTo>
                    <a:pt x="0" y="137998"/>
                    <a:pt x="39802" y="177800"/>
                    <a:pt x="88900" y="177800"/>
                  </a:cubicBezTo>
                  <a:cubicBezTo>
                    <a:pt x="137998" y="177800"/>
                    <a:pt x="177800" y="137998"/>
                    <a:pt x="177800" y="88900"/>
                  </a:cubicBezTo>
                  <a:cubicBezTo>
                    <a:pt x="177800" y="39802"/>
                    <a:pt x="137998" y="0"/>
                    <a:pt x="88900" y="0"/>
                  </a:cubicBezTo>
                  <a:close/>
                </a:path>
              </a:pathLst>
            </a:custGeom>
            <a:solidFill>
              <a:srgbClr val="7F5283"/>
            </a:solidFill>
          </p:spPr>
        </p:sp>
        <p:sp>
          <p:nvSpPr>
            <p:cNvPr name="TextBox 53" id="53"/>
            <p:cNvSpPr txBox="true"/>
            <p:nvPr/>
          </p:nvSpPr>
          <p:spPr>
            <a:xfrm>
              <a:off x="0" y="-38100"/>
              <a:ext cx="177800" cy="215900"/>
            </a:xfrm>
            <a:prstGeom prst="rect">
              <a:avLst/>
            </a:prstGeom>
          </p:spPr>
          <p:txBody>
            <a:bodyPr anchor="ctr" rtlCol="false" tIns="50800" lIns="50800" bIns="50800" rIns="50800"/>
            <a:lstStyle/>
            <a:p>
              <a:pPr algn="l">
                <a:lnSpc>
                  <a:spcPts val="1679"/>
                </a:lnSpc>
              </a:pPr>
            </a:p>
          </p:txBody>
        </p:sp>
      </p:grpSp>
      <p:sp>
        <p:nvSpPr>
          <p:cNvPr name="TextBox 54" id="54"/>
          <p:cNvSpPr txBox="true"/>
          <p:nvPr/>
        </p:nvSpPr>
        <p:spPr>
          <a:xfrm rot="0">
            <a:off x="6101715" y="6200775"/>
            <a:ext cx="533400" cy="186690"/>
          </a:xfrm>
          <a:prstGeom prst="rect">
            <a:avLst/>
          </a:prstGeom>
        </p:spPr>
        <p:txBody>
          <a:bodyPr anchor="t" rtlCol="false" tIns="0" lIns="0" bIns="0" rIns="0">
            <a:spAutoFit/>
          </a:bodyPr>
          <a:lstStyle/>
          <a:p>
            <a:pPr algn="ctr">
              <a:lnSpc>
                <a:spcPts val="1320"/>
              </a:lnSpc>
            </a:pPr>
            <a:r>
              <a:rPr lang="en-US" sz="1200">
                <a:solidFill>
                  <a:srgbClr val="3D3C42"/>
                </a:solidFill>
                <a:latin typeface="Arimo"/>
                <a:ea typeface="Arimo"/>
                <a:cs typeface="Arimo"/>
                <a:sym typeface="Arimo"/>
              </a:rPr>
              <a:t>Feb</a:t>
            </a:r>
          </a:p>
        </p:txBody>
      </p:sp>
      <p:grpSp>
        <p:nvGrpSpPr>
          <p:cNvPr name="Group 55" id="55"/>
          <p:cNvGrpSpPr/>
          <p:nvPr/>
        </p:nvGrpSpPr>
        <p:grpSpPr>
          <a:xfrm rot="0">
            <a:off x="6813232" y="4345305"/>
            <a:ext cx="133350" cy="133350"/>
            <a:chOff x="0" y="0"/>
            <a:chExt cx="177800" cy="177800"/>
          </a:xfrm>
        </p:grpSpPr>
        <p:sp>
          <p:nvSpPr>
            <p:cNvPr name="Freeform 56" id="56"/>
            <p:cNvSpPr/>
            <p:nvPr/>
          </p:nvSpPr>
          <p:spPr>
            <a:xfrm flipH="false" flipV="false" rot="0">
              <a:off x="0" y="0"/>
              <a:ext cx="177800" cy="177800"/>
            </a:xfrm>
            <a:custGeom>
              <a:avLst/>
              <a:gdLst/>
              <a:ahLst/>
              <a:cxnLst/>
              <a:rect r="r" b="b" t="t" l="l"/>
              <a:pathLst>
                <a:path h="177800" w="177800">
                  <a:moveTo>
                    <a:pt x="88900" y="0"/>
                  </a:moveTo>
                  <a:cubicBezTo>
                    <a:pt x="39802" y="0"/>
                    <a:pt x="0" y="39802"/>
                    <a:pt x="0" y="88900"/>
                  </a:cubicBezTo>
                  <a:cubicBezTo>
                    <a:pt x="0" y="137998"/>
                    <a:pt x="39802" y="177800"/>
                    <a:pt x="88900" y="177800"/>
                  </a:cubicBezTo>
                  <a:cubicBezTo>
                    <a:pt x="137998" y="177800"/>
                    <a:pt x="177800" y="137998"/>
                    <a:pt x="177800" y="88900"/>
                  </a:cubicBezTo>
                  <a:cubicBezTo>
                    <a:pt x="177800" y="39802"/>
                    <a:pt x="137998" y="0"/>
                    <a:pt x="88900" y="0"/>
                  </a:cubicBezTo>
                  <a:close/>
                </a:path>
              </a:pathLst>
            </a:custGeom>
            <a:solidFill>
              <a:srgbClr val="7F5283"/>
            </a:solidFill>
          </p:spPr>
        </p:sp>
        <p:sp>
          <p:nvSpPr>
            <p:cNvPr name="TextBox 57" id="57"/>
            <p:cNvSpPr txBox="true"/>
            <p:nvPr/>
          </p:nvSpPr>
          <p:spPr>
            <a:xfrm>
              <a:off x="0" y="-38100"/>
              <a:ext cx="177800" cy="215900"/>
            </a:xfrm>
            <a:prstGeom prst="rect">
              <a:avLst/>
            </a:prstGeom>
          </p:spPr>
          <p:txBody>
            <a:bodyPr anchor="ctr" rtlCol="false" tIns="50800" lIns="50800" bIns="50800" rIns="50800"/>
            <a:lstStyle/>
            <a:p>
              <a:pPr algn="l">
                <a:lnSpc>
                  <a:spcPts val="1679"/>
                </a:lnSpc>
              </a:pPr>
            </a:p>
          </p:txBody>
        </p:sp>
      </p:grpSp>
      <p:sp>
        <p:nvSpPr>
          <p:cNvPr name="TextBox 58" id="58"/>
          <p:cNvSpPr txBox="true"/>
          <p:nvPr/>
        </p:nvSpPr>
        <p:spPr>
          <a:xfrm rot="0">
            <a:off x="6613207" y="6200775"/>
            <a:ext cx="533400" cy="186690"/>
          </a:xfrm>
          <a:prstGeom prst="rect">
            <a:avLst/>
          </a:prstGeom>
        </p:spPr>
        <p:txBody>
          <a:bodyPr anchor="t" rtlCol="false" tIns="0" lIns="0" bIns="0" rIns="0">
            <a:spAutoFit/>
          </a:bodyPr>
          <a:lstStyle/>
          <a:p>
            <a:pPr algn="ctr">
              <a:lnSpc>
                <a:spcPts val="1320"/>
              </a:lnSpc>
            </a:pPr>
            <a:r>
              <a:rPr lang="en-US" sz="1200">
                <a:solidFill>
                  <a:srgbClr val="3D3C42"/>
                </a:solidFill>
                <a:latin typeface="Arimo"/>
                <a:ea typeface="Arimo"/>
                <a:cs typeface="Arimo"/>
                <a:sym typeface="Arimo"/>
              </a:rPr>
              <a:t>Mar</a:t>
            </a:r>
          </a:p>
        </p:txBody>
      </p:sp>
      <p:grpSp>
        <p:nvGrpSpPr>
          <p:cNvPr name="Group 59" id="59"/>
          <p:cNvGrpSpPr/>
          <p:nvPr/>
        </p:nvGrpSpPr>
        <p:grpSpPr>
          <a:xfrm rot="0">
            <a:off x="7323772" y="5295900"/>
            <a:ext cx="133350" cy="133350"/>
            <a:chOff x="0" y="0"/>
            <a:chExt cx="177800" cy="177800"/>
          </a:xfrm>
        </p:grpSpPr>
        <p:sp>
          <p:nvSpPr>
            <p:cNvPr name="Freeform 60" id="60"/>
            <p:cNvSpPr/>
            <p:nvPr/>
          </p:nvSpPr>
          <p:spPr>
            <a:xfrm flipH="false" flipV="false" rot="0">
              <a:off x="0" y="0"/>
              <a:ext cx="177800" cy="177800"/>
            </a:xfrm>
            <a:custGeom>
              <a:avLst/>
              <a:gdLst/>
              <a:ahLst/>
              <a:cxnLst/>
              <a:rect r="r" b="b" t="t" l="l"/>
              <a:pathLst>
                <a:path h="177800" w="177800">
                  <a:moveTo>
                    <a:pt x="88900" y="0"/>
                  </a:moveTo>
                  <a:cubicBezTo>
                    <a:pt x="39802" y="0"/>
                    <a:pt x="0" y="39802"/>
                    <a:pt x="0" y="88900"/>
                  </a:cubicBezTo>
                  <a:cubicBezTo>
                    <a:pt x="0" y="137998"/>
                    <a:pt x="39802" y="177800"/>
                    <a:pt x="88900" y="177800"/>
                  </a:cubicBezTo>
                  <a:cubicBezTo>
                    <a:pt x="137998" y="177800"/>
                    <a:pt x="177800" y="137998"/>
                    <a:pt x="177800" y="88900"/>
                  </a:cubicBezTo>
                  <a:cubicBezTo>
                    <a:pt x="177800" y="39802"/>
                    <a:pt x="137998" y="0"/>
                    <a:pt x="88900" y="0"/>
                  </a:cubicBezTo>
                  <a:close/>
                </a:path>
              </a:pathLst>
            </a:custGeom>
            <a:solidFill>
              <a:srgbClr val="7F5283"/>
            </a:solidFill>
          </p:spPr>
        </p:sp>
        <p:sp>
          <p:nvSpPr>
            <p:cNvPr name="TextBox 61" id="61"/>
            <p:cNvSpPr txBox="true"/>
            <p:nvPr/>
          </p:nvSpPr>
          <p:spPr>
            <a:xfrm>
              <a:off x="0" y="-38100"/>
              <a:ext cx="177800" cy="215900"/>
            </a:xfrm>
            <a:prstGeom prst="rect">
              <a:avLst/>
            </a:prstGeom>
          </p:spPr>
          <p:txBody>
            <a:bodyPr anchor="ctr" rtlCol="false" tIns="50800" lIns="50800" bIns="50800" rIns="50800"/>
            <a:lstStyle/>
            <a:p>
              <a:pPr algn="l">
                <a:lnSpc>
                  <a:spcPts val="1679"/>
                </a:lnSpc>
              </a:pPr>
            </a:p>
          </p:txBody>
        </p:sp>
      </p:grpSp>
      <p:sp>
        <p:nvSpPr>
          <p:cNvPr name="TextBox 62" id="62"/>
          <p:cNvSpPr txBox="true"/>
          <p:nvPr/>
        </p:nvSpPr>
        <p:spPr>
          <a:xfrm rot="0">
            <a:off x="7123747" y="6200775"/>
            <a:ext cx="533400" cy="186690"/>
          </a:xfrm>
          <a:prstGeom prst="rect">
            <a:avLst/>
          </a:prstGeom>
        </p:spPr>
        <p:txBody>
          <a:bodyPr anchor="t" rtlCol="false" tIns="0" lIns="0" bIns="0" rIns="0">
            <a:spAutoFit/>
          </a:bodyPr>
          <a:lstStyle/>
          <a:p>
            <a:pPr algn="ctr">
              <a:lnSpc>
                <a:spcPts val="1320"/>
              </a:lnSpc>
            </a:pPr>
            <a:r>
              <a:rPr lang="en-US" sz="1200">
                <a:solidFill>
                  <a:srgbClr val="3D3C42"/>
                </a:solidFill>
                <a:latin typeface="Arimo"/>
                <a:ea typeface="Arimo"/>
                <a:cs typeface="Arimo"/>
                <a:sym typeface="Arimo"/>
              </a:rPr>
              <a:t>Apr</a:t>
            </a:r>
          </a:p>
        </p:txBody>
      </p:sp>
      <p:grpSp>
        <p:nvGrpSpPr>
          <p:cNvPr name="Group 63" id="63"/>
          <p:cNvGrpSpPr/>
          <p:nvPr/>
        </p:nvGrpSpPr>
        <p:grpSpPr>
          <a:xfrm rot="0">
            <a:off x="7834312" y="4167188"/>
            <a:ext cx="133350" cy="133350"/>
            <a:chOff x="0" y="0"/>
            <a:chExt cx="177800" cy="177800"/>
          </a:xfrm>
        </p:grpSpPr>
        <p:sp>
          <p:nvSpPr>
            <p:cNvPr name="Freeform 64" id="64"/>
            <p:cNvSpPr/>
            <p:nvPr/>
          </p:nvSpPr>
          <p:spPr>
            <a:xfrm flipH="false" flipV="false" rot="0">
              <a:off x="0" y="0"/>
              <a:ext cx="177800" cy="177800"/>
            </a:xfrm>
            <a:custGeom>
              <a:avLst/>
              <a:gdLst/>
              <a:ahLst/>
              <a:cxnLst/>
              <a:rect r="r" b="b" t="t" l="l"/>
              <a:pathLst>
                <a:path h="177800" w="177800">
                  <a:moveTo>
                    <a:pt x="88900" y="0"/>
                  </a:moveTo>
                  <a:cubicBezTo>
                    <a:pt x="39802" y="0"/>
                    <a:pt x="0" y="39802"/>
                    <a:pt x="0" y="88900"/>
                  </a:cubicBezTo>
                  <a:cubicBezTo>
                    <a:pt x="0" y="137998"/>
                    <a:pt x="39802" y="177800"/>
                    <a:pt x="88900" y="177800"/>
                  </a:cubicBezTo>
                  <a:cubicBezTo>
                    <a:pt x="137998" y="177800"/>
                    <a:pt x="177800" y="137998"/>
                    <a:pt x="177800" y="88900"/>
                  </a:cubicBezTo>
                  <a:cubicBezTo>
                    <a:pt x="177800" y="39802"/>
                    <a:pt x="137998" y="0"/>
                    <a:pt x="88900" y="0"/>
                  </a:cubicBezTo>
                  <a:close/>
                </a:path>
              </a:pathLst>
            </a:custGeom>
            <a:solidFill>
              <a:srgbClr val="7F5283"/>
            </a:solidFill>
          </p:spPr>
        </p:sp>
        <p:sp>
          <p:nvSpPr>
            <p:cNvPr name="TextBox 65" id="65"/>
            <p:cNvSpPr txBox="true"/>
            <p:nvPr/>
          </p:nvSpPr>
          <p:spPr>
            <a:xfrm>
              <a:off x="0" y="-38100"/>
              <a:ext cx="177800" cy="215900"/>
            </a:xfrm>
            <a:prstGeom prst="rect">
              <a:avLst/>
            </a:prstGeom>
          </p:spPr>
          <p:txBody>
            <a:bodyPr anchor="ctr" rtlCol="false" tIns="50800" lIns="50800" bIns="50800" rIns="50800"/>
            <a:lstStyle/>
            <a:p>
              <a:pPr algn="l">
                <a:lnSpc>
                  <a:spcPts val="1679"/>
                </a:lnSpc>
              </a:pPr>
            </a:p>
          </p:txBody>
        </p:sp>
      </p:grpSp>
      <p:sp>
        <p:nvSpPr>
          <p:cNvPr name="TextBox 66" id="66"/>
          <p:cNvSpPr txBox="true"/>
          <p:nvPr/>
        </p:nvSpPr>
        <p:spPr>
          <a:xfrm rot="0">
            <a:off x="7634288" y="6200775"/>
            <a:ext cx="533400" cy="186690"/>
          </a:xfrm>
          <a:prstGeom prst="rect">
            <a:avLst/>
          </a:prstGeom>
        </p:spPr>
        <p:txBody>
          <a:bodyPr anchor="t" rtlCol="false" tIns="0" lIns="0" bIns="0" rIns="0">
            <a:spAutoFit/>
          </a:bodyPr>
          <a:lstStyle/>
          <a:p>
            <a:pPr algn="ctr">
              <a:lnSpc>
                <a:spcPts val="1320"/>
              </a:lnSpc>
            </a:pPr>
            <a:r>
              <a:rPr lang="en-US" sz="1200">
                <a:solidFill>
                  <a:srgbClr val="3D3C42"/>
                </a:solidFill>
                <a:latin typeface="Arimo"/>
                <a:ea typeface="Arimo"/>
                <a:cs typeface="Arimo"/>
                <a:sym typeface="Arimo"/>
              </a:rPr>
              <a:t>May</a:t>
            </a:r>
          </a:p>
        </p:txBody>
      </p:sp>
      <p:grpSp>
        <p:nvGrpSpPr>
          <p:cNvPr name="Group 67" id="67"/>
          <p:cNvGrpSpPr/>
          <p:nvPr/>
        </p:nvGrpSpPr>
        <p:grpSpPr>
          <a:xfrm rot="0">
            <a:off x="8345805" y="4761547"/>
            <a:ext cx="133350" cy="133350"/>
            <a:chOff x="0" y="0"/>
            <a:chExt cx="177800" cy="177800"/>
          </a:xfrm>
        </p:grpSpPr>
        <p:sp>
          <p:nvSpPr>
            <p:cNvPr name="Freeform 68" id="68"/>
            <p:cNvSpPr/>
            <p:nvPr/>
          </p:nvSpPr>
          <p:spPr>
            <a:xfrm flipH="false" flipV="false" rot="0">
              <a:off x="0" y="0"/>
              <a:ext cx="177800" cy="177800"/>
            </a:xfrm>
            <a:custGeom>
              <a:avLst/>
              <a:gdLst/>
              <a:ahLst/>
              <a:cxnLst/>
              <a:rect r="r" b="b" t="t" l="l"/>
              <a:pathLst>
                <a:path h="177800" w="177800">
                  <a:moveTo>
                    <a:pt x="88900" y="0"/>
                  </a:moveTo>
                  <a:cubicBezTo>
                    <a:pt x="39802" y="0"/>
                    <a:pt x="0" y="39802"/>
                    <a:pt x="0" y="88900"/>
                  </a:cubicBezTo>
                  <a:cubicBezTo>
                    <a:pt x="0" y="137998"/>
                    <a:pt x="39802" y="177800"/>
                    <a:pt x="88900" y="177800"/>
                  </a:cubicBezTo>
                  <a:cubicBezTo>
                    <a:pt x="137998" y="177800"/>
                    <a:pt x="177800" y="137998"/>
                    <a:pt x="177800" y="88900"/>
                  </a:cubicBezTo>
                  <a:cubicBezTo>
                    <a:pt x="177800" y="39802"/>
                    <a:pt x="137998" y="0"/>
                    <a:pt x="88900" y="0"/>
                  </a:cubicBezTo>
                  <a:close/>
                </a:path>
              </a:pathLst>
            </a:custGeom>
            <a:solidFill>
              <a:srgbClr val="7F5283"/>
            </a:solidFill>
          </p:spPr>
        </p:sp>
        <p:sp>
          <p:nvSpPr>
            <p:cNvPr name="TextBox 69" id="69"/>
            <p:cNvSpPr txBox="true"/>
            <p:nvPr/>
          </p:nvSpPr>
          <p:spPr>
            <a:xfrm>
              <a:off x="0" y="-38100"/>
              <a:ext cx="177800" cy="215900"/>
            </a:xfrm>
            <a:prstGeom prst="rect">
              <a:avLst/>
            </a:prstGeom>
          </p:spPr>
          <p:txBody>
            <a:bodyPr anchor="ctr" rtlCol="false" tIns="50800" lIns="50800" bIns="50800" rIns="50800"/>
            <a:lstStyle/>
            <a:p>
              <a:pPr algn="l">
                <a:lnSpc>
                  <a:spcPts val="1679"/>
                </a:lnSpc>
              </a:pPr>
            </a:p>
          </p:txBody>
        </p:sp>
      </p:grpSp>
      <p:sp>
        <p:nvSpPr>
          <p:cNvPr name="TextBox 70" id="70"/>
          <p:cNvSpPr txBox="true"/>
          <p:nvPr/>
        </p:nvSpPr>
        <p:spPr>
          <a:xfrm rot="0">
            <a:off x="8145780" y="6200775"/>
            <a:ext cx="533400" cy="186690"/>
          </a:xfrm>
          <a:prstGeom prst="rect">
            <a:avLst/>
          </a:prstGeom>
        </p:spPr>
        <p:txBody>
          <a:bodyPr anchor="t" rtlCol="false" tIns="0" lIns="0" bIns="0" rIns="0">
            <a:spAutoFit/>
          </a:bodyPr>
          <a:lstStyle/>
          <a:p>
            <a:pPr algn="ctr">
              <a:lnSpc>
                <a:spcPts val="1320"/>
              </a:lnSpc>
            </a:pPr>
            <a:r>
              <a:rPr lang="en-US" sz="1200">
                <a:solidFill>
                  <a:srgbClr val="3D3C42"/>
                </a:solidFill>
                <a:latin typeface="Arimo"/>
                <a:ea typeface="Arimo"/>
                <a:cs typeface="Arimo"/>
                <a:sym typeface="Arimo"/>
              </a:rPr>
              <a:t>Jun</a:t>
            </a:r>
          </a:p>
        </p:txBody>
      </p:sp>
      <p:grpSp>
        <p:nvGrpSpPr>
          <p:cNvPr name="Group 71" id="71"/>
          <p:cNvGrpSpPr/>
          <p:nvPr/>
        </p:nvGrpSpPr>
        <p:grpSpPr>
          <a:xfrm rot="0">
            <a:off x="8856345" y="3929062"/>
            <a:ext cx="133350" cy="133350"/>
            <a:chOff x="0" y="0"/>
            <a:chExt cx="177800" cy="177800"/>
          </a:xfrm>
        </p:grpSpPr>
        <p:sp>
          <p:nvSpPr>
            <p:cNvPr name="Freeform 72" id="72"/>
            <p:cNvSpPr/>
            <p:nvPr/>
          </p:nvSpPr>
          <p:spPr>
            <a:xfrm flipH="false" flipV="false" rot="0">
              <a:off x="0" y="0"/>
              <a:ext cx="177800" cy="177800"/>
            </a:xfrm>
            <a:custGeom>
              <a:avLst/>
              <a:gdLst/>
              <a:ahLst/>
              <a:cxnLst/>
              <a:rect r="r" b="b" t="t" l="l"/>
              <a:pathLst>
                <a:path h="177800" w="177800">
                  <a:moveTo>
                    <a:pt x="88900" y="0"/>
                  </a:moveTo>
                  <a:cubicBezTo>
                    <a:pt x="39802" y="0"/>
                    <a:pt x="0" y="39802"/>
                    <a:pt x="0" y="88900"/>
                  </a:cubicBezTo>
                  <a:cubicBezTo>
                    <a:pt x="0" y="137998"/>
                    <a:pt x="39802" y="177800"/>
                    <a:pt x="88900" y="177800"/>
                  </a:cubicBezTo>
                  <a:cubicBezTo>
                    <a:pt x="137998" y="177800"/>
                    <a:pt x="177800" y="137998"/>
                    <a:pt x="177800" y="88900"/>
                  </a:cubicBezTo>
                  <a:cubicBezTo>
                    <a:pt x="177800" y="39802"/>
                    <a:pt x="137998" y="0"/>
                    <a:pt x="88900" y="0"/>
                  </a:cubicBezTo>
                  <a:close/>
                </a:path>
              </a:pathLst>
            </a:custGeom>
            <a:solidFill>
              <a:srgbClr val="7F5283"/>
            </a:solidFill>
          </p:spPr>
        </p:sp>
        <p:sp>
          <p:nvSpPr>
            <p:cNvPr name="TextBox 73" id="73"/>
            <p:cNvSpPr txBox="true"/>
            <p:nvPr/>
          </p:nvSpPr>
          <p:spPr>
            <a:xfrm>
              <a:off x="0" y="-38100"/>
              <a:ext cx="177800" cy="215900"/>
            </a:xfrm>
            <a:prstGeom prst="rect">
              <a:avLst/>
            </a:prstGeom>
          </p:spPr>
          <p:txBody>
            <a:bodyPr anchor="ctr" rtlCol="false" tIns="50800" lIns="50800" bIns="50800" rIns="50800"/>
            <a:lstStyle/>
            <a:p>
              <a:pPr algn="l">
                <a:lnSpc>
                  <a:spcPts val="1679"/>
                </a:lnSpc>
              </a:pPr>
            </a:p>
          </p:txBody>
        </p:sp>
      </p:grpSp>
      <p:sp>
        <p:nvSpPr>
          <p:cNvPr name="TextBox 74" id="74"/>
          <p:cNvSpPr txBox="true"/>
          <p:nvPr/>
        </p:nvSpPr>
        <p:spPr>
          <a:xfrm rot="0">
            <a:off x="8656320" y="6200775"/>
            <a:ext cx="533400" cy="186690"/>
          </a:xfrm>
          <a:prstGeom prst="rect">
            <a:avLst/>
          </a:prstGeom>
        </p:spPr>
        <p:txBody>
          <a:bodyPr anchor="t" rtlCol="false" tIns="0" lIns="0" bIns="0" rIns="0">
            <a:spAutoFit/>
          </a:bodyPr>
          <a:lstStyle/>
          <a:p>
            <a:pPr algn="ctr">
              <a:lnSpc>
                <a:spcPts val="1320"/>
              </a:lnSpc>
            </a:pPr>
            <a:r>
              <a:rPr lang="en-US" sz="1200">
                <a:solidFill>
                  <a:srgbClr val="3D3C42"/>
                </a:solidFill>
                <a:latin typeface="Arimo"/>
                <a:ea typeface="Arimo"/>
                <a:cs typeface="Arimo"/>
                <a:sym typeface="Arimo"/>
              </a:rPr>
              <a:t>Jul</a:t>
            </a:r>
          </a:p>
        </p:txBody>
      </p:sp>
      <p:grpSp>
        <p:nvGrpSpPr>
          <p:cNvPr name="Group 75" id="75"/>
          <p:cNvGrpSpPr/>
          <p:nvPr/>
        </p:nvGrpSpPr>
        <p:grpSpPr>
          <a:xfrm rot="0">
            <a:off x="9367838" y="4127183"/>
            <a:ext cx="133350" cy="133350"/>
            <a:chOff x="0" y="0"/>
            <a:chExt cx="177800" cy="177800"/>
          </a:xfrm>
        </p:grpSpPr>
        <p:sp>
          <p:nvSpPr>
            <p:cNvPr name="Freeform 76" id="76"/>
            <p:cNvSpPr/>
            <p:nvPr/>
          </p:nvSpPr>
          <p:spPr>
            <a:xfrm flipH="false" flipV="false" rot="0">
              <a:off x="0" y="0"/>
              <a:ext cx="177800" cy="177800"/>
            </a:xfrm>
            <a:custGeom>
              <a:avLst/>
              <a:gdLst/>
              <a:ahLst/>
              <a:cxnLst/>
              <a:rect r="r" b="b" t="t" l="l"/>
              <a:pathLst>
                <a:path h="177800" w="177800">
                  <a:moveTo>
                    <a:pt x="88900" y="0"/>
                  </a:moveTo>
                  <a:cubicBezTo>
                    <a:pt x="39802" y="0"/>
                    <a:pt x="0" y="39802"/>
                    <a:pt x="0" y="88900"/>
                  </a:cubicBezTo>
                  <a:cubicBezTo>
                    <a:pt x="0" y="137998"/>
                    <a:pt x="39802" y="177800"/>
                    <a:pt x="88900" y="177800"/>
                  </a:cubicBezTo>
                  <a:cubicBezTo>
                    <a:pt x="137998" y="177800"/>
                    <a:pt x="177800" y="137998"/>
                    <a:pt x="177800" y="88900"/>
                  </a:cubicBezTo>
                  <a:cubicBezTo>
                    <a:pt x="177800" y="39802"/>
                    <a:pt x="137998" y="0"/>
                    <a:pt x="88900" y="0"/>
                  </a:cubicBezTo>
                  <a:close/>
                </a:path>
              </a:pathLst>
            </a:custGeom>
            <a:solidFill>
              <a:srgbClr val="7F5283"/>
            </a:solidFill>
          </p:spPr>
        </p:sp>
        <p:sp>
          <p:nvSpPr>
            <p:cNvPr name="TextBox 77" id="77"/>
            <p:cNvSpPr txBox="true"/>
            <p:nvPr/>
          </p:nvSpPr>
          <p:spPr>
            <a:xfrm>
              <a:off x="0" y="-38100"/>
              <a:ext cx="177800" cy="215900"/>
            </a:xfrm>
            <a:prstGeom prst="rect">
              <a:avLst/>
            </a:prstGeom>
          </p:spPr>
          <p:txBody>
            <a:bodyPr anchor="ctr" rtlCol="false" tIns="50800" lIns="50800" bIns="50800" rIns="50800"/>
            <a:lstStyle/>
            <a:p>
              <a:pPr algn="l">
                <a:lnSpc>
                  <a:spcPts val="1679"/>
                </a:lnSpc>
              </a:pPr>
            </a:p>
          </p:txBody>
        </p:sp>
      </p:grpSp>
      <p:sp>
        <p:nvSpPr>
          <p:cNvPr name="TextBox 78" id="78"/>
          <p:cNvSpPr txBox="true"/>
          <p:nvPr/>
        </p:nvSpPr>
        <p:spPr>
          <a:xfrm rot="0">
            <a:off x="9167812" y="6200775"/>
            <a:ext cx="533400" cy="186690"/>
          </a:xfrm>
          <a:prstGeom prst="rect">
            <a:avLst/>
          </a:prstGeom>
        </p:spPr>
        <p:txBody>
          <a:bodyPr anchor="t" rtlCol="false" tIns="0" lIns="0" bIns="0" rIns="0">
            <a:spAutoFit/>
          </a:bodyPr>
          <a:lstStyle/>
          <a:p>
            <a:pPr algn="ctr">
              <a:lnSpc>
                <a:spcPts val="1320"/>
              </a:lnSpc>
            </a:pPr>
            <a:r>
              <a:rPr lang="en-US" sz="1200">
                <a:solidFill>
                  <a:srgbClr val="3D3C42"/>
                </a:solidFill>
                <a:latin typeface="Arimo"/>
                <a:ea typeface="Arimo"/>
                <a:cs typeface="Arimo"/>
                <a:sym typeface="Arimo"/>
              </a:rPr>
              <a:t>Aug</a:t>
            </a:r>
          </a:p>
        </p:txBody>
      </p:sp>
      <p:grpSp>
        <p:nvGrpSpPr>
          <p:cNvPr name="Group 79" id="79"/>
          <p:cNvGrpSpPr/>
          <p:nvPr/>
        </p:nvGrpSpPr>
        <p:grpSpPr>
          <a:xfrm rot="0">
            <a:off x="9878378" y="4088130"/>
            <a:ext cx="133350" cy="133350"/>
            <a:chOff x="0" y="0"/>
            <a:chExt cx="177800" cy="177800"/>
          </a:xfrm>
        </p:grpSpPr>
        <p:sp>
          <p:nvSpPr>
            <p:cNvPr name="Freeform 80" id="80"/>
            <p:cNvSpPr/>
            <p:nvPr/>
          </p:nvSpPr>
          <p:spPr>
            <a:xfrm flipH="false" flipV="false" rot="0">
              <a:off x="0" y="0"/>
              <a:ext cx="177800" cy="177800"/>
            </a:xfrm>
            <a:custGeom>
              <a:avLst/>
              <a:gdLst/>
              <a:ahLst/>
              <a:cxnLst/>
              <a:rect r="r" b="b" t="t" l="l"/>
              <a:pathLst>
                <a:path h="177800" w="177800">
                  <a:moveTo>
                    <a:pt x="88900" y="0"/>
                  </a:moveTo>
                  <a:cubicBezTo>
                    <a:pt x="39802" y="0"/>
                    <a:pt x="0" y="39802"/>
                    <a:pt x="0" y="88900"/>
                  </a:cubicBezTo>
                  <a:cubicBezTo>
                    <a:pt x="0" y="137998"/>
                    <a:pt x="39802" y="177800"/>
                    <a:pt x="88900" y="177800"/>
                  </a:cubicBezTo>
                  <a:cubicBezTo>
                    <a:pt x="137998" y="177800"/>
                    <a:pt x="177800" y="137998"/>
                    <a:pt x="177800" y="88900"/>
                  </a:cubicBezTo>
                  <a:cubicBezTo>
                    <a:pt x="177800" y="39802"/>
                    <a:pt x="137998" y="0"/>
                    <a:pt x="88900" y="0"/>
                  </a:cubicBezTo>
                  <a:close/>
                </a:path>
              </a:pathLst>
            </a:custGeom>
            <a:solidFill>
              <a:srgbClr val="7F5283"/>
            </a:solidFill>
          </p:spPr>
        </p:sp>
        <p:sp>
          <p:nvSpPr>
            <p:cNvPr name="TextBox 81" id="81"/>
            <p:cNvSpPr txBox="true"/>
            <p:nvPr/>
          </p:nvSpPr>
          <p:spPr>
            <a:xfrm>
              <a:off x="0" y="-38100"/>
              <a:ext cx="177800" cy="215900"/>
            </a:xfrm>
            <a:prstGeom prst="rect">
              <a:avLst/>
            </a:prstGeom>
          </p:spPr>
          <p:txBody>
            <a:bodyPr anchor="ctr" rtlCol="false" tIns="50800" lIns="50800" bIns="50800" rIns="50800"/>
            <a:lstStyle/>
            <a:p>
              <a:pPr algn="l">
                <a:lnSpc>
                  <a:spcPts val="1679"/>
                </a:lnSpc>
              </a:pPr>
            </a:p>
          </p:txBody>
        </p:sp>
      </p:grpSp>
      <p:sp>
        <p:nvSpPr>
          <p:cNvPr name="TextBox 82" id="82"/>
          <p:cNvSpPr txBox="true"/>
          <p:nvPr/>
        </p:nvSpPr>
        <p:spPr>
          <a:xfrm rot="0">
            <a:off x="9678352" y="6200775"/>
            <a:ext cx="533400" cy="186690"/>
          </a:xfrm>
          <a:prstGeom prst="rect">
            <a:avLst/>
          </a:prstGeom>
        </p:spPr>
        <p:txBody>
          <a:bodyPr anchor="t" rtlCol="false" tIns="0" lIns="0" bIns="0" rIns="0">
            <a:spAutoFit/>
          </a:bodyPr>
          <a:lstStyle/>
          <a:p>
            <a:pPr algn="ctr">
              <a:lnSpc>
                <a:spcPts val="1320"/>
              </a:lnSpc>
            </a:pPr>
            <a:r>
              <a:rPr lang="en-US" sz="1200">
                <a:solidFill>
                  <a:srgbClr val="3D3C42"/>
                </a:solidFill>
                <a:latin typeface="Arimo"/>
                <a:ea typeface="Arimo"/>
                <a:cs typeface="Arimo"/>
                <a:sym typeface="Arimo"/>
              </a:rPr>
              <a:t>Sep</a:t>
            </a:r>
          </a:p>
        </p:txBody>
      </p:sp>
      <p:grpSp>
        <p:nvGrpSpPr>
          <p:cNvPr name="Group 83" id="83"/>
          <p:cNvGrpSpPr/>
          <p:nvPr/>
        </p:nvGrpSpPr>
        <p:grpSpPr>
          <a:xfrm rot="0">
            <a:off x="10388918" y="4800600"/>
            <a:ext cx="133350" cy="133350"/>
            <a:chOff x="0" y="0"/>
            <a:chExt cx="177800" cy="177800"/>
          </a:xfrm>
        </p:grpSpPr>
        <p:sp>
          <p:nvSpPr>
            <p:cNvPr name="Freeform 84" id="84"/>
            <p:cNvSpPr/>
            <p:nvPr/>
          </p:nvSpPr>
          <p:spPr>
            <a:xfrm flipH="false" flipV="false" rot="0">
              <a:off x="0" y="0"/>
              <a:ext cx="177800" cy="177800"/>
            </a:xfrm>
            <a:custGeom>
              <a:avLst/>
              <a:gdLst/>
              <a:ahLst/>
              <a:cxnLst/>
              <a:rect r="r" b="b" t="t" l="l"/>
              <a:pathLst>
                <a:path h="177800" w="177800">
                  <a:moveTo>
                    <a:pt x="88900" y="0"/>
                  </a:moveTo>
                  <a:cubicBezTo>
                    <a:pt x="39802" y="0"/>
                    <a:pt x="0" y="39802"/>
                    <a:pt x="0" y="88900"/>
                  </a:cubicBezTo>
                  <a:cubicBezTo>
                    <a:pt x="0" y="137998"/>
                    <a:pt x="39802" y="177800"/>
                    <a:pt x="88900" y="177800"/>
                  </a:cubicBezTo>
                  <a:cubicBezTo>
                    <a:pt x="137998" y="177800"/>
                    <a:pt x="177800" y="137998"/>
                    <a:pt x="177800" y="88900"/>
                  </a:cubicBezTo>
                  <a:cubicBezTo>
                    <a:pt x="177800" y="39802"/>
                    <a:pt x="137998" y="0"/>
                    <a:pt x="88900" y="0"/>
                  </a:cubicBezTo>
                  <a:close/>
                </a:path>
              </a:pathLst>
            </a:custGeom>
            <a:solidFill>
              <a:srgbClr val="7F5283"/>
            </a:solidFill>
          </p:spPr>
        </p:sp>
        <p:sp>
          <p:nvSpPr>
            <p:cNvPr name="TextBox 85" id="85"/>
            <p:cNvSpPr txBox="true"/>
            <p:nvPr/>
          </p:nvSpPr>
          <p:spPr>
            <a:xfrm>
              <a:off x="0" y="-38100"/>
              <a:ext cx="177800" cy="215900"/>
            </a:xfrm>
            <a:prstGeom prst="rect">
              <a:avLst/>
            </a:prstGeom>
          </p:spPr>
          <p:txBody>
            <a:bodyPr anchor="ctr" rtlCol="false" tIns="50800" lIns="50800" bIns="50800" rIns="50800"/>
            <a:lstStyle/>
            <a:p>
              <a:pPr algn="l">
                <a:lnSpc>
                  <a:spcPts val="1679"/>
                </a:lnSpc>
              </a:pPr>
            </a:p>
          </p:txBody>
        </p:sp>
      </p:grpSp>
      <p:sp>
        <p:nvSpPr>
          <p:cNvPr name="TextBox 86" id="86"/>
          <p:cNvSpPr txBox="true"/>
          <p:nvPr/>
        </p:nvSpPr>
        <p:spPr>
          <a:xfrm rot="0">
            <a:off x="10188893" y="6200775"/>
            <a:ext cx="533400" cy="186690"/>
          </a:xfrm>
          <a:prstGeom prst="rect">
            <a:avLst/>
          </a:prstGeom>
        </p:spPr>
        <p:txBody>
          <a:bodyPr anchor="t" rtlCol="false" tIns="0" lIns="0" bIns="0" rIns="0">
            <a:spAutoFit/>
          </a:bodyPr>
          <a:lstStyle/>
          <a:p>
            <a:pPr algn="ctr">
              <a:lnSpc>
                <a:spcPts val="1320"/>
              </a:lnSpc>
            </a:pPr>
            <a:r>
              <a:rPr lang="en-US" sz="1200">
                <a:solidFill>
                  <a:srgbClr val="3D3C42"/>
                </a:solidFill>
                <a:latin typeface="Arimo"/>
                <a:ea typeface="Arimo"/>
                <a:cs typeface="Arimo"/>
                <a:sym typeface="Arimo"/>
              </a:rPr>
              <a:t>Oct</a:t>
            </a:r>
          </a:p>
        </p:txBody>
      </p:sp>
      <p:grpSp>
        <p:nvGrpSpPr>
          <p:cNvPr name="Group 87" id="87"/>
          <p:cNvGrpSpPr/>
          <p:nvPr/>
        </p:nvGrpSpPr>
        <p:grpSpPr>
          <a:xfrm rot="0">
            <a:off x="10900410" y="4692015"/>
            <a:ext cx="133350" cy="133350"/>
            <a:chOff x="0" y="0"/>
            <a:chExt cx="177800" cy="177800"/>
          </a:xfrm>
        </p:grpSpPr>
        <p:sp>
          <p:nvSpPr>
            <p:cNvPr name="Freeform 88" id="88"/>
            <p:cNvSpPr/>
            <p:nvPr/>
          </p:nvSpPr>
          <p:spPr>
            <a:xfrm flipH="false" flipV="false" rot="0">
              <a:off x="0" y="0"/>
              <a:ext cx="177800" cy="177800"/>
            </a:xfrm>
            <a:custGeom>
              <a:avLst/>
              <a:gdLst/>
              <a:ahLst/>
              <a:cxnLst/>
              <a:rect r="r" b="b" t="t" l="l"/>
              <a:pathLst>
                <a:path h="177800" w="177800">
                  <a:moveTo>
                    <a:pt x="88900" y="0"/>
                  </a:moveTo>
                  <a:cubicBezTo>
                    <a:pt x="39802" y="0"/>
                    <a:pt x="0" y="39802"/>
                    <a:pt x="0" y="88900"/>
                  </a:cubicBezTo>
                  <a:cubicBezTo>
                    <a:pt x="0" y="137998"/>
                    <a:pt x="39802" y="177800"/>
                    <a:pt x="88900" y="177800"/>
                  </a:cubicBezTo>
                  <a:cubicBezTo>
                    <a:pt x="137998" y="177800"/>
                    <a:pt x="177800" y="137998"/>
                    <a:pt x="177800" y="88900"/>
                  </a:cubicBezTo>
                  <a:cubicBezTo>
                    <a:pt x="177800" y="39802"/>
                    <a:pt x="137998" y="0"/>
                    <a:pt x="88900" y="0"/>
                  </a:cubicBezTo>
                  <a:close/>
                </a:path>
              </a:pathLst>
            </a:custGeom>
            <a:solidFill>
              <a:srgbClr val="7F5283"/>
            </a:solidFill>
          </p:spPr>
        </p:sp>
        <p:sp>
          <p:nvSpPr>
            <p:cNvPr name="TextBox 89" id="89"/>
            <p:cNvSpPr txBox="true"/>
            <p:nvPr/>
          </p:nvSpPr>
          <p:spPr>
            <a:xfrm>
              <a:off x="0" y="-38100"/>
              <a:ext cx="177800" cy="215900"/>
            </a:xfrm>
            <a:prstGeom prst="rect">
              <a:avLst/>
            </a:prstGeom>
          </p:spPr>
          <p:txBody>
            <a:bodyPr anchor="ctr" rtlCol="false" tIns="50800" lIns="50800" bIns="50800" rIns="50800"/>
            <a:lstStyle/>
            <a:p>
              <a:pPr algn="l">
                <a:lnSpc>
                  <a:spcPts val="1679"/>
                </a:lnSpc>
              </a:pPr>
            </a:p>
          </p:txBody>
        </p:sp>
      </p:grpSp>
      <p:sp>
        <p:nvSpPr>
          <p:cNvPr name="TextBox 90" id="90"/>
          <p:cNvSpPr txBox="true"/>
          <p:nvPr/>
        </p:nvSpPr>
        <p:spPr>
          <a:xfrm rot="0">
            <a:off x="10700385" y="6200775"/>
            <a:ext cx="533400" cy="186690"/>
          </a:xfrm>
          <a:prstGeom prst="rect">
            <a:avLst/>
          </a:prstGeom>
        </p:spPr>
        <p:txBody>
          <a:bodyPr anchor="t" rtlCol="false" tIns="0" lIns="0" bIns="0" rIns="0">
            <a:spAutoFit/>
          </a:bodyPr>
          <a:lstStyle/>
          <a:p>
            <a:pPr algn="ctr">
              <a:lnSpc>
                <a:spcPts val="1320"/>
              </a:lnSpc>
            </a:pPr>
            <a:r>
              <a:rPr lang="en-US" sz="1200">
                <a:solidFill>
                  <a:srgbClr val="3D3C42"/>
                </a:solidFill>
                <a:latin typeface="Arimo"/>
                <a:ea typeface="Arimo"/>
                <a:cs typeface="Arimo"/>
                <a:sym typeface="Arimo"/>
              </a:rPr>
              <a:t>Nov</a:t>
            </a:r>
          </a:p>
        </p:txBody>
      </p:sp>
      <p:grpSp>
        <p:nvGrpSpPr>
          <p:cNvPr name="Group 91" id="91"/>
          <p:cNvGrpSpPr/>
          <p:nvPr/>
        </p:nvGrpSpPr>
        <p:grpSpPr>
          <a:xfrm rot="0">
            <a:off x="11410950" y="3859530"/>
            <a:ext cx="133350" cy="133350"/>
            <a:chOff x="0" y="0"/>
            <a:chExt cx="177800" cy="177800"/>
          </a:xfrm>
        </p:grpSpPr>
        <p:sp>
          <p:nvSpPr>
            <p:cNvPr name="Freeform 92" id="92"/>
            <p:cNvSpPr/>
            <p:nvPr/>
          </p:nvSpPr>
          <p:spPr>
            <a:xfrm flipH="false" flipV="false" rot="0">
              <a:off x="0" y="0"/>
              <a:ext cx="177800" cy="177800"/>
            </a:xfrm>
            <a:custGeom>
              <a:avLst/>
              <a:gdLst/>
              <a:ahLst/>
              <a:cxnLst/>
              <a:rect r="r" b="b" t="t" l="l"/>
              <a:pathLst>
                <a:path h="177800" w="177800">
                  <a:moveTo>
                    <a:pt x="88900" y="0"/>
                  </a:moveTo>
                  <a:cubicBezTo>
                    <a:pt x="39802" y="0"/>
                    <a:pt x="0" y="39802"/>
                    <a:pt x="0" y="88900"/>
                  </a:cubicBezTo>
                  <a:cubicBezTo>
                    <a:pt x="0" y="137998"/>
                    <a:pt x="39802" y="177800"/>
                    <a:pt x="88900" y="177800"/>
                  </a:cubicBezTo>
                  <a:cubicBezTo>
                    <a:pt x="137998" y="177800"/>
                    <a:pt x="177800" y="137998"/>
                    <a:pt x="177800" y="88900"/>
                  </a:cubicBezTo>
                  <a:cubicBezTo>
                    <a:pt x="177800" y="39802"/>
                    <a:pt x="137998" y="0"/>
                    <a:pt x="88900" y="0"/>
                  </a:cubicBezTo>
                  <a:close/>
                </a:path>
              </a:pathLst>
            </a:custGeom>
            <a:solidFill>
              <a:srgbClr val="7F5283"/>
            </a:solidFill>
          </p:spPr>
        </p:sp>
        <p:sp>
          <p:nvSpPr>
            <p:cNvPr name="TextBox 93" id="93"/>
            <p:cNvSpPr txBox="true"/>
            <p:nvPr/>
          </p:nvSpPr>
          <p:spPr>
            <a:xfrm>
              <a:off x="0" y="-38100"/>
              <a:ext cx="177800" cy="215900"/>
            </a:xfrm>
            <a:prstGeom prst="rect">
              <a:avLst/>
            </a:prstGeom>
          </p:spPr>
          <p:txBody>
            <a:bodyPr anchor="ctr" rtlCol="false" tIns="50800" lIns="50800" bIns="50800" rIns="50800"/>
            <a:lstStyle/>
            <a:p>
              <a:pPr algn="l">
                <a:lnSpc>
                  <a:spcPts val="1679"/>
                </a:lnSpc>
              </a:pPr>
            </a:p>
          </p:txBody>
        </p:sp>
      </p:grpSp>
      <p:sp>
        <p:nvSpPr>
          <p:cNvPr name="TextBox 94" id="94"/>
          <p:cNvSpPr txBox="true"/>
          <p:nvPr/>
        </p:nvSpPr>
        <p:spPr>
          <a:xfrm rot="0">
            <a:off x="11210925" y="6200775"/>
            <a:ext cx="533400" cy="186690"/>
          </a:xfrm>
          <a:prstGeom prst="rect">
            <a:avLst/>
          </a:prstGeom>
        </p:spPr>
        <p:txBody>
          <a:bodyPr anchor="t" rtlCol="false" tIns="0" lIns="0" bIns="0" rIns="0">
            <a:spAutoFit/>
          </a:bodyPr>
          <a:lstStyle/>
          <a:p>
            <a:pPr algn="ctr">
              <a:lnSpc>
                <a:spcPts val="1320"/>
              </a:lnSpc>
            </a:pPr>
            <a:r>
              <a:rPr lang="en-US" sz="1200">
                <a:solidFill>
                  <a:srgbClr val="3D3C42"/>
                </a:solidFill>
                <a:latin typeface="Arimo"/>
                <a:ea typeface="Arimo"/>
                <a:cs typeface="Arimo"/>
                <a:sym typeface="Arimo"/>
              </a:rPr>
              <a:t>Dec</a:t>
            </a:r>
          </a:p>
        </p:txBody>
      </p:sp>
      <p:sp>
        <p:nvSpPr>
          <p:cNvPr name="TextBox 95" id="95"/>
          <p:cNvSpPr txBox="true"/>
          <p:nvPr/>
        </p:nvSpPr>
        <p:spPr>
          <a:xfrm rot="0">
            <a:off x="11096625" y="3592830"/>
            <a:ext cx="762000" cy="197167"/>
          </a:xfrm>
          <a:prstGeom prst="rect">
            <a:avLst/>
          </a:prstGeom>
        </p:spPr>
        <p:txBody>
          <a:bodyPr anchor="t" rtlCol="false" tIns="0" lIns="0" bIns="0" rIns="0">
            <a:spAutoFit/>
          </a:bodyPr>
          <a:lstStyle/>
          <a:p>
            <a:pPr algn="ctr">
              <a:lnSpc>
                <a:spcPts val="1402"/>
              </a:lnSpc>
            </a:pPr>
            <a:r>
              <a:rPr lang="en-US" sz="1275" b="true">
                <a:solidFill>
                  <a:srgbClr val="7F5283"/>
                </a:solidFill>
                <a:latin typeface="Arimo Bold"/>
                <a:ea typeface="Arimo Bold"/>
                <a:cs typeface="Arimo Bold"/>
                <a:sym typeface="Arimo Bold"/>
              </a:rPr>
              <a:t>60.7%</a:t>
            </a:r>
          </a:p>
        </p:txBody>
      </p:sp>
      <p:sp>
        <p:nvSpPr>
          <p:cNvPr name="TextBox 96" id="96"/>
          <p:cNvSpPr txBox="true"/>
          <p:nvPr/>
        </p:nvSpPr>
        <p:spPr>
          <a:xfrm rot="0">
            <a:off x="8542020" y="3662362"/>
            <a:ext cx="762000" cy="197167"/>
          </a:xfrm>
          <a:prstGeom prst="rect">
            <a:avLst/>
          </a:prstGeom>
        </p:spPr>
        <p:txBody>
          <a:bodyPr anchor="t" rtlCol="false" tIns="0" lIns="0" bIns="0" rIns="0">
            <a:spAutoFit/>
          </a:bodyPr>
          <a:lstStyle/>
          <a:p>
            <a:pPr algn="ctr">
              <a:lnSpc>
                <a:spcPts val="1402"/>
              </a:lnSpc>
            </a:pPr>
            <a:r>
              <a:rPr lang="en-US" sz="1275" b="true">
                <a:solidFill>
                  <a:srgbClr val="7F5283"/>
                </a:solidFill>
                <a:latin typeface="Arimo Bold"/>
                <a:ea typeface="Arimo Bold"/>
                <a:cs typeface="Arimo Bold"/>
                <a:sym typeface="Arimo Bold"/>
              </a:rPr>
              <a:t>60.6%</a:t>
            </a:r>
          </a:p>
        </p:txBody>
      </p:sp>
      <p:sp>
        <p:nvSpPr>
          <p:cNvPr name="TextBox 97" id="97"/>
          <p:cNvSpPr txBox="true"/>
          <p:nvPr/>
        </p:nvSpPr>
        <p:spPr>
          <a:xfrm rot="0">
            <a:off x="9564052" y="3821430"/>
            <a:ext cx="762000" cy="197167"/>
          </a:xfrm>
          <a:prstGeom prst="rect">
            <a:avLst/>
          </a:prstGeom>
        </p:spPr>
        <p:txBody>
          <a:bodyPr anchor="t" rtlCol="false" tIns="0" lIns="0" bIns="0" rIns="0">
            <a:spAutoFit/>
          </a:bodyPr>
          <a:lstStyle/>
          <a:p>
            <a:pPr algn="ctr">
              <a:lnSpc>
                <a:spcPts val="1402"/>
              </a:lnSpc>
            </a:pPr>
            <a:r>
              <a:rPr lang="en-US" sz="1275" b="true">
                <a:solidFill>
                  <a:srgbClr val="7F5283"/>
                </a:solidFill>
                <a:latin typeface="Arimo Bold"/>
                <a:ea typeface="Arimo Bold"/>
                <a:cs typeface="Arimo Bold"/>
                <a:sym typeface="Arimo Bold"/>
              </a:rPr>
              <a:t>60.5%</a:t>
            </a:r>
          </a:p>
        </p:txBody>
      </p:sp>
      <p:sp>
        <p:nvSpPr>
          <p:cNvPr name="TextBox 98" id="98"/>
          <p:cNvSpPr txBox="true"/>
          <p:nvPr/>
        </p:nvSpPr>
        <p:spPr>
          <a:xfrm rot="0">
            <a:off x="7009447" y="5467350"/>
            <a:ext cx="762000" cy="197167"/>
          </a:xfrm>
          <a:prstGeom prst="rect">
            <a:avLst/>
          </a:prstGeom>
        </p:spPr>
        <p:txBody>
          <a:bodyPr anchor="t" rtlCol="false" tIns="0" lIns="0" bIns="0" rIns="0">
            <a:spAutoFit/>
          </a:bodyPr>
          <a:lstStyle/>
          <a:p>
            <a:pPr algn="ctr">
              <a:lnSpc>
                <a:spcPts val="1402"/>
              </a:lnSpc>
            </a:pPr>
            <a:r>
              <a:rPr lang="en-US" sz="1275" b="true">
                <a:solidFill>
                  <a:srgbClr val="3D3C42"/>
                </a:solidFill>
                <a:latin typeface="Arimo Bold"/>
                <a:ea typeface="Arimo Bold"/>
                <a:cs typeface="Arimo Bold"/>
                <a:sym typeface="Arimo Bold"/>
              </a:rPr>
              <a:t>59.2%</a:t>
            </a:r>
          </a:p>
        </p:txBody>
      </p:sp>
      <p:sp>
        <p:nvSpPr>
          <p:cNvPr name="TextBox 99" id="99"/>
          <p:cNvSpPr txBox="true"/>
          <p:nvPr/>
        </p:nvSpPr>
        <p:spPr>
          <a:xfrm rot="0">
            <a:off x="1438275" y="7181850"/>
            <a:ext cx="9525000" cy="302895"/>
          </a:xfrm>
          <a:prstGeom prst="rect">
            <a:avLst/>
          </a:prstGeom>
        </p:spPr>
        <p:txBody>
          <a:bodyPr anchor="t" rtlCol="false" tIns="0" lIns="0" bIns="0" rIns="0">
            <a:spAutoFit/>
          </a:bodyPr>
          <a:lstStyle/>
          <a:p>
            <a:pPr algn="l">
              <a:lnSpc>
                <a:spcPts val="2310"/>
              </a:lnSpc>
            </a:pPr>
            <a:r>
              <a:rPr lang="en-US" sz="2100" b="true">
                <a:solidFill>
                  <a:srgbClr val="3D3C42"/>
                </a:solidFill>
                <a:latin typeface="Arimo Bold"/>
                <a:ea typeface="Arimo Bold"/>
                <a:cs typeface="Arimo Bold"/>
                <a:sym typeface="Arimo Bold"/>
              </a:rPr>
              <a:t>Delay % by Hour of Day: highest and lowest</a:t>
            </a:r>
          </a:p>
        </p:txBody>
      </p:sp>
      <p:sp>
        <p:nvSpPr>
          <p:cNvPr name="TextBox 100" id="100"/>
          <p:cNvSpPr txBox="true"/>
          <p:nvPr/>
        </p:nvSpPr>
        <p:spPr>
          <a:xfrm rot="0">
            <a:off x="1163955" y="7696200"/>
            <a:ext cx="2476500" cy="615315"/>
          </a:xfrm>
          <a:prstGeom prst="rect">
            <a:avLst/>
          </a:prstGeom>
        </p:spPr>
        <p:txBody>
          <a:bodyPr anchor="t" rtlCol="false" tIns="0" lIns="0" bIns="0" rIns="0">
            <a:spAutoFit/>
          </a:bodyPr>
          <a:lstStyle/>
          <a:p>
            <a:pPr algn="ctr">
              <a:lnSpc>
                <a:spcPts val="4620"/>
              </a:lnSpc>
            </a:pPr>
            <a:r>
              <a:rPr lang="en-US" sz="4200" b="true">
                <a:solidFill>
                  <a:srgbClr val="7F5283"/>
                </a:solidFill>
                <a:latin typeface="Arimo Bold"/>
                <a:ea typeface="Arimo Bold"/>
                <a:cs typeface="Arimo Bold"/>
                <a:sym typeface="Arimo Bold"/>
              </a:rPr>
              <a:t>62.4%</a:t>
            </a:r>
          </a:p>
        </p:txBody>
      </p:sp>
      <p:sp>
        <p:nvSpPr>
          <p:cNvPr name="TextBox 101" id="101"/>
          <p:cNvSpPr txBox="true"/>
          <p:nvPr/>
        </p:nvSpPr>
        <p:spPr>
          <a:xfrm rot="0">
            <a:off x="3912870" y="7696200"/>
            <a:ext cx="2476500" cy="615315"/>
          </a:xfrm>
          <a:prstGeom prst="rect">
            <a:avLst/>
          </a:prstGeom>
        </p:spPr>
        <p:txBody>
          <a:bodyPr anchor="t" rtlCol="false" tIns="0" lIns="0" bIns="0" rIns="0">
            <a:spAutoFit/>
          </a:bodyPr>
          <a:lstStyle/>
          <a:p>
            <a:pPr algn="ctr">
              <a:lnSpc>
                <a:spcPts val="4620"/>
              </a:lnSpc>
            </a:pPr>
            <a:r>
              <a:rPr lang="en-US" sz="4200" b="true">
                <a:solidFill>
                  <a:srgbClr val="7F5283"/>
                </a:solidFill>
                <a:latin typeface="Arimo Bold"/>
                <a:ea typeface="Arimo Bold"/>
                <a:cs typeface="Arimo Bold"/>
                <a:sym typeface="Arimo Bold"/>
              </a:rPr>
              <a:t>61.7%</a:t>
            </a:r>
          </a:p>
        </p:txBody>
      </p:sp>
      <p:sp>
        <p:nvSpPr>
          <p:cNvPr name="TextBox 102" id="102"/>
          <p:cNvSpPr txBox="true"/>
          <p:nvPr/>
        </p:nvSpPr>
        <p:spPr>
          <a:xfrm rot="0">
            <a:off x="6659880" y="7696200"/>
            <a:ext cx="2476500" cy="615315"/>
          </a:xfrm>
          <a:prstGeom prst="rect">
            <a:avLst/>
          </a:prstGeom>
        </p:spPr>
        <p:txBody>
          <a:bodyPr anchor="t" rtlCol="false" tIns="0" lIns="0" bIns="0" rIns="0">
            <a:spAutoFit/>
          </a:bodyPr>
          <a:lstStyle/>
          <a:p>
            <a:pPr algn="ctr">
              <a:lnSpc>
                <a:spcPts val="4620"/>
              </a:lnSpc>
            </a:pPr>
            <a:r>
              <a:rPr lang="en-US" sz="4200" b="true">
                <a:solidFill>
                  <a:srgbClr val="7F5283"/>
                </a:solidFill>
                <a:latin typeface="Arimo Bold"/>
                <a:ea typeface="Arimo Bold"/>
                <a:cs typeface="Arimo Bold"/>
                <a:sym typeface="Arimo Bold"/>
              </a:rPr>
              <a:t>61.4%</a:t>
            </a:r>
          </a:p>
        </p:txBody>
      </p:sp>
      <p:sp>
        <p:nvSpPr>
          <p:cNvPr name="TextBox 103" id="103"/>
          <p:cNvSpPr txBox="true"/>
          <p:nvPr/>
        </p:nvSpPr>
        <p:spPr>
          <a:xfrm rot="0">
            <a:off x="9408795" y="7696200"/>
            <a:ext cx="2476500" cy="615315"/>
          </a:xfrm>
          <a:prstGeom prst="rect">
            <a:avLst/>
          </a:prstGeom>
        </p:spPr>
        <p:txBody>
          <a:bodyPr anchor="t" rtlCol="false" tIns="0" lIns="0" bIns="0" rIns="0">
            <a:spAutoFit/>
          </a:bodyPr>
          <a:lstStyle/>
          <a:p>
            <a:pPr algn="ctr">
              <a:lnSpc>
                <a:spcPts val="4620"/>
              </a:lnSpc>
            </a:pPr>
            <a:r>
              <a:rPr lang="en-US" sz="4200" b="true">
                <a:solidFill>
                  <a:srgbClr val="9DB2CE"/>
                </a:solidFill>
                <a:latin typeface="Arimo Bold"/>
                <a:ea typeface="Arimo Bold"/>
                <a:cs typeface="Arimo Bold"/>
                <a:sym typeface="Arimo Bold"/>
              </a:rPr>
              <a:t>57.7%</a:t>
            </a:r>
          </a:p>
        </p:txBody>
      </p:sp>
      <p:sp>
        <p:nvSpPr>
          <p:cNvPr name="TextBox 104" id="104"/>
          <p:cNvSpPr txBox="true"/>
          <p:nvPr/>
        </p:nvSpPr>
        <p:spPr>
          <a:xfrm rot="0">
            <a:off x="12725400" y="2743200"/>
            <a:ext cx="4095750" cy="457200"/>
          </a:xfrm>
          <a:prstGeom prst="rect">
            <a:avLst/>
          </a:prstGeom>
        </p:spPr>
        <p:txBody>
          <a:bodyPr anchor="t" rtlCol="false" tIns="0" lIns="0" bIns="0" rIns="0">
            <a:spAutoFit/>
          </a:bodyPr>
          <a:lstStyle/>
          <a:p>
            <a:pPr algn="l">
              <a:lnSpc>
                <a:spcPts val="1725"/>
              </a:lnSpc>
            </a:pPr>
            <a:r>
              <a:rPr lang="en-US" sz="1500">
                <a:solidFill>
                  <a:srgbClr val="3D3C42"/>
                </a:solidFill>
                <a:latin typeface="Arimo"/>
                <a:ea typeface="Arimo"/>
                <a:cs typeface="Arimo"/>
                <a:sym typeface="Arimo"/>
              </a:rPr>
              <a:t>Jul, Sep and Dec run highest: add capacity ahead of these months.</a:t>
            </a:r>
          </a:p>
        </p:txBody>
      </p:sp>
      <p:sp>
        <p:nvSpPr>
          <p:cNvPr name="TextBox 105" id="105"/>
          <p:cNvSpPr txBox="true"/>
          <p:nvPr/>
        </p:nvSpPr>
        <p:spPr>
          <a:xfrm rot="0">
            <a:off x="12725400" y="4600575"/>
            <a:ext cx="4095750" cy="457200"/>
          </a:xfrm>
          <a:prstGeom prst="rect">
            <a:avLst/>
          </a:prstGeom>
        </p:spPr>
        <p:txBody>
          <a:bodyPr anchor="t" rtlCol="false" tIns="0" lIns="0" bIns="0" rIns="0">
            <a:spAutoFit/>
          </a:bodyPr>
          <a:lstStyle/>
          <a:p>
            <a:pPr algn="l">
              <a:lnSpc>
                <a:spcPts val="1725"/>
              </a:lnSpc>
            </a:pPr>
            <a:r>
              <a:rPr lang="en-US" sz="1500">
                <a:solidFill>
                  <a:srgbClr val="3D3C42"/>
                </a:solidFill>
                <a:latin typeface="Arimo"/>
                <a:ea typeface="Arimo"/>
                <a:cs typeface="Arimo"/>
                <a:sym typeface="Arimo"/>
              </a:rPr>
              <a:t>Months only range from 59.2% to 60.7%, so lateness is structural, not seasonal.</a:t>
            </a:r>
          </a:p>
        </p:txBody>
      </p:sp>
      <p:sp>
        <p:nvSpPr>
          <p:cNvPr name="TextBox 106" id="106"/>
          <p:cNvSpPr txBox="true"/>
          <p:nvPr/>
        </p:nvSpPr>
        <p:spPr>
          <a:xfrm rot="0">
            <a:off x="12725400" y="6457950"/>
            <a:ext cx="4095750" cy="457200"/>
          </a:xfrm>
          <a:prstGeom prst="rect">
            <a:avLst/>
          </a:prstGeom>
        </p:spPr>
        <p:txBody>
          <a:bodyPr anchor="t" rtlCol="false" tIns="0" lIns="0" bIns="0" rIns="0">
            <a:spAutoFit/>
          </a:bodyPr>
          <a:lstStyle/>
          <a:p>
            <a:pPr algn="l">
              <a:lnSpc>
                <a:spcPts val="1725"/>
              </a:lnSpc>
            </a:pPr>
            <a:r>
              <a:rPr lang="en-US" sz="1500">
                <a:solidFill>
                  <a:srgbClr val="3D3C42"/>
                </a:solidFill>
                <a:latin typeface="Arimo"/>
                <a:ea typeface="Arimo"/>
                <a:cs typeface="Arimo"/>
                <a:sym typeface="Arimo"/>
              </a:rPr>
              <a:t>12:00 and 20:00 orders are most often late: review staffing and cut-off times for those hours.</a:t>
            </a:r>
          </a:p>
        </p:txBody>
      </p:sp>
      <p:sp>
        <p:nvSpPr>
          <p:cNvPr name="TextBox 107" id="107"/>
          <p:cNvSpPr txBox="true"/>
          <p:nvPr/>
        </p:nvSpPr>
        <p:spPr>
          <a:xfrm rot="0">
            <a:off x="12725400" y="8305800"/>
            <a:ext cx="4095750" cy="457200"/>
          </a:xfrm>
          <a:prstGeom prst="rect">
            <a:avLst/>
          </a:prstGeom>
        </p:spPr>
        <p:txBody>
          <a:bodyPr anchor="t" rtlCol="false" tIns="0" lIns="0" bIns="0" rIns="0">
            <a:spAutoFit/>
          </a:bodyPr>
          <a:lstStyle/>
          <a:p>
            <a:pPr algn="l">
              <a:lnSpc>
                <a:spcPts val="1725"/>
              </a:lnSpc>
            </a:pPr>
            <a:r>
              <a:rPr lang="en-US" sz="1500">
                <a:solidFill>
                  <a:srgbClr val="3D3C42"/>
                </a:solidFill>
                <a:latin typeface="Arimo"/>
                <a:ea typeface="Arimo"/>
                <a:cs typeface="Arimo"/>
                <a:sym typeface="Arimo"/>
              </a:rPr>
              <a:t>Timing moves the late rate by under 5 points; shipping mode moves it by 60.</a:t>
            </a:r>
          </a:p>
        </p:txBody>
      </p:sp>
    </p:spTree>
  </p:cSld>
  <p:clrMapOvr>
    <a:masterClrMapping/>
  </p:clrMapOvr>
</p:sld>
</file>

<file path=ppt/slides/slide10.xml><?xml version="1.0" encoding="utf-8"?>
<p:sld xmlns:p="http://schemas.openxmlformats.org/presentationml/2006/main" xmlns:a="http://schemas.openxmlformats.org/drawingml/2006/main">
  <p:cSld>
    <p:bg>
      <p:bgPr>
        <a:solidFill>
          <a:srgbClr val="FEFBF6"/>
        </a:solidFill>
      </p:bgPr>
    </p:bg>
    <p:spTree>
      <p:nvGrpSpPr>
        <p:cNvPr id="1" name=""/>
        <p:cNvGrpSpPr/>
        <p:nvPr/>
      </p:nvGrpSpPr>
      <p:grpSpPr>
        <a:xfrm>
          <a:off x="0" y="0"/>
          <a:ext cx="0" cy="0"/>
          <a:chOff x="0" y="0"/>
          <a:chExt cx="0" cy="0"/>
        </a:xfrm>
      </p:grpSpPr>
      <p:grpSp>
        <p:nvGrpSpPr>
          <p:cNvPr name="Group 2" id="2"/>
          <p:cNvGrpSpPr/>
          <p:nvPr/>
        </p:nvGrpSpPr>
        <p:grpSpPr>
          <a:xfrm rot="0">
            <a:off x="1028700" y="2659714"/>
            <a:ext cx="3468449" cy="3950566"/>
            <a:chOff x="0" y="0"/>
            <a:chExt cx="1206998" cy="1374771"/>
          </a:xfrm>
        </p:grpSpPr>
        <p:sp>
          <p:nvSpPr>
            <p:cNvPr name="Freeform 3" id="3"/>
            <p:cNvSpPr/>
            <p:nvPr/>
          </p:nvSpPr>
          <p:spPr>
            <a:xfrm flipH="false" flipV="false" rot="0">
              <a:off x="0" y="0"/>
              <a:ext cx="1206998" cy="1374771"/>
            </a:xfrm>
            <a:custGeom>
              <a:avLst/>
              <a:gdLst/>
              <a:ahLst/>
              <a:cxnLst/>
              <a:rect r="r" b="b" t="t" l="l"/>
              <a:pathLst>
                <a:path h="1374771" w="1206998">
                  <a:moveTo>
                    <a:pt x="44642" y="0"/>
                  </a:moveTo>
                  <a:lnTo>
                    <a:pt x="1162356" y="0"/>
                  </a:lnTo>
                  <a:cubicBezTo>
                    <a:pt x="1174195" y="0"/>
                    <a:pt x="1185550" y="4703"/>
                    <a:pt x="1193922" y="13075"/>
                  </a:cubicBezTo>
                  <a:cubicBezTo>
                    <a:pt x="1202294" y="21447"/>
                    <a:pt x="1206998" y="32802"/>
                    <a:pt x="1206998" y="44642"/>
                  </a:cubicBezTo>
                  <a:lnTo>
                    <a:pt x="1206998" y="1330129"/>
                  </a:lnTo>
                  <a:cubicBezTo>
                    <a:pt x="1206998" y="1341969"/>
                    <a:pt x="1202294" y="1353324"/>
                    <a:pt x="1193922" y="1361696"/>
                  </a:cubicBezTo>
                  <a:cubicBezTo>
                    <a:pt x="1185550" y="1370068"/>
                    <a:pt x="1174195" y="1374771"/>
                    <a:pt x="1162356" y="1374771"/>
                  </a:cubicBezTo>
                  <a:lnTo>
                    <a:pt x="44642" y="1374771"/>
                  </a:lnTo>
                  <a:cubicBezTo>
                    <a:pt x="32802" y="1374771"/>
                    <a:pt x="21447" y="1370068"/>
                    <a:pt x="13075" y="1361696"/>
                  </a:cubicBezTo>
                  <a:cubicBezTo>
                    <a:pt x="4703" y="1353324"/>
                    <a:pt x="0" y="1341969"/>
                    <a:pt x="0" y="1330129"/>
                  </a:cubicBezTo>
                  <a:lnTo>
                    <a:pt x="0" y="44642"/>
                  </a:lnTo>
                  <a:cubicBezTo>
                    <a:pt x="0" y="32802"/>
                    <a:pt x="4703" y="21447"/>
                    <a:pt x="13075" y="13075"/>
                  </a:cubicBezTo>
                  <a:cubicBezTo>
                    <a:pt x="21447" y="4703"/>
                    <a:pt x="32802" y="0"/>
                    <a:pt x="44642" y="0"/>
                  </a:cubicBezTo>
                  <a:close/>
                </a:path>
              </a:pathLst>
            </a:custGeom>
            <a:solidFill>
              <a:srgbClr val="A6D1E6"/>
            </a:solidFill>
            <a:ln w="38100" cap="sq">
              <a:solidFill>
                <a:srgbClr val="A6D1E6"/>
              </a:solidFill>
              <a:prstDash val="solid"/>
              <a:miter/>
            </a:ln>
          </p:spPr>
        </p:sp>
        <p:sp>
          <p:nvSpPr>
            <p:cNvPr name="TextBox 4" id="4"/>
            <p:cNvSpPr txBox="true"/>
            <p:nvPr/>
          </p:nvSpPr>
          <p:spPr>
            <a:xfrm>
              <a:off x="0" y="-38100"/>
              <a:ext cx="1206998" cy="1412871"/>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2282932" y="1028700"/>
            <a:ext cx="4976368" cy="8229600"/>
            <a:chOff x="0" y="0"/>
            <a:chExt cx="1731743" cy="2863847"/>
          </a:xfrm>
        </p:grpSpPr>
        <p:sp>
          <p:nvSpPr>
            <p:cNvPr name="Freeform 6" id="6"/>
            <p:cNvSpPr/>
            <p:nvPr/>
          </p:nvSpPr>
          <p:spPr>
            <a:xfrm flipH="false" flipV="false" rot="0">
              <a:off x="0" y="0"/>
              <a:ext cx="1731743" cy="2863847"/>
            </a:xfrm>
            <a:custGeom>
              <a:avLst/>
              <a:gdLst/>
              <a:ahLst/>
              <a:cxnLst/>
              <a:rect r="r" b="b" t="t" l="l"/>
              <a:pathLst>
                <a:path h="2863847" w="1731743">
                  <a:moveTo>
                    <a:pt x="31115" y="0"/>
                  </a:moveTo>
                  <a:lnTo>
                    <a:pt x="1700629" y="0"/>
                  </a:lnTo>
                  <a:cubicBezTo>
                    <a:pt x="1717813" y="0"/>
                    <a:pt x="1731743" y="13931"/>
                    <a:pt x="1731743" y="31115"/>
                  </a:cubicBezTo>
                  <a:lnTo>
                    <a:pt x="1731743" y="2832732"/>
                  </a:lnTo>
                  <a:cubicBezTo>
                    <a:pt x="1731743" y="2849916"/>
                    <a:pt x="1717813" y="2863847"/>
                    <a:pt x="1700629" y="2863847"/>
                  </a:cubicBezTo>
                  <a:lnTo>
                    <a:pt x="31115" y="2863847"/>
                  </a:lnTo>
                  <a:cubicBezTo>
                    <a:pt x="13931" y="2863847"/>
                    <a:pt x="0" y="2849916"/>
                    <a:pt x="0" y="2832732"/>
                  </a:cubicBezTo>
                  <a:lnTo>
                    <a:pt x="0" y="31115"/>
                  </a:lnTo>
                  <a:cubicBezTo>
                    <a:pt x="0" y="13931"/>
                    <a:pt x="13931" y="0"/>
                    <a:pt x="31115" y="0"/>
                  </a:cubicBezTo>
                  <a:close/>
                </a:path>
              </a:pathLst>
            </a:custGeom>
            <a:ln w="38100" cap="sq">
              <a:solidFill>
                <a:srgbClr val="A6D1E6"/>
              </a:solidFill>
              <a:prstDash val="solid"/>
              <a:miter/>
            </a:ln>
          </p:spPr>
        </p:sp>
        <p:sp>
          <p:nvSpPr>
            <p:cNvPr name="TextBox 7" id="7"/>
            <p:cNvSpPr txBox="true"/>
            <p:nvPr/>
          </p:nvSpPr>
          <p:spPr>
            <a:xfrm>
              <a:off x="0" y="-38100"/>
              <a:ext cx="1731743" cy="2901947"/>
            </a:xfrm>
            <a:prstGeom prst="rect">
              <a:avLst/>
            </a:prstGeom>
          </p:spPr>
          <p:txBody>
            <a:bodyPr anchor="ctr" rtlCol="false" tIns="50800" lIns="50800" bIns="50800" rIns="50800"/>
            <a:lstStyle/>
            <a:p>
              <a:pPr algn="ctr">
                <a:lnSpc>
                  <a:spcPts val="2659"/>
                </a:lnSpc>
              </a:pPr>
            </a:p>
          </p:txBody>
        </p:sp>
      </p:grpSp>
      <p:sp>
        <p:nvSpPr>
          <p:cNvPr name="AutoShape 8" id="8"/>
          <p:cNvSpPr/>
          <p:nvPr/>
        </p:nvSpPr>
        <p:spPr>
          <a:xfrm>
            <a:off x="12719190" y="3457340"/>
            <a:ext cx="4128512" cy="0"/>
          </a:xfrm>
          <a:prstGeom prst="line">
            <a:avLst/>
          </a:prstGeom>
          <a:ln cap="rnd" w="19050">
            <a:solidFill>
              <a:srgbClr val="A6D1E6"/>
            </a:solidFill>
            <a:prstDash val="solid"/>
            <a:headEnd type="none" len="sm" w="sm"/>
            <a:tailEnd type="none" len="sm" w="sm"/>
          </a:ln>
        </p:spPr>
      </p:sp>
      <p:sp>
        <p:nvSpPr>
          <p:cNvPr name="AutoShape 9" id="9"/>
          <p:cNvSpPr/>
          <p:nvPr/>
        </p:nvSpPr>
        <p:spPr>
          <a:xfrm>
            <a:off x="12719190" y="5313474"/>
            <a:ext cx="4128512" cy="0"/>
          </a:xfrm>
          <a:prstGeom prst="line">
            <a:avLst/>
          </a:prstGeom>
          <a:ln cap="rnd" w="19050">
            <a:solidFill>
              <a:srgbClr val="A6D1E6"/>
            </a:solidFill>
            <a:prstDash val="solid"/>
            <a:headEnd type="none" len="sm" w="sm"/>
            <a:tailEnd type="none" len="sm" w="sm"/>
          </a:ln>
        </p:spPr>
      </p:sp>
      <p:sp>
        <p:nvSpPr>
          <p:cNvPr name="AutoShape 10" id="10"/>
          <p:cNvSpPr/>
          <p:nvPr/>
        </p:nvSpPr>
        <p:spPr>
          <a:xfrm>
            <a:off x="12719190" y="7169608"/>
            <a:ext cx="4128512" cy="0"/>
          </a:xfrm>
          <a:prstGeom prst="line">
            <a:avLst/>
          </a:prstGeom>
          <a:ln cap="rnd" w="19050">
            <a:solidFill>
              <a:srgbClr val="A6D1E6"/>
            </a:solidFill>
            <a:prstDash val="solid"/>
            <a:headEnd type="none" len="sm" w="sm"/>
            <a:tailEnd type="none" len="sm" w="sm"/>
          </a:ln>
        </p:spPr>
      </p:sp>
      <p:grpSp>
        <p:nvGrpSpPr>
          <p:cNvPr name="Group 11" id="11"/>
          <p:cNvGrpSpPr/>
          <p:nvPr/>
        </p:nvGrpSpPr>
        <p:grpSpPr>
          <a:xfrm rot="0">
            <a:off x="1028700" y="6814183"/>
            <a:ext cx="10988157" cy="2444117"/>
            <a:chOff x="0" y="0"/>
            <a:chExt cx="3823807" cy="850537"/>
          </a:xfrm>
        </p:grpSpPr>
        <p:sp>
          <p:nvSpPr>
            <p:cNvPr name="Freeform 12" id="12"/>
            <p:cNvSpPr/>
            <p:nvPr/>
          </p:nvSpPr>
          <p:spPr>
            <a:xfrm flipH="false" flipV="false" rot="0">
              <a:off x="0" y="0"/>
              <a:ext cx="3823807" cy="850537"/>
            </a:xfrm>
            <a:custGeom>
              <a:avLst/>
              <a:gdLst/>
              <a:ahLst/>
              <a:cxnLst/>
              <a:rect r="r" b="b" t="t" l="l"/>
              <a:pathLst>
                <a:path h="850537" w="3823807">
                  <a:moveTo>
                    <a:pt x="14091" y="0"/>
                  </a:moveTo>
                  <a:lnTo>
                    <a:pt x="3809715" y="0"/>
                  </a:lnTo>
                  <a:cubicBezTo>
                    <a:pt x="3813453" y="0"/>
                    <a:pt x="3817037" y="1485"/>
                    <a:pt x="3819679" y="4127"/>
                  </a:cubicBezTo>
                  <a:cubicBezTo>
                    <a:pt x="3822322" y="6770"/>
                    <a:pt x="3823807" y="10354"/>
                    <a:pt x="3823807" y="14091"/>
                  </a:cubicBezTo>
                  <a:lnTo>
                    <a:pt x="3823807" y="836445"/>
                  </a:lnTo>
                  <a:cubicBezTo>
                    <a:pt x="3823807" y="840183"/>
                    <a:pt x="3822322" y="843767"/>
                    <a:pt x="3819679" y="846409"/>
                  </a:cubicBezTo>
                  <a:cubicBezTo>
                    <a:pt x="3817037" y="849052"/>
                    <a:pt x="3813453" y="850537"/>
                    <a:pt x="3809715" y="850537"/>
                  </a:cubicBezTo>
                  <a:lnTo>
                    <a:pt x="14091" y="850537"/>
                  </a:lnTo>
                  <a:cubicBezTo>
                    <a:pt x="10354" y="850537"/>
                    <a:pt x="6770" y="849052"/>
                    <a:pt x="4127" y="846409"/>
                  </a:cubicBezTo>
                  <a:cubicBezTo>
                    <a:pt x="1485" y="843767"/>
                    <a:pt x="0" y="840183"/>
                    <a:pt x="0" y="836445"/>
                  </a:cubicBezTo>
                  <a:lnTo>
                    <a:pt x="0" y="14091"/>
                  </a:lnTo>
                  <a:cubicBezTo>
                    <a:pt x="0" y="10354"/>
                    <a:pt x="1485" y="6770"/>
                    <a:pt x="4127" y="4127"/>
                  </a:cubicBezTo>
                  <a:cubicBezTo>
                    <a:pt x="6770" y="1485"/>
                    <a:pt x="10354" y="0"/>
                    <a:pt x="14091" y="0"/>
                  </a:cubicBezTo>
                  <a:close/>
                </a:path>
              </a:pathLst>
            </a:custGeom>
            <a:ln w="38100" cap="sq">
              <a:solidFill>
                <a:srgbClr val="A6D1E6"/>
              </a:solidFill>
              <a:prstDash val="solid"/>
              <a:miter/>
            </a:ln>
          </p:spPr>
        </p:sp>
        <p:sp>
          <p:nvSpPr>
            <p:cNvPr name="TextBox 13" id="13"/>
            <p:cNvSpPr txBox="true"/>
            <p:nvPr/>
          </p:nvSpPr>
          <p:spPr>
            <a:xfrm>
              <a:off x="0" y="-38100"/>
              <a:ext cx="3823807" cy="888637"/>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0">
            <a:off x="4763225" y="2659714"/>
            <a:ext cx="7253632" cy="3950566"/>
            <a:chOff x="0" y="0"/>
            <a:chExt cx="2524217" cy="1374771"/>
          </a:xfrm>
        </p:grpSpPr>
        <p:sp>
          <p:nvSpPr>
            <p:cNvPr name="Freeform 15" id="15"/>
            <p:cNvSpPr/>
            <p:nvPr/>
          </p:nvSpPr>
          <p:spPr>
            <a:xfrm flipH="false" flipV="false" rot="0">
              <a:off x="0" y="0"/>
              <a:ext cx="2524217" cy="1374771"/>
            </a:xfrm>
            <a:custGeom>
              <a:avLst/>
              <a:gdLst/>
              <a:ahLst/>
              <a:cxnLst/>
              <a:rect r="r" b="b" t="t" l="l"/>
              <a:pathLst>
                <a:path h="1374771" w="2524217">
                  <a:moveTo>
                    <a:pt x="21346" y="0"/>
                  </a:moveTo>
                  <a:lnTo>
                    <a:pt x="2502870" y="0"/>
                  </a:lnTo>
                  <a:cubicBezTo>
                    <a:pt x="2514659" y="0"/>
                    <a:pt x="2524217" y="9557"/>
                    <a:pt x="2524217" y="21346"/>
                  </a:cubicBezTo>
                  <a:lnTo>
                    <a:pt x="2524217" y="1353425"/>
                  </a:lnTo>
                  <a:cubicBezTo>
                    <a:pt x="2524217" y="1365214"/>
                    <a:pt x="2514659" y="1374771"/>
                    <a:pt x="2502870" y="1374771"/>
                  </a:cubicBezTo>
                  <a:lnTo>
                    <a:pt x="21346" y="1374771"/>
                  </a:lnTo>
                  <a:cubicBezTo>
                    <a:pt x="9557" y="1374771"/>
                    <a:pt x="0" y="1365214"/>
                    <a:pt x="0" y="1353425"/>
                  </a:cubicBezTo>
                  <a:lnTo>
                    <a:pt x="0" y="21346"/>
                  </a:lnTo>
                  <a:cubicBezTo>
                    <a:pt x="0" y="9557"/>
                    <a:pt x="9557" y="0"/>
                    <a:pt x="21346" y="0"/>
                  </a:cubicBezTo>
                  <a:close/>
                </a:path>
              </a:pathLst>
            </a:custGeom>
            <a:ln w="38100" cap="sq">
              <a:solidFill>
                <a:srgbClr val="A6D1E6"/>
              </a:solidFill>
              <a:prstDash val="solid"/>
              <a:miter/>
            </a:ln>
          </p:spPr>
        </p:sp>
        <p:sp>
          <p:nvSpPr>
            <p:cNvPr name="TextBox 16" id="16"/>
            <p:cNvSpPr txBox="true"/>
            <p:nvPr/>
          </p:nvSpPr>
          <p:spPr>
            <a:xfrm>
              <a:off x="0" y="-38100"/>
              <a:ext cx="2524217" cy="1412871"/>
            </a:xfrm>
            <a:prstGeom prst="rect">
              <a:avLst/>
            </a:prstGeom>
          </p:spPr>
          <p:txBody>
            <a:bodyPr anchor="ctr" rtlCol="false" tIns="50800" lIns="50800" bIns="50800" rIns="50800"/>
            <a:lstStyle/>
            <a:p>
              <a:pPr algn="ctr">
                <a:lnSpc>
                  <a:spcPts val="2659"/>
                </a:lnSpc>
              </a:pPr>
            </a:p>
          </p:txBody>
        </p:sp>
      </p:grpSp>
      <p:sp>
        <p:nvSpPr>
          <p:cNvPr name="TextBox 17" id="17"/>
          <p:cNvSpPr txBox="true"/>
          <p:nvPr/>
        </p:nvSpPr>
        <p:spPr>
          <a:xfrm rot="0">
            <a:off x="1028700" y="1076325"/>
            <a:ext cx="11254232" cy="680085"/>
          </a:xfrm>
          <a:prstGeom prst="rect">
            <a:avLst/>
          </a:prstGeom>
        </p:spPr>
        <p:txBody>
          <a:bodyPr anchor="t" rtlCol="false" tIns="0" lIns="0" bIns="0" rIns="0">
            <a:spAutoFit/>
          </a:bodyPr>
          <a:lstStyle/>
          <a:p>
            <a:pPr algn="l" marL="0" indent="0" lvl="0">
              <a:lnSpc>
                <a:spcPts val="5280"/>
              </a:lnSpc>
              <a:spcBef>
                <a:spcPct val="0"/>
              </a:spcBef>
            </a:pPr>
            <a:r>
              <a:rPr lang="en-US" b="true" sz="4800" strike="noStrike" u="none">
                <a:solidFill>
                  <a:srgbClr val="3D3C42"/>
                </a:solidFill>
                <a:latin typeface="Inter Bold"/>
                <a:ea typeface="Inter Bold"/>
                <a:cs typeface="Inter Bold"/>
                <a:sym typeface="Inter Bold"/>
              </a:rPr>
              <a:t>Predictive Model Results</a:t>
            </a:r>
          </a:p>
        </p:txBody>
      </p:sp>
      <p:sp>
        <p:nvSpPr>
          <p:cNvPr name="TextBox 18" id="18"/>
          <p:cNvSpPr txBox="true"/>
          <p:nvPr/>
        </p:nvSpPr>
        <p:spPr>
          <a:xfrm rot="0">
            <a:off x="1028700" y="3022489"/>
            <a:ext cx="3467825" cy="579120"/>
          </a:xfrm>
          <a:prstGeom prst="rect">
            <a:avLst/>
          </a:prstGeom>
        </p:spPr>
        <p:txBody>
          <a:bodyPr anchor="t" rtlCol="false" tIns="0" lIns="0" bIns="0" rIns="0">
            <a:spAutoFit/>
          </a:bodyPr>
          <a:lstStyle/>
          <a:p>
            <a:pPr algn="ctr" marL="0" indent="0" lvl="0">
              <a:lnSpc>
                <a:spcPts val="2310"/>
              </a:lnSpc>
              <a:spcBef>
                <a:spcPct val="0"/>
              </a:spcBef>
            </a:pPr>
            <a:r>
              <a:rPr lang="en-US" b="true" sz="2100" strike="noStrike" u="none">
                <a:solidFill>
                  <a:srgbClr val="3D3C42"/>
                </a:solidFill>
                <a:latin typeface="Inter Bold"/>
                <a:ea typeface="Inter Bold"/>
                <a:cs typeface="Inter Bold"/>
                <a:sym typeface="Inter Bold"/>
              </a:rPr>
              <a:t>Random Forest</a:t>
            </a:r>
          </a:p>
          <a:p>
            <a:pPr algn="ctr" marL="0" indent="0" lvl="0">
              <a:lnSpc>
                <a:spcPts val="2310"/>
              </a:lnSpc>
              <a:spcBef>
                <a:spcPct val="0"/>
              </a:spcBef>
            </a:pPr>
            <a:r>
              <a:rPr lang="en-US" b="true" sz="2100" strike="noStrike" u="none">
                <a:solidFill>
                  <a:srgbClr val="3D3C42"/>
                </a:solidFill>
                <a:latin typeface="Inter Bold"/>
                <a:ea typeface="Inter Bold"/>
                <a:cs typeface="Inter Bold"/>
                <a:sym typeface="Inter Bold"/>
              </a:rPr>
              <a:t>Accuracy</a:t>
            </a:r>
          </a:p>
        </p:txBody>
      </p:sp>
      <p:sp>
        <p:nvSpPr>
          <p:cNvPr name="TextBox 19" id="19"/>
          <p:cNvSpPr txBox="true"/>
          <p:nvPr/>
        </p:nvSpPr>
        <p:spPr>
          <a:xfrm rot="0">
            <a:off x="12719190" y="1463040"/>
            <a:ext cx="4103852" cy="293370"/>
          </a:xfrm>
          <a:prstGeom prst="rect">
            <a:avLst/>
          </a:prstGeom>
        </p:spPr>
        <p:txBody>
          <a:bodyPr anchor="t" rtlCol="false" tIns="0" lIns="0" bIns="0" rIns="0">
            <a:spAutoFit/>
          </a:bodyPr>
          <a:lstStyle/>
          <a:p>
            <a:pPr algn="l" marL="0" indent="0" lvl="0">
              <a:lnSpc>
                <a:spcPts val="2310"/>
              </a:lnSpc>
              <a:spcBef>
                <a:spcPct val="0"/>
              </a:spcBef>
            </a:pPr>
            <a:r>
              <a:rPr lang="en-US" b="true" sz="2100" strike="noStrike" u="none">
                <a:solidFill>
                  <a:srgbClr val="3D3C42"/>
                </a:solidFill>
                <a:latin typeface="Inter Bold"/>
                <a:ea typeface="Inter Bold"/>
                <a:cs typeface="Inter Bold"/>
                <a:sym typeface="Inter Bold"/>
              </a:rPr>
              <a:t>Headline Metrics</a:t>
            </a:r>
          </a:p>
        </p:txBody>
      </p:sp>
      <p:sp>
        <p:nvSpPr>
          <p:cNvPr name="TextBox 20" id="20"/>
          <p:cNvSpPr txBox="true"/>
          <p:nvPr/>
        </p:nvSpPr>
        <p:spPr>
          <a:xfrm rot="0">
            <a:off x="12731521" y="2388868"/>
            <a:ext cx="4093870" cy="251460"/>
          </a:xfrm>
          <a:prstGeom prst="rect">
            <a:avLst/>
          </a:prstGeom>
        </p:spPr>
        <p:txBody>
          <a:bodyPr anchor="t" rtlCol="false" tIns="0" lIns="0" bIns="0" rIns="0">
            <a:spAutoFit/>
          </a:bodyPr>
          <a:lstStyle/>
          <a:p>
            <a:pPr algn="l" marL="0" indent="0" lvl="0">
              <a:lnSpc>
                <a:spcPts val="1980"/>
              </a:lnSpc>
              <a:spcBef>
                <a:spcPct val="0"/>
              </a:spcBef>
            </a:pPr>
            <a:r>
              <a:rPr lang="en-US" sz="1800" strike="noStrike" u="none">
                <a:solidFill>
                  <a:srgbClr val="3D3C42"/>
                </a:solidFill>
                <a:latin typeface="Inter"/>
                <a:ea typeface="Inter"/>
                <a:cs typeface="Inter"/>
                <a:sym typeface="Inter"/>
              </a:rPr>
              <a:t>Accuracy: 0.77</a:t>
            </a:r>
          </a:p>
        </p:txBody>
      </p:sp>
      <p:sp>
        <p:nvSpPr>
          <p:cNvPr name="TextBox 21" id="21"/>
          <p:cNvSpPr txBox="true"/>
          <p:nvPr/>
        </p:nvSpPr>
        <p:spPr>
          <a:xfrm rot="0">
            <a:off x="12731521" y="4245002"/>
            <a:ext cx="4093870" cy="251460"/>
          </a:xfrm>
          <a:prstGeom prst="rect">
            <a:avLst/>
          </a:prstGeom>
        </p:spPr>
        <p:txBody>
          <a:bodyPr anchor="t" rtlCol="false" tIns="0" lIns="0" bIns="0" rIns="0">
            <a:spAutoFit/>
          </a:bodyPr>
          <a:lstStyle/>
          <a:p>
            <a:pPr algn="l" marL="0" indent="0" lvl="0">
              <a:lnSpc>
                <a:spcPts val="1980"/>
              </a:lnSpc>
              <a:spcBef>
                <a:spcPct val="0"/>
              </a:spcBef>
            </a:pPr>
            <a:r>
              <a:rPr lang="en-US" sz="1800" strike="noStrike" u="none">
                <a:solidFill>
                  <a:srgbClr val="3D3C42"/>
                </a:solidFill>
                <a:latin typeface="Inter"/>
                <a:ea typeface="Inter"/>
                <a:cs typeface="Inter"/>
                <a:sym typeface="Inter"/>
              </a:rPr>
              <a:t>Precision on late orders: 0.83</a:t>
            </a:r>
          </a:p>
        </p:txBody>
      </p:sp>
      <p:sp>
        <p:nvSpPr>
          <p:cNvPr name="TextBox 22" id="22"/>
          <p:cNvSpPr txBox="true"/>
          <p:nvPr/>
        </p:nvSpPr>
        <p:spPr>
          <a:xfrm rot="0">
            <a:off x="12731521" y="6101136"/>
            <a:ext cx="4093870" cy="251460"/>
          </a:xfrm>
          <a:prstGeom prst="rect">
            <a:avLst/>
          </a:prstGeom>
        </p:spPr>
        <p:txBody>
          <a:bodyPr anchor="t" rtlCol="false" tIns="0" lIns="0" bIns="0" rIns="0">
            <a:spAutoFit/>
          </a:bodyPr>
          <a:lstStyle/>
          <a:p>
            <a:pPr algn="l" marL="0" indent="0" lvl="0">
              <a:lnSpc>
                <a:spcPts val="1980"/>
              </a:lnSpc>
              <a:spcBef>
                <a:spcPct val="0"/>
              </a:spcBef>
            </a:pPr>
            <a:r>
              <a:rPr lang="en-US" sz="1800" strike="noStrike" u="none">
                <a:solidFill>
                  <a:srgbClr val="3D3C42"/>
                </a:solidFill>
                <a:latin typeface="Inter"/>
                <a:ea typeface="Inter"/>
                <a:cs typeface="Inter"/>
                <a:sym typeface="Inter"/>
              </a:rPr>
              <a:t>Recall on late orders: 0.76</a:t>
            </a:r>
          </a:p>
        </p:txBody>
      </p:sp>
      <p:sp>
        <p:nvSpPr>
          <p:cNvPr name="TextBox 23" id="23"/>
          <p:cNvSpPr txBox="true"/>
          <p:nvPr/>
        </p:nvSpPr>
        <p:spPr>
          <a:xfrm rot="0">
            <a:off x="12731521" y="7957270"/>
            <a:ext cx="4093870" cy="251460"/>
          </a:xfrm>
          <a:prstGeom prst="rect">
            <a:avLst/>
          </a:prstGeom>
        </p:spPr>
        <p:txBody>
          <a:bodyPr anchor="t" rtlCol="false" tIns="0" lIns="0" bIns="0" rIns="0">
            <a:spAutoFit/>
          </a:bodyPr>
          <a:lstStyle/>
          <a:p>
            <a:pPr algn="l" marL="0" indent="0" lvl="0">
              <a:lnSpc>
                <a:spcPts val="1980"/>
              </a:lnSpc>
              <a:spcBef>
                <a:spcPct val="0"/>
              </a:spcBef>
            </a:pPr>
            <a:r>
              <a:rPr lang="en-US" sz="1800" strike="noStrike" u="none">
                <a:solidFill>
                  <a:srgbClr val="3D3C42"/>
                </a:solidFill>
                <a:latin typeface="Inter"/>
                <a:ea typeface="Inter"/>
                <a:cs typeface="Inter"/>
                <a:sym typeface="Inter"/>
              </a:rPr>
              <a:t>Weighted F1-score: 0.77</a:t>
            </a:r>
          </a:p>
        </p:txBody>
      </p:sp>
      <p:sp>
        <p:nvSpPr>
          <p:cNvPr name="TextBox 24" id="24"/>
          <p:cNvSpPr txBox="true"/>
          <p:nvPr/>
        </p:nvSpPr>
        <p:spPr>
          <a:xfrm rot="0">
            <a:off x="1437280" y="7188658"/>
            <a:ext cx="10096500" cy="293370"/>
          </a:xfrm>
          <a:prstGeom prst="rect">
            <a:avLst/>
          </a:prstGeom>
        </p:spPr>
        <p:txBody>
          <a:bodyPr anchor="t" rtlCol="false" tIns="0" lIns="0" bIns="0" rIns="0">
            <a:spAutoFit/>
          </a:bodyPr>
          <a:lstStyle/>
          <a:p>
            <a:pPr algn="l" marL="0" indent="0" lvl="0">
              <a:lnSpc>
                <a:spcPts val="2310"/>
              </a:lnSpc>
              <a:spcBef>
                <a:spcPct val="0"/>
              </a:spcBef>
            </a:pPr>
            <a:r>
              <a:rPr lang="en-US" b="true" sz="2100" strike="noStrike" u="none">
                <a:solidFill>
                  <a:srgbClr val="3D3C42"/>
                </a:solidFill>
                <a:latin typeface="Inter Bold"/>
                <a:ea typeface="Inter Bold"/>
                <a:cs typeface="Inter Bold"/>
                <a:sym typeface="Inter Bold"/>
              </a:rPr>
              <a:t>How the Model Was Built</a:t>
            </a:r>
          </a:p>
        </p:txBody>
      </p:sp>
      <p:sp>
        <p:nvSpPr>
          <p:cNvPr name="TextBox 25" id="25"/>
          <p:cNvSpPr txBox="true"/>
          <p:nvPr/>
        </p:nvSpPr>
        <p:spPr>
          <a:xfrm rot="0">
            <a:off x="5230862" y="3034374"/>
            <a:ext cx="6667500" cy="293370"/>
          </a:xfrm>
          <a:prstGeom prst="rect">
            <a:avLst/>
          </a:prstGeom>
        </p:spPr>
        <p:txBody>
          <a:bodyPr anchor="t" rtlCol="false" tIns="0" lIns="0" bIns="0" rIns="0">
            <a:spAutoFit/>
          </a:bodyPr>
          <a:lstStyle/>
          <a:p>
            <a:pPr algn="l" marL="0" indent="0" lvl="0">
              <a:lnSpc>
                <a:spcPts val="2310"/>
              </a:lnSpc>
              <a:spcBef>
                <a:spcPct val="0"/>
              </a:spcBef>
            </a:pPr>
            <a:r>
              <a:rPr lang="en-US" b="true" sz="2100" strike="noStrike" u="none">
                <a:solidFill>
                  <a:srgbClr val="3D3C42"/>
                </a:solidFill>
                <a:latin typeface="Inter Bold"/>
                <a:ea typeface="Inter Bold"/>
                <a:cs typeface="Inter Bold"/>
                <a:sym typeface="Inter Bold"/>
              </a:rPr>
              <a:t>Precision, Recall and F1 by Class</a:t>
            </a:r>
          </a:p>
        </p:txBody>
      </p:sp>
      <p:sp>
        <p:nvSpPr>
          <p:cNvPr name="TextBox 26" id="26"/>
          <p:cNvSpPr txBox="true"/>
          <p:nvPr/>
        </p:nvSpPr>
        <p:spPr>
          <a:xfrm rot="0">
            <a:off x="1437280" y="7920036"/>
            <a:ext cx="10096500" cy="746760"/>
          </a:xfrm>
          <a:prstGeom prst="rect">
            <a:avLst/>
          </a:prstGeom>
        </p:spPr>
        <p:txBody>
          <a:bodyPr anchor="t" rtlCol="false" tIns="0" lIns="0" bIns="0" rIns="0">
            <a:spAutoFit/>
          </a:bodyPr>
          <a:lstStyle/>
          <a:p>
            <a:pPr algn="l" marL="0" indent="0" lvl="0">
              <a:lnSpc>
                <a:spcPts val="1980"/>
              </a:lnSpc>
              <a:spcBef>
                <a:spcPct val="0"/>
              </a:spcBef>
            </a:pPr>
            <a:r>
              <a:rPr lang="en-US" sz="1800" strike="noStrike" u="none">
                <a:solidFill>
                  <a:srgbClr val="3D3C42"/>
                </a:solidFill>
                <a:latin typeface="Inter"/>
                <a:ea typeface="Inter"/>
                <a:cs typeface="Inter"/>
                <a:sym typeface="Inter"/>
              </a:rPr>
              <a:t>10 order features (shipping mode, region, segment, department, category, payment type, scheduled days, month, day, hour), frequency encoding, a stratified 80/20 split and SMOTE balancing (59,030 → 79,182 on-time training rows).</a:t>
            </a:r>
          </a:p>
        </p:txBody>
      </p:sp>
      <p:sp>
        <p:nvSpPr>
          <p:cNvPr name="TextBox 27" id="27"/>
          <p:cNvSpPr txBox="true"/>
          <p:nvPr/>
        </p:nvSpPr>
        <p:spPr>
          <a:xfrm rot="0">
            <a:off x="1028700" y="4086225"/>
            <a:ext cx="3467100" cy="1053465"/>
          </a:xfrm>
          <a:prstGeom prst="rect">
            <a:avLst/>
          </a:prstGeom>
        </p:spPr>
        <p:txBody>
          <a:bodyPr anchor="t" rtlCol="false" tIns="0" lIns="0" bIns="0" rIns="0">
            <a:spAutoFit/>
          </a:bodyPr>
          <a:lstStyle/>
          <a:p>
            <a:pPr algn="ctr">
              <a:lnSpc>
                <a:spcPts val="7920"/>
              </a:lnSpc>
            </a:pPr>
            <a:r>
              <a:rPr lang="en-US" sz="7200" b="true">
                <a:solidFill>
                  <a:srgbClr val="7F5283"/>
                </a:solidFill>
                <a:latin typeface="Arimo Bold"/>
                <a:ea typeface="Arimo Bold"/>
                <a:cs typeface="Arimo Bold"/>
                <a:sym typeface="Arimo Bold"/>
              </a:rPr>
              <a:t>77%</a:t>
            </a:r>
          </a:p>
        </p:txBody>
      </p:sp>
      <p:sp>
        <p:nvSpPr>
          <p:cNvPr name="TextBox 28" id="28"/>
          <p:cNvSpPr txBox="true"/>
          <p:nvPr/>
        </p:nvSpPr>
        <p:spPr>
          <a:xfrm rot="0">
            <a:off x="1028700" y="5248275"/>
            <a:ext cx="3467100" cy="259080"/>
          </a:xfrm>
          <a:prstGeom prst="rect">
            <a:avLst/>
          </a:prstGeom>
        </p:spPr>
        <p:txBody>
          <a:bodyPr anchor="t" rtlCol="false" tIns="0" lIns="0" bIns="0" rIns="0">
            <a:spAutoFit/>
          </a:bodyPr>
          <a:lstStyle/>
          <a:p>
            <a:pPr algn="ctr">
              <a:lnSpc>
                <a:spcPts val="1815"/>
              </a:lnSpc>
            </a:pPr>
            <a:r>
              <a:rPr lang="en-US" sz="1650">
                <a:solidFill>
                  <a:srgbClr val="3D3C42"/>
                </a:solidFill>
                <a:latin typeface="Arimo"/>
                <a:ea typeface="Arimo"/>
                <a:cs typeface="Arimo"/>
                <a:sym typeface="Arimo"/>
              </a:rPr>
              <a:t>on 34,553 test orders</a:t>
            </a:r>
          </a:p>
        </p:txBody>
      </p:sp>
      <p:sp>
        <p:nvSpPr>
          <p:cNvPr name="TextBox 29" id="29"/>
          <p:cNvSpPr txBox="true"/>
          <p:nvPr/>
        </p:nvSpPr>
        <p:spPr>
          <a:xfrm rot="0">
            <a:off x="5038725" y="3867150"/>
            <a:ext cx="1428750" cy="259080"/>
          </a:xfrm>
          <a:prstGeom prst="rect">
            <a:avLst/>
          </a:prstGeom>
        </p:spPr>
        <p:txBody>
          <a:bodyPr anchor="t" rtlCol="false" tIns="0" lIns="0" bIns="0" rIns="0">
            <a:spAutoFit/>
          </a:bodyPr>
          <a:lstStyle/>
          <a:p>
            <a:pPr algn="l">
              <a:lnSpc>
                <a:spcPts val="1815"/>
              </a:lnSpc>
            </a:pPr>
            <a:r>
              <a:rPr lang="en-US" sz="1650" b="true">
                <a:solidFill>
                  <a:srgbClr val="3D3C42"/>
                </a:solidFill>
                <a:latin typeface="Arimo Bold"/>
                <a:ea typeface="Arimo Bold"/>
                <a:cs typeface="Arimo Bold"/>
                <a:sym typeface="Arimo Bold"/>
              </a:rPr>
              <a:t>Precision</a:t>
            </a:r>
          </a:p>
        </p:txBody>
      </p:sp>
      <p:sp>
        <p:nvSpPr>
          <p:cNvPr name="TextBox 30" id="30"/>
          <p:cNvSpPr txBox="true"/>
          <p:nvPr/>
        </p:nvSpPr>
        <p:spPr>
          <a:xfrm rot="0">
            <a:off x="5038725" y="4676775"/>
            <a:ext cx="1428750" cy="259080"/>
          </a:xfrm>
          <a:prstGeom prst="rect">
            <a:avLst/>
          </a:prstGeom>
        </p:spPr>
        <p:txBody>
          <a:bodyPr anchor="t" rtlCol="false" tIns="0" lIns="0" bIns="0" rIns="0">
            <a:spAutoFit/>
          </a:bodyPr>
          <a:lstStyle/>
          <a:p>
            <a:pPr algn="l">
              <a:lnSpc>
                <a:spcPts val="1815"/>
              </a:lnSpc>
            </a:pPr>
            <a:r>
              <a:rPr lang="en-US" sz="1650" b="true">
                <a:solidFill>
                  <a:srgbClr val="3D3C42"/>
                </a:solidFill>
                <a:latin typeface="Arimo Bold"/>
                <a:ea typeface="Arimo Bold"/>
                <a:cs typeface="Arimo Bold"/>
                <a:sym typeface="Arimo Bold"/>
              </a:rPr>
              <a:t>Recall</a:t>
            </a:r>
          </a:p>
        </p:txBody>
      </p:sp>
      <p:sp>
        <p:nvSpPr>
          <p:cNvPr name="TextBox 31" id="31"/>
          <p:cNvSpPr txBox="true"/>
          <p:nvPr/>
        </p:nvSpPr>
        <p:spPr>
          <a:xfrm rot="0">
            <a:off x="5038725" y="5486400"/>
            <a:ext cx="1428750" cy="259080"/>
          </a:xfrm>
          <a:prstGeom prst="rect">
            <a:avLst/>
          </a:prstGeom>
        </p:spPr>
        <p:txBody>
          <a:bodyPr anchor="t" rtlCol="false" tIns="0" lIns="0" bIns="0" rIns="0">
            <a:spAutoFit/>
          </a:bodyPr>
          <a:lstStyle/>
          <a:p>
            <a:pPr algn="l">
              <a:lnSpc>
                <a:spcPts val="1815"/>
              </a:lnSpc>
            </a:pPr>
            <a:r>
              <a:rPr lang="en-US" sz="1650" b="true">
                <a:solidFill>
                  <a:srgbClr val="3D3C42"/>
                </a:solidFill>
                <a:latin typeface="Arimo Bold"/>
                <a:ea typeface="Arimo Bold"/>
                <a:cs typeface="Arimo Bold"/>
                <a:sym typeface="Arimo Bold"/>
              </a:rPr>
              <a:t>F1-score</a:t>
            </a:r>
          </a:p>
        </p:txBody>
      </p:sp>
      <p:grpSp>
        <p:nvGrpSpPr>
          <p:cNvPr name="Group 32" id="32"/>
          <p:cNvGrpSpPr/>
          <p:nvPr/>
        </p:nvGrpSpPr>
        <p:grpSpPr>
          <a:xfrm rot="0">
            <a:off x="6667500" y="3705225"/>
            <a:ext cx="2975610" cy="266700"/>
            <a:chOff x="0" y="0"/>
            <a:chExt cx="3967480" cy="355600"/>
          </a:xfrm>
        </p:grpSpPr>
        <p:sp>
          <p:nvSpPr>
            <p:cNvPr name="Freeform 33" id="33"/>
            <p:cNvSpPr/>
            <p:nvPr/>
          </p:nvSpPr>
          <p:spPr>
            <a:xfrm flipH="false" flipV="false" rot="0">
              <a:off x="0" y="0"/>
              <a:ext cx="3967480" cy="355600"/>
            </a:xfrm>
            <a:custGeom>
              <a:avLst/>
              <a:gdLst/>
              <a:ahLst/>
              <a:cxnLst/>
              <a:rect r="r" b="b" t="t" l="l"/>
              <a:pathLst>
                <a:path h="355600" w="3967480">
                  <a:moveTo>
                    <a:pt x="16261" y="0"/>
                  </a:moveTo>
                  <a:lnTo>
                    <a:pt x="3951219" y="0"/>
                  </a:lnTo>
                  <a:cubicBezTo>
                    <a:pt x="3955531" y="0"/>
                    <a:pt x="3959668" y="1713"/>
                    <a:pt x="3962717" y="4763"/>
                  </a:cubicBezTo>
                  <a:cubicBezTo>
                    <a:pt x="3965767" y="7812"/>
                    <a:pt x="3967480" y="11948"/>
                    <a:pt x="3967480" y="16261"/>
                  </a:cubicBezTo>
                  <a:lnTo>
                    <a:pt x="3967480" y="339339"/>
                  </a:lnTo>
                  <a:cubicBezTo>
                    <a:pt x="3967480" y="348320"/>
                    <a:pt x="3960199" y="355600"/>
                    <a:pt x="3951219" y="355600"/>
                  </a:cubicBezTo>
                  <a:lnTo>
                    <a:pt x="16261" y="355600"/>
                  </a:lnTo>
                  <a:cubicBezTo>
                    <a:pt x="11948" y="355600"/>
                    <a:pt x="7812" y="353887"/>
                    <a:pt x="4763" y="350837"/>
                  </a:cubicBezTo>
                  <a:cubicBezTo>
                    <a:pt x="1713" y="347788"/>
                    <a:pt x="0" y="343652"/>
                    <a:pt x="0" y="339339"/>
                  </a:cubicBezTo>
                  <a:lnTo>
                    <a:pt x="0" y="16261"/>
                  </a:lnTo>
                  <a:cubicBezTo>
                    <a:pt x="0" y="11948"/>
                    <a:pt x="1713" y="7812"/>
                    <a:pt x="4763" y="4763"/>
                  </a:cubicBezTo>
                  <a:cubicBezTo>
                    <a:pt x="7812" y="1713"/>
                    <a:pt x="11948" y="0"/>
                    <a:pt x="16261" y="0"/>
                  </a:cubicBezTo>
                  <a:close/>
                </a:path>
              </a:pathLst>
            </a:custGeom>
            <a:solidFill>
              <a:srgbClr val="9DB2CE"/>
            </a:solidFill>
          </p:spPr>
        </p:sp>
        <p:sp>
          <p:nvSpPr>
            <p:cNvPr name="TextBox 34" id="34"/>
            <p:cNvSpPr txBox="true"/>
            <p:nvPr/>
          </p:nvSpPr>
          <p:spPr>
            <a:xfrm>
              <a:off x="0" y="-38100"/>
              <a:ext cx="3967480" cy="393700"/>
            </a:xfrm>
            <a:prstGeom prst="rect">
              <a:avLst/>
            </a:prstGeom>
          </p:spPr>
          <p:txBody>
            <a:bodyPr anchor="ctr" rtlCol="false" tIns="50800" lIns="50800" bIns="50800" rIns="50800"/>
            <a:lstStyle/>
            <a:p>
              <a:pPr algn="l">
                <a:lnSpc>
                  <a:spcPts val="1679"/>
                </a:lnSpc>
              </a:pPr>
            </a:p>
          </p:txBody>
        </p:sp>
      </p:grpSp>
      <p:sp>
        <p:nvSpPr>
          <p:cNvPr name="TextBox 35" id="35"/>
          <p:cNvSpPr txBox="true"/>
          <p:nvPr/>
        </p:nvSpPr>
        <p:spPr>
          <a:xfrm rot="0">
            <a:off x="9738360" y="3714750"/>
            <a:ext cx="666750" cy="228600"/>
          </a:xfrm>
          <a:prstGeom prst="rect">
            <a:avLst/>
          </a:prstGeom>
        </p:spPr>
        <p:txBody>
          <a:bodyPr anchor="t" rtlCol="false" tIns="0" lIns="0" bIns="0" rIns="0">
            <a:spAutoFit/>
          </a:bodyPr>
          <a:lstStyle/>
          <a:p>
            <a:pPr algn="l">
              <a:lnSpc>
                <a:spcPts val="1650"/>
              </a:lnSpc>
            </a:pPr>
            <a:r>
              <a:rPr lang="en-US" sz="1500" b="true">
                <a:solidFill>
                  <a:srgbClr val="3D3C42"/>
                </a:solidFill>
                <a:latin typeface="Arimo Bold"/>
                <a:ea typeface="Arimo Bold"/>
                <a:cs typeface="Arimo Bold"/>
                <a:sym typeface="Arimo Bold"/>
              </a:rPr>
              <a:t>0.71</a:t>
            </a:r>
          </a:p>
        </p:txBody>
      </p:sp>
      <p:grpSp>
        <p:nvGrpSpPr>
          <p:cNvPr name="Group 36" id="36"/>
          <p:cNvGrpSpPr/>
          <p:nvPr/>
        </p:nvGrpSpPr>
        <p:grpSpPr>
          <a:xfrm rot="0">
            <a:off x="6667500" y="4029075"/>
            <a:ext cx="3478530" cy="266700"/>
            <a:chOff x="0" y="0"/>
            <a:chExt cx="4638040" cy="355600"/>
          </a:xfrm>
        </p:grpSpPr>
        <p:sp>
          <p:nvSpPr>
            <p:cNvPr name="Freeform 37" id="37"/>
            <p:cNvSpPr/>
            <p:nvPr/>
          </p:nvSpPr>
          <p:spPr>
            <a:xfrm flipH="false" flipV="false" rot="0">
              <a:off x="0" y="0"/>
              <a:ext cx="4638040" cy="355600"/>
            </a:xfrm>
            <a:custGeom>
              <a:avLst/>
              <a:gdLst/>
              <a:ahLst/>
              <a:cxnLst/>
              <a:rect r="r" b="b" t="t" l="l"/>
              <a:pathLst>
                <a:path h="355600" w="4638040">
                  <a:moveTo>
                    <a:pt x="13910" y="0"/>
                  </a:moveTo>
                  <a:lnTo>
                    <a:pt x="4624130" y="0"/>
                  </a:lnTo>
                  <a:cubicBezTo>
                    <a:pt x="4627819" y="0"/>
                    <a:pt x="4631357" y="1466"/>
                    <a:pt x="4633966" y="4074"/>
                  </a:cubicBezTo>
                  <a:cubicBezTo>
                    <a:pt x="4636575" y="6683"/>
                    <a:pt x="4638040" y="10221"/>
                    <a:pt x="4638040" y="13910"/>
                  </a:cubicBezTo>
                  <a:lnTo>
                    <a:pt x="4638040" y="341690"/>
                  </a:lnTo>
                  <a:cubicBezTo>
                    <a:pt x="4638040" y="349372"/>
                    <a:pt x="4631812" y="355600"/>
                    <a:pt x="4624130" y="355600"/>
                  </a:cubicBezTo>
                  <a:lnTo>
                    <a:pt x="13910" y="355600"/>
                  </a:lnTo>
                  <a:cubicBezTo>
                    <a:pt x="10221" y="355600"/>
                    <a:pt x="6683" y="354134"/>
                    <a:pt x="4074" y="351526"/>
                  </a:cubicBezTo>
                  <a:cubicBezTo>
                    <a:pt x="1466" y="348917"/>
                    <a:pt x="0" y="345379"/>
                    <a:pt x="0" y="341690"/>
                  </a:cubicBezTo>
                  <a:lnTo>
                    <a:pt x="0" y="13910"/>
                  </a:lnTo>
                  <a:cubicBezTo>
                    <a:pt x="0" y="10221"/>
                    <a:pt x="1466" y="6683"/>
                    <a:pt x="4074" y="4074"/>
                  </a:cubicBezTo>
                  <a:cubicBezTo>
                    <a:pt x="6683" y="1466"/>
                    <a:pt x="10221" y="0"/>
                    <a:pt x="13910" y="0"/>
                  </a:cubicBezTo>
                  <a:close/>
                </a:path>
              </a:pathLst>
            </a:custGeom>
            <a:solidFill>
              <a:srgbClr val="7F5283"/>
            </a:solidFill>
          </p:spPr>
        </p:sp>
        <p:sp>
          <p:nvSpPr>
            <p:cNvPr name="TextBox 38" id="38"/>
            <p:cNvSpPr txBox="true"/>
            <p:nvPr/>
          </p:nvSpPr>
          <p:spPr>
            <a:xfrm>
              <a:off x="0" y="-38100"/>
              <a:ext cx="4638040" cy="393700"/>
            </a:xfrm>
            <a:prstGeom prst="rect">
              <a:avLst/>
            </a:prstGeom>
          </p:spPr>
          <p:txBody>
            <a:bodyPr anchor="ctr" rtlCol="false" tIns="50800" lIns="50800" bIns="50800" rIns="50800"/>
            <a:lstStyle/>
            <a:p>
              <a:pPr algn="l">
                <a:lnSpc>
                  <a:spcPts val="1679"/>
                </a:lnSpc>
              </a:pPr>
            </a:p>
          </p:txBody>
        </p:sp>
      </p:grpSp>
      <p:sp>
        <p:nvSpPr>
          <p:cNvPr name="TextBox 39" id="39"/>
          <p:cNvSpPr txBox="true"/>
          <p:nvPr/>
        </p:nvSpPr>
        <p:spPr>
          <a:xfrm rot="0">
            <a:off x="10241280" y="4038600"/>
            <a:ext cx="666750" cy="228600"/>
          </a:xfrm>
          <a:prstGeom prst="rect">
            <a:avLst/>
          </a:prstGeom>
        </p:spPr>
        <p:txBody>
          <a:bodyPr anchor="t" rtlCol="false" tIns="0" lIns="0" bIns="0" rIns="0">
            <a:spAutoFit/>
          </a:bodyPr>
          <a:lstStyle/>
          <a:p>
            <a:pPr algn="l">
              <a:lnSpc>
                <a:spcPts val="1650"/>
              </a:lnSpc>
            </a:pPr>
            <a:r>
              <a:rPr lang="en-US" sz="1500" b="true">
                <a:solidFill>
                  <a:srgbClr val="3D3C42"/>
                </a:solidFill>
                <a:latin typeface="Arimo Bold"/>
                <a:ea typeface="Arimo Bold"/>
                <a:cs typeface="Arimo Bold"/>
                <a:sym typeface="Arimo Bold"/>
              </a:rPr>
              <a:t>0.83</a:t>
            </a:r>
          </a:p>
        </p:txBody>
      </p:sp>
      <p:grpSp>
        <p:nvGrpSpPr>
          <p:cNvPr name="Group 40" id="40"/>
          <p:cNvGrpSpPr/>
          <p:nvPr/>
        </p:nvGrpSpPr>
        <p:grpSpPr>
          <a:xfrm rot="0">
            <a:off x="6667500" y="4514850"/>
            <a:ext cx="3310890" cy="266700"/>
            <a:chOff x="0" y="0"/>
            <a:chExt cx="4414520" cy="355600"/>
          </a:xfrm>
        </p:grpSpPr>
        <p:sp>
          <p:nvSpPr>
            <p:cNvPr name="Freeform 41" id="41"/>
            <p:cNvSpPr/>
            <p:nvPr/>
          </p:nvSpPr>
          <p:spPr>
            <a:xfrm flipH="false" flipV="false" rot="0">
              <a:off x="0" y="0"/>
              <a:ext cx="4414520" cy="355600"/>
            </a:xfrm>
            <a:custGeom>
              <a:avLst/>
              <a:gdLst/>
              <a:ahLst/>
              <a:cxnLst/>
              <a:rect r="r" b="b" t="t" l="l"/>
              <a:pathLst>
                <a:path h="355600" w="4414520">
                  <a:moveTo>
                    <a:pt x="14614" y="0"/>
                  </a:moveTo>
                  <a:lnTo>
                    <a:pt x="4399905" y="0"/>
                  </a:lnTo>
                  <a:cubicBezTo>
                    <a:pt x="4407977" y="0"/>
                    <a:pt x="4414520" y="6543"/>
                    <a:pt x="4414520" y="14614"/>
                  </a:cubicBezTo>
                  <a:lnTo>
                    <a:pt x="4414520" y="340986"/>
                  </a:lnTo>
                  <a:cubicBezTo>
                    <a:pt x="4414520" y="349057"/>
                    <a:pt x="4407977" y="355600"/>
                    <a:pt x="4399905" y="355600"/>
                  </a:cubicBezTo>
                  <a:lnTo>
                    <a:pt x="14614" y="355600"/>
                  </a:lnTo>
                  <a:cubicBezTo>
                    <a:pt x="6543" y="355600"/>
                    <a:pt x="0" y="349057"/>
                    <a:pt x="0" y="340986"/>
                  </a:cubicBezTo>
                  <a:lnTo>
                    <a:pt x="0" y="14614"/>
                  </a:lnTo>
                  <a:cubicBezTo>
                    <a:pt x="0" y="6543"/>
                    <a:pt x="6543" y="0"/>
                    <a:pt x="14614" y="0"/>
                  </a:cubicBezTo>
                  <a:close/>
                </a:path>
              </a:pathLst>
            </a:custGeom>
            <a:solidFill>
              <a:srgbClr val="9DB2CE"/>
            </a:solidFill>
          </p:spPr>
        </p:sp>
        <p:sp>
          <p:nvSpPr>
            <p:cNvPr name="TextBox 42" id="42"/>
            <p:cNvSpPr txBox="true"/>
            <p:nvPr/>
          </p:nvSpPr>
          <p:spPr>
            <a:xfrm>
              <a:off x="0" y="-38100"/>
              <a:ext cx="4414520" cy="393700"/>
            </a:xfrm>
            <a:prstGeom prst="rect">
              <a:avLst/>
            </a:prstGeom>
          </p:spPr>
          <p:txBody>
            <a:bodyPr anchor="ctr" rtlCol="false" tIns="50800" lIns="50800" bIns="50800" rIns="50800"/>
            <a:lstStyle/>
            <a:p>
              <a:pPr algn="l">
                <a:lnSpc>
                  <a:spcPts val="1679"/>
                </a:lnSpc>
              </a:pPr>
            </a:p>
          </p:txBody>
        </p:sp>
      </p:grpSp>
      <p:sp>
        <p:nvSpPr>
          <p:cNvPr name="TextBox 43" id="43"/>
          <p:cNvSpPr txBox="true"/>
          <p:nvPr/>
        </p:nvSpPr>
        <p:spPr>
          <a:xfrm rot="0">
            <a:off x="10073640" y="4524375"/>
            <a:ext cx="666750" cy="228600"/>
          </a:xfrm>
          <a:prstGeom prst="rect">
            <a:avLst/>
          </a:prstGeom>
        </p:spPr>
        <p:txBody>
          <a:bodyPr anchor="t" rtlCol="false" tIns="0" lIns="0" bIns="0" rIns="0">
            <a:spAutoFit/>
          </a:bodyPr>
          <a:lstStyle/>
          <a:p>
            <a:pPr algn="l">
              <a:lnSpc>
                <a:spcPts val="1650"/>
              </a:lnSpc>
            </a:pPr>
            <a:r>
              <a:rPr lang="en-US" sz="1500" b="true">
                <a:solidFill>
                  <a:srgbClr val="3D3C42"/>
                </a:solidFill>
                <a:latin typeface="Arimo Bold"/>
                <a:ea typeface="Arimo Bold"/>
                <a:cs typeface="Arimo Bold"/>
                <a:sym typeface="Arimo Bold"/>
              </a:rPr>
              <a:t>0.79</a:t>
            </a:r>
          </a:p>
        </p:txBody>
      </p:sp>
      <p:grpSp>
        <p:nvGrpSpPr>
          <p:cNvPr name="Group 44" id="44"/>
          <p:cNvGrpSpPr/>
          <p:nvPr/>
        </p:nvGrpSpPr>
        <p:grpSpPr>
          <a:xfrm rot="0">
            <a:off x="6667500" y="4838700"/>
            <a:ext cx="3185160" cy="266700"/>
            <a:chOff x="0" y="0"/>
            <a:chExt cx="4246880" cy="355600"/>
          </a:xfrm>
        </p:grpSpPr>
        <p:sp>
          <p:nvSpPr>
            <p:cNvPr name="Freeform 45" id="45"/>
            <p:cNvSpPr/>
            <p:nvPr/>
          </p:nvSpPr>
          <p:spPr>
            <a:xfrm flipH="false" flipV="false" rot="0">
              <a:off x="0" y="0"/>
              <a:ext cx="4246880" cy="355600"/>
            </a:xfrm>
            <a:custGeom>
              <a:avLst/>
              <a:gdLst/>
              <a:ahLst/>
              <a:cxnLst/>
              <a:rect r="r" b="b" t="t" l="l"/>
              <a:pathLst>
                <a:path h="355600" w="4246880">
                  <a:moveTo>
                    <a:pt x="15191" y="0"/>
                  </a:moveTo>
                  <a:lnTo>
                    <a:pt x="4231689" y="0"/>
                  </a:lnTo>
                  <a:cubicBezTo>
                    <a:pt x="4235717" y="0"/>
                    <a:pt x="4239582" y="1601"/>
                    <a:pt x="4242431" y="4449"/>
                  </a:cubicBezTo>
                  <a:cubicBezTo>
                    <a:pt x="4245279" y="7298"/>
                    <a:pt x="4246880" y="11162"/>
                    <a:pt x="4246880" y="15191"/>
                  </a:cubicBezTo>
                  <a:lnTo>
                    <a:pt x="4246880" y="340409"/>
                  </a:lnTo>
                  <a:cubicBezTo>
                    <a:pt x="4246880" y="348799"/>
                    <a:pt x="4240078" y="355600"/>
                    <a:pt x="4231689" y="355600"/>
                  </a:cubicBezTo>
                  <a:lnTo>
                    <a:pt x="15191" y="355600"/>
                  </a:lnTo>
                  <a:cubicBezTo>
                    <a:pt x="6801" y="355600"/>
                    <a:pt x="0" y="348799"/>
                    <a:pt x="0" y="340409"/>
                  </a:cubicBezTo>
                  <a:lnTo>
                    <a:pt x="0" y="15191"/>
                  </a:lnTo>
                  <a:cubicBezTo>
                    <a:pt x="0" y="6801"/>
                    <a:pt x="6801" y="0"/>
                    <a:pt x="15191" y="0"/>
                  </a:cubicBezTo>
                  <a:close/>
                </a:path>
              </a:pathLst>
            </a:custGeom>
            <a:solidFill>
              <a:srgbClr val="7F5283"/>
            </a:solidFill>
          </p:spPr>
        </p:sp>
        <p:sp>
          <p:nvSpPr>
            <p:cNvPr name="TextBox 46" id="46"/>
            <p:cNvSpPr txBox="true"/>
            <p:nvPr/>
          </p:nvSpPr>
          <p:spPr>
            <a:xfrm>
              <a:off x="0" y="-38100"/>
              <a:ext cx="4246880" cy="393700"/>
            </a:xfrm>
            <a:prstGeom prst="rect">
              <a:avLst/>
            </a:prstGeom>
          </p:spPr>
          <p:txBody>
            <a:bodyPr anchor="ctr" rtlCol="false" tIns="50800" lIns="50800" bIns="50800" rIns="50800"/>
            <a:lstStyle/>
            <a:p>
              <a:pPr algn="l">
                <a:lnSpc>
                  <a:spcPts val="1679"/>
                </a:lnSpc>
              </a:pPr>
            </a:p>
          </p:txBody>
        </p:sp>
      </p:grpSp>
      <p:sp>
        <p:nvSpPr>
          <p:cNvPr name="TextBox 47" id="47"/>
          <p:cNvSpPr txBox="true"/>
          <p:nvPr/>
        </p:nvSpPr>
        <p:spPr>
          <a:xfrm rot="0">
            <a:off x="9947910" y="4848225"/>
            <a:ext cx="666750" cy="228600"/>
          </a:xfrm>
          <a:prstGeom prst="rect">
            <a:avLst/>
          </a:prstGeom>
        </p:spPr>
        <p:txBody>
          <a:bodyPr anchor="t" rtlCol="false" tIns="0" lIns="0" bIns="0" rIns="0">
            <a:spAutoFit/>
          </a:bodyPr>
          <a:lstStyle/>
          <a:p>
            <a:pPr algn="l">
              <a:lnSpc>
                <a:spcPts val="1650"/>
              </a:lnSpc>
            </a:pPr>
            <a:r>
              <a:rPr lang="en-US" sz="1500" b="true">
                <a:solidFill>
                  <a:srgbClr val="3D3C42"/>
                </a:solidFill>
                <a:latin typeface="Arimo Bold"/>
                <a:ea typeface="Arimo Bold"/>
                <a:cs typeface="Arimo Bold"/>
                <a:sym typeface="Arimo Bold"/>
              </a:rPr>
              <a:t>0.76</a:t>
            </a:r>
          </a:p>
        </p:txBody>
      </p:sp>
      <p:grpSp>
        <p:nvGrpSpPr>
          <p:cNvPr name="Group 48" id="48"/>
          <p:cNvGrpSpPr/>
          <p:nvPr/>
        </p:nvGrpSpPr>
        <p:grpSpPr>
          <a:xfrm rot="0">
            <a:off x="6667500" y="5324475"/>
            <a:ext cx="3143250" cy="266700"/>
            <a:chOff x="0" y="0"/>
            <a:chExt cx="4191000" cy="355600"/>
          </a:xfrm>
        </p:grpSpPr>
        <p:sp>
          <p:nvSpPr>
            <p:cNvPr name="Freeform 49" id="49"/>
            <p:cNvSpPr/>
            <p:nvPr/>
          </p:nvSpPr>
          <p:spPr>
            <a:xfrm flipH="false" flipV="false" rot="0">
              <a:off x="0" y="0"/>
              <a:ext cx="4191000" cy="355600"/>
            </a:xfrm>
            <a:custGeom>
              <a:avLst/>
              <a:gdLst/>
              <a:ahLst/>
              <a:cxnLst/>
              <a:rect r="r" b="b" t="t" l="l"/>
              <a:pathLst>
                <a:path h="355600" w="4191000">
                  <a:moveTo>
                    <a:pt x="15394" y="0"/>
                  </a:moveTo>
                  <a:lnTo>
                    <a:pt x="4175606" y="0"/>
                  </a:lnTo>
                  <a:cubicBezTo>
                    <a:pt x="4179689" y="0"/>
                    <a:pt x="4183604" y="1622"/>
                    <a:pt x="4186491" y="4509"/>
                  </a:cubicBezTo>
                  <a:cubicBezTo>
                    <a:pt x="4189378" y="7396"/>
                    <a:pt x="4191000" y="11311"/>
                    <a:pt x="4191000" y="15394"/>
                  </a:cubicBezTo>
                  <a:lnTo>
                    <a:pt x="4191000" y="340206"/>
                  </a:lnTo>
                  <a:cubicBezTo>
                    <a:pt x="4191000" y="344289"/>
                    <a:pt x="4189378" y="348204"/>
                    <a:pt x="4186491" y="351091"/>
                  </a:cubicBezTo>
                  <a:cubicBezTo>
                    <a:pt x="4183604" y="353978"/>
                    <a:pt x="4179689" y="355600"/>
                    <a:pt x="4175606" y="355600"/>
                  </a:cubicBezTo>
                  <a:lnTo>
                    <a:pt x="15394" y="355600"/>
                  </a:lnTo>
                  <a:cubicBezTo>
                    <a:pt x="11311" y="355600"/>
                    <a:pt x="7396" y="353978"/>
                    <a:pt x="4509" y="351091"/>
                  </a:cubicBezTo>
                  <a:cubicBezTo>
                    <a:pt x="1622" y="348204"/>
                    <a:pt x="0" y="344289"/>
                    <a:pt x="0" y="340206"/>
                  </a:cubicBezTo>
                  <a:lnTo>
                    <a:pt x="0" y="15394"/>
                  </a:lnTo>
                  <a:cubicBezTo>
                    <a:pt x="0" y="11311"/>
                    <a:pt x="1622" y="7396"/>
                    <a:pt x="4509" y="4509"/>
                  </a:cubicBezTo>
                  <a:cubicBezTo>
                    <a:pt x="7396" y="1622"/>
                    <a:pt x="11311" y="0"/>
                    <a:pt x="15394" y="0"/>
                  </a:cubicBezTo>
                  <a:close/>
                </a:path>
              </a:pathLst>
            </a:custGeom>
            <a:solidFill>
              <a:srgbClr val="9DB2CE"/>
            </a:solidFill>
          </p:spPr>
        </p:sp>
        <p:sp>
          <p:nvSpPr>
            <p:cNvPr name="TextBox 50" id="50"/>
            <p:cNvSpPr txBox="true"/>
            <p:nvPr/>
          </p:nvSpPr>
          <p:spPr>
            <a:xfrm>
              <a:off x="0" y="-38100"/>
              <a:ext cx="4191000" cy="393700"/>
            </a:xfrm>
            <a:prstGeom prst="rect">
              <a:avLst/>
            </a:prstGeom>
          </p:spPr>
          <p:txBody>
            <a:bodyPr anchor="ctr" rtlCol="false" tIns="50800" lIns="50800" bIns="50800" rIns="50800"/>
            <a:lstStyle/>
            <a:p>
              <a:pPr algn="l">
                <a:lnSpc>
                  <a:spcPts val="1679"/>
                </a:lnSpc>
              </a:pPr>
            </a:p>
          </p:txBody>
        </p:sp>
      </p:grpSp>
      <p:sp>
        <p:nvSpPr>
          <p:cNvPr name="TextBox 51" id="51"/>
          <p:cNvSpPr txBox="true"/>
          <p:nvPr/>
        </p:nvSpPr>
        <p:spPr>
          <a:xfrm rot="0">
            <a:off x="9906000" y="5334000"/>
            <a:ext cx="666750" cy="228600"/>
          </a:xfrm>
          <a:prstGeom prst="rect">
            <a:avLst/>
          </a:prstGeom>
        </p:spPr>
        <p:txBody>
          <a:bodyPr anchor="t" rtlCol="false" tIns="0" lIns="0" bIns="0" rIns="0">
            <a:spAutoFit/>
          </a:bodyPr>
          <a:lstStyle/>
          <a:p>
            <a:pPr algn="l">
              <a:lnSpc>
                <a:spcPts val="1650"/>
              </a:lnSpc>
            </a:pPr>
            <a:r>
              <a:rPr lang="en-US" sz="1500" b="true">
                <a:solidFill>
                  <a:srgbClr val="3D3C42"/>
                </a:solidFill>
                <a:latin typeface="Arimo Bold"/>
                <a:ea typeface="Arimo Bold"/>
                <a:cs typeface="Arimo Bold"/>
                <a:sym typeface="Arimo Bold"/>
              </a:rPr>
              <a:t>0.75</a:t>
            </a:r>
          </a:p>
        </p:txBody>
      </p:sp>
      <p:grpSp>
        <p:nvGrpSpPr>
          <p:cNvPr name="Group 52" id="52"/>
          <p:cNvGrpSpPr/>
          <p:nvPr/>
        </p:nvGrpSpPr>
        <p:grpSpPr>
          <a:xfrm rot="0">
            <a:off x="6667500" y="5648325"/>
            <a:ext cx="3310890" cy="266700"/>
            <a:chOff x="0" y="0"/>
            <a:chExt cx="4414520" cy="355600"/>
          </a:xfrm>
        </p:grpSpPr>
        <p:sp>
          <p:nvSpPr>
            <p:cNvPr name="Freeform 53" id="53"/>
            <p:cNvSpPr/>
            <p:nvPr/>
          </p:nvSpPr>
          <p:spPr>
            <a:xfrm flipH="false" flipV="false" rot="0">
              <a:off x="0" y="0"/>
              <a:ext cx="4414520" cy="355600"/>
            </a:xfrm>
            <a:custGeom>
              <a:avLst/>
              <a:gdLst/>
              <a:ahLst/>
              <a:cxnLst/>
              <a:rect r="r" b="b" t="t" l="l"/>
              <a:pathLst>
                <a:path h="355600" w="4414520">
                  <a:moveTo>
                    <a:pt x="14614" y="0"/>
                  </a:moveTo>
                  <a:lnTo>
                    <a:pt x="4399905" y="0"/>
                  </a:lnTo>
                  <a:cubicBezTo>
                    <a:pt x="4407977" y="0"/>
                    <a:pt x="4414520" y="6543"/>
                    <a:pt x="4414520" y="14614"/>
                  </a:cubicBezTo>
                  <a:lnTo>
                    <a:pt x="4414520" y="340986"/>
                  </a:lnTo>
                  <a:cubicBezTo>
                    <a:pt x="4414520" y="349057"/>
                    <a:pt x="4407977" y="355600"/>
                    <a:pt x="4399905" y="355600"/>
                  </a:cubicBezTo>
                  <a:lnTo>
                    <a:pt x="14614" y="355600"/>
                  </a:lnTo>
                  <a:cubicBezTo>
                    <a:pt x="6543" y="355600"/>
                    <a:pt x="0" y="349057"/>
                    <a:pt x="0" y="340986"/>
                  </a:cubicBezTo>
                  <a:lnTo>
                    <a:pt x="0" y="14614"/>
                  </a:lnTo>
                  <a:cubicBezTo>
                    <a:pt x="0" y="6543"/>
                    <a:pt x="6543" y="0"/>
                    <a:pt x="14614" y="0"/>
                  </a:cubicBezTo>
                  <a:close/>
                </a:path>
              </a:pathLst>
            </a:custGeom>
            <a:solidFill>
              <a:srgbClr val="7F5283"/>
            </a:solidFill>
          </p:spPr>
        </p:sp>
        <p:sp>
          <p:nvSpPr>
            <p:cNvPr name="TextBox 54" id="54"/>
            <p:cNvSpPr txBox="true"/>
            <p:nvPr/>
          </p:nvSpPr>
          <p:spPr>
            <a:xfrm>
              <a:off x="0" y="-38100"/>
              <a:ext cx="4414520" cy="393700"/>
            </a:xfrm>
            <a:prstGeom prst="rect">
              <a:avLst/>
            </a:prstGeom>
          </p:spPr>
          <p:txBody>
            <a:bodyPr anchor="ctr" rtlCol="false" tIns="50800" lIns="50800" bIns="50800" rIns="50800"/>
            <a:lstStyle/>
            <a:p>
              <a:pPr algn="l">
                <a:lnSpc>
                  <a:spcPts val="1679"/>
                </a:lnSpc>
              </a:pPr>
            </a:p>
          </p:txBody>
        </p:sp>
      </p:grpSp>
      <p:sp>
        <p:nvSpPr>
          <p:cNvPr name="TextBox 55" id="55"/>
          <p:cNvSpPr txBox="true"/>
          <p:nvPr/>
        </p:nvSpPr>
        <p:spPr>
          <a:xfrm rot="0">
            <a:off x="10073640" y="5657850"/>
            <a:ext cx="666750" cy="228600"/>
          </a:xfrm>
          <a:prstGeom prst="rect">
            <a:avLst/>
          </a:prstGeom>
        </p:spPr>
        <p:txBody>
          <a:bodyPr anchor="t" rtlCol="false" tIns="0" lIns="0" bIns="0" rIns="0">
            <a:spAutoFit/>
          </a:bodyPr>
          <a:lstStyle/>
          <a:p>
            <a:pPr algn="l">
              <a:lnSpc>
                <a:spcPts val="1650"/>
              </a:lnSpc>
            </a:pPr>
            <a:r>
              <a:rPr lang="en-US" sz="1500" b="true">
                <a:solidFill>
                  <a:srgbClr val="3D3C42"/>
                </a:solidFill>
                <a:latin typeface="Arimo Bold"/>
                <a:ea typeface="Arimo Bold"/>
                <a:cs typeface="Arimo Bold"/>
                <a:sym typeface="Arimo Bold"/>
              </a:rPr>
              <a:t>0.79 </a:t>
            </a:r>
          </a:p>
        </p:txBody>
      </p:sp>
      <p:grpSp>
        <p:nvGrpSpPr>
          <p:cNvPr name="Group 56" id="56"/>
          <p:cNvGrpSpPr/>
          <p:nvPr/>
        </p:nvGrpSpPr>
        <p:grpSpPr>
          <a:xfrm rot="0">
            <a:off x="6667500" y="6191250"/>
            <a:ext cx="209550" cy="209550"/>
            <a:chOff x="0" y="0"/>
            <a:chExt cx="279400" cy="279400"/>
          </a:xfrm>
        </p:grpSpPr>
        <p:sp>
          <p:nvSpPr>
            <p:cNvPr name="Freeform 57" id="57"/>
            <p:cNvSpPr/>
            <p:nvPr/>
          </p:nvSpPr>
          <p:spPr>
            <a:xfrm flipH="false" flipV="false" rot="0">
              <a:off x="0" y="0"/>
              <a:ext cx="279400" cy="279400"/>
            </a:xfrm>
            <a:custGeom>
              <a:avLst/>
              <a:gdLst/>
              <a:ahLst/>
              <a:cxnLst/>
              <a:rect r="r" b="b" t="t" l="l"/>
              <a:pathLst>
                <a:path h="279400" w="279400">
                  <a:moveTo>
                    <a:pt x="139700" y="0"/>
                  </a:moveTo>
                  <a:lnTo>
                    <a:pt x="139700" y="0"/>
                  </a:lnTo>
                  <a:cubicBezTo>
                    <a:pt x="216854" y="0"/>
                    <a:pt x="279400" y="62546"/>
                    <a:pt x="279400" y="139700"/>
                  </a:cubicBezTo>
                  <a:lnTo>
                    <a:pt x="279400" y="139700"/>
                  </a:lnTo>
                  <a:cubicBezTo>
                    <a:pt x="279400" y="216854"/>
                    <a:pt x="216854" y="279400"/>
                    <a:pt x="139700" y="279400"/>
                  </a:cubicBezTo>
                  <a:lnTo>
                    <a:pt x="139700" y="279400"/>
                  </a:lnTo>
                  <a:cubicBezTo>
                    <a:pt x="62546" y="279400"/>
                    <a:pt x="0" y="216854"/>
                    <a:pt x="0" y="139700"/>
                  </a:cubicBezTo>
                  <a:lnTo>
                    <a:pt x="0" y="139700"/>
                  </a:lnTo>
                  <a:cubicBezTo>
                    <a:pt x="0" y="62546"/>
                    <a:pt x="62546" y="0"/>
                    <a:pt x="139700" y="0"/>
                  </a:cubicBezTo>
                  <a:close/>
                </a:path>
              </a:pathLst>
            </a:custGeom>
            <a:solidFill>
              <a:srgbClr val="9DB2CE"/>
            </a:solidFill>
          </p:spPr>
        </p:sp>
        <p:sp>
          <p:nvSpPr>
            <p:cNvPr name="TextBox 58" id="58"/>
            <p:cNvSpPr txBox="true"/>
            <p:nvPr/>
          </p:nvSpPr>
          <p:spPr>
            <a:xfrm>
              <a:off x="0" y="-38100"/>
              <a:ext cx="279400" cy="317500"/>
            </a:xfrm>
            <a:prstGeom prst="rect">
              <a:avLst/>
            </a:prstGeom>
          </p:spPr>
          <p:txBody>
            <a:bodyPr anchor="ctr" rtlCol="false" tIns="50800" lIns="50800" bIns="50800" rIns="50800"/>
            <a:lstStyle/>
            <a:p>
              <a:pPr algn="l">
                <a:lnSpc>
                  <a:spcPts val="1679"/>
                </a:lnSpc>
              </a:pPr>
            </a:p>
          </p:txBody>
        </p:sp>
      </p:grpSp>
      <p:grpSp>
        <p:nvGrpSpPr>
          <p:cNvPr name="Group 59" id="59"/>
          <p:cNvGrpSpPr/>
          <p:nvPr/>
        </p:nvGrpSpPr>
        <p:grpSpPr>
          <a:xfrm rot="0">
            <a:off x="8953500" y="6191250"/>
            <a:ext cx="209550" cy="209550"/>
            <a:chOff x="0" y="0"/>
            <a:chExt cx="279400" cy="279400"/>
          </a:xfrm>
        </p:grpSpPr>
        <p:sp>
          <p:nvSpPr>
            <p:cNvPr name="Freeform 60" id="60"/>
            <p:cNvSpPr/>
            <p:nvPr/>
          </p:nvSpPr>
          <p:spPr>
            <a:xfrm flipH="false" flipV="false" rot="0">
              <a:off x="0" y="0"/>
              <a:ext cx="279400" cy="279400"/>
            </a:xfrm>
            <a:custGeom>
              <a:avLst/>
              <a:gdLst/>
              <a:ahLst/>
              <a:cxnLst/>
              <a:rect r="r" b="b" t="t" l="l"/>
              <a:pathLst>
                <a:path h="279400" w="279400">
                  <a:moveTo>
                    <a:pt x="139700" y="0"/>
                  </a:moveTo>
                  <a:lnTo>
                    <a:pt x="139700" y="0"/>
                  </a:lnTo>
                  <a:cubicBezTo>
                    <a:pt x="216854" y="0"/>
                    <a:pt x="279400" y="62546"/>
                    <a:pt x="279400" y="139700"/>
                  </a:cubicBezTo>
                  <a:lnTo>
                    <a:pt x="279400" y="139700"/>
                  </a:lnTo>
                  <a:cubicBezTo>
                    <a:pt x="279400" y="216854"/>
                    <a:pt x="216854" y="279400"/>
                    <a:pt x="139700" y="279400"/>
                  </a:cubicBezTo>
                  <a:lnTo>
                    <a:pt x="139700" y="279400"/>
                  </a:lnTo>
                  <a:cubicBezTo>
                    <a:pt x="62546" y="279400"/>
                    <a:pt x="0" y="216854"/>
                    <a:pt x="0" y="139700"/>
                  </a:cubicBezTo>
                  <a:lnTo>
                    <a:pt x="0" y="139700"/>
                  </a:lnTo>
                  <a:cubicBezTo>
                    <a:pt x="0" y="62546"/>
                    <a:pt x="62546" y="0"/>
                    <a:pt x="139700" y="0"/>
                  </a:cubicBezTo>
                  <a:close/>
                </a:path>
              </a:pathLst>
            </a:custGeom>
            <a:solidFill>
              <a:srgbClr val="7F5283"/>
            </a:solidFill>
          </p:spPr>
        </p:sp>
        <p:sp>
          <p:nvSpPr>
            <p:cNvPr name="TextBox 61" id="61"/>
            <p:cNvSpPr txBox="true"/>
            <p:nvPr/>
          </p:nvSpPr>
          <p:spPr>
            <a:xfrm>
              <a:off x="0" y="-38100"/>
              <a:ext cx="279400" cy="317500"/>
            </a:xfrm>
            <a:prstGeom prst="rect">
              <a:avLst/>
            </a:prstGeom>
          </p:spPr>
          <p:txBody>
            <a:bodyPr anchor="ctr" rtlCol="false" tIns="50800" lIns="50800" bIns="50800" rIns="50800"/>
            <a:lstStyle/>
            <a:p>
              <a:pPr algn="l">
                <a:lnSpc>
                  <a:spcPts val="1679"/>
                </a:lnSpc>
              </a:pPr>
            </a:p>
          </p:txBody>
        </p:sp>
      </p:grpSp>
      <p:sp>
        <p:nvSpPr>
          <p:cNvPr name="TextBox 62" id="62"/>
          <p:cNvSpPr txBox="true"/>
          <p:nvPr/>
        </p:nvSpPr>
        <p:spPr>
          <a:xfrm rot="0">
            <a:off x="6953250" y="6162675"/>
            <a:ext cx="1905000" cy="198120"/>
          </a:xfrm>
          <a:prstGeom prst="rect">
            <a:avLst/>
          </a:prstGeom>
        </p:spPr>
        <p:txBody>
          <a:bodyPr anchor="t" rtlCol="false" tIns="0" lIns="0" bIns="0" rIns="0">
            <a:spAutoFit/>
          </a:bodyPr>
          <a:lstStyle/>
          <a:p>
            <a:pPr algn="l">
              <a:lnSpc>
                <a:spcPts val="1485"/>
              </a:lnSpc>
            </a:pPr>
            <a:r>
              <a:rPr lang="en-US" sz="1350">
                <a:solidFill>
                  <a:srgbClr val="3D3C42"/>
                </a:solidFill>
                <a:latin typeface="Arimo"/>
                <a:ea typeface="Arimo"/>
                <a:cs typeface="Arimo"/>
                <a:sym typeface="Arimo"/>
              </a:rPr>
              <a:t>On-time orders (class 0)</a:t>
            </a:r>
          </a:p>
        </p:txBody>
      </p:sp>
      <p:sp>
        <p:nvSpPr>
          <p:cNvPr name="TextBox 63" id="63"/>
          <p:cNvSpPr txBox="true"/>
          <p:nvPr/>
        </p:nvSpPr>
        <p:spPr>
          <a:xfrm rot="0">
            <a:off x="9239250" y="6162675"/>
            <a:ext cx="1905000" cy="198120"/>
          </a:xfrm>
          <a:prstGeom prst="rect">
            <a:avLst/>
          </a:prstGeom>
        </p:spPr>
        <p:txBody>
          <a:bodyPr anchor="t" rtlCol="false" tIns="0" lIns="0" bIns="0" rIns="0">
            <a:spAutoFit/>
          </a:bodyPr>
          <a:lstStyle/>
          <a:p>
            <a:pPr algn="l">
              <a:lnSpc>
                <a:spcPts val="1485"/>
              </a:lnSpc>
            </a:pPr>
            <a:r>
              <a:rPr lang="en-US" sz="1350">
                <a:solidFill>
                  <a:srgbClr val="3D3C42"/>
                </a:solidFill>
                <a:latin typeface="Arimo"/>
                <a:ea typeface="Arimo"/>
                <a:cs typeface="Arimo"/>
                <a:sym typeface="Arimo"/>
              </a:rPr>
              <a:t>Late orders (class 1)</a:t>
            </a:r>
          </a:p>
        </p:txBody>
      </p:sp>
      <p:grpSp>
        <p:nvGrpSpPr>
          <p:cNvPr name="Group 64" id="64"/>
          <p:cNvGrpSpPr/>
          <p:nvPr/>
        </p:nvGrpSpPr>
        <p:grpSpPr>
          <a:xfrm rot="0">
            <a:off x="12715875" y="2800350"/>
            <a:ext cx="4124325" cy="190500"/>
            <a:chOff x="0" y="0"/>
            <a:chExt cx="5499100" cy="254000"/>
          </a:xfrm>
        </p:grpSpPr>
        <p:sp>
          <p:nvSpPr>
            <p:cNvPr name="Freeform 65" id="65"/>
            <p:cNvSpPr/>
            <p:nvPr/>
          </p:nvSpPr>
          <p:spPr>
            <a:xfrm flipH="false" flipV="false" rot="0">
              <a:off x="0" y="0"/>
              <a:ext cx="5499100" cy="254000"/>
            </a:xfrm>
            <a:custGeom>
              <a:avLst/>
              <a:gdLst/>
              <a:ahLst/>
              <a:cxnLst/>
              <a:rect r="r" b="b" t="t" l="l"/>
              <a:pathLst>
                <a:path h="254000" w="5499100">
                  <a:moveTo>
                    <a:pt x="29330" y="0"/>
                  </a:moveTo>
                  <a:lnTo>
                    <a:pt x="5469770" y="0"/>
                  </a:lnTo>
                  <a:cubicBezTo>
                    <a:pt x="5477549" y="0"/>
                    <a:pt x="5485009" y="3090"/>
                    <a:pt x="5490509" y="8591"/>
                  </a:cubicBezTo>
                  <a:cubicBezTo>
                    <a:pt x="5496010" y="14091"/>
                    <a:pt x="5499100" y="21551"/>
                    <a:pt x="5499100" y="29330"/>
                  </a:cubicBezTo>
                  <a:lnTo>
                    <a:pt x="5499100" y="224670"/>
                  </a:lnTo>
                  <a:cubicBezTo>
                    <a:pt x="5499100" y="232449"/>
                    <a:pt x="5496010" y="239909"/>
                    <a:pt x="5490509" y="245409"/>
                  </a:cubicBezTo>
                  <a:cubicBezTo>
                    <a:pt x="5485009" y="250910"/>
                    <a:pt x="5477549" y="254000"/>
                    <a:pt x="5469770" y="254000"/>
                  </a:cubicBezTo>
                  <a:lnTo>
                    <a:pt x="29330" y="254000"/>
                  </a:lnTo>
                  <a:cubicBezTo>
                    <a:pt x="21551" y="254000"/>
                    <a:pt x="14091" y="250910"/>
                    <a:pt x="8591" y="245409"/>
                  </a:cubicBezTo>
                  <a:cubicBezTo>
                    <a:pt x="3090" y="239909"/>
                    <a:pt x="0" y="232449"/>
                    <a:pt x="0" y="224670"/>
                  </a:cubicBezTo>
                  <a:lnTo>
                    <a:pt x="0" y="29330"/>
                  </a:lnTo>
                  <a:cubicBezTo>
                    <a:pt x="0" y="21551"/>
                    <a:pt x="3090" y="14091"/>
                    <a:pt x="8591" y="8591"/>
                  </a:cubicBezTo>
                  <a:cubicBezTo>
                    <a:pt x="14091" y="3090"/>
                    <a:pt x="21551" y="0"/>
                    <a:pt x="29330" y="0"/>
                  </a:cubicBezTo>
                  <a:close/>
                </a:path>
              </a:pathLst>
            </a:custGeom>
            <a:solidFill>
              <a:srgbClr val="D2E6EE"/>
            </a:solidFill>
          </p:spPr>
        </p:sp>
        <p:sp>
          <p:nvSpPr>
            <p:cNvPr name="TextBox 66" id="66"/>
            <p:cNvSpPr txBox="true"/>
            <p:nvPr/>
          </p:nvSpPr>
          <p:spPr>
            <a:xfrm>
              <a:off x="0" y="-38100"/>
              <a:ext cx="5499100" cy="292100"/>
            </a:xfrm>
            <a:prstGeom prst="rect">
              <a:avLst/>
            </a:prstGeom>
          </p:spPr>
          <p:txBody>
            <a:bodyPr anchor="ctr" rtlCol="false" tIns="50800" lIns="50800" bIns="50800" rIns="50800"/>
            <a:lstStyle/>
            <a:p>
              <a:pPr algn="l">
                <a:lnSpc>
                  <a:spcPts val="1679"/>
                </a:lnSpc>
              </a:pPr>
            </a:p>
          </p:txBody>
        </p:sp>
      </p:grpSp>
      <p:grpSp>
        <p:nvGrpSpPr>
          <p:cNvPr name="Group 67" id="67"/>
          <p:cNvGrpSpPr/>
          <p:nvPr/>
        </p:nvGrpSpPr>
        <p:grpSpPr>
          <a:xfrm rot="0">
            <a:off x="12715875" y="2800350"/>
            <a:ext cx="3175635" cy="190500"/>
            <a:chOff x="0" y="0"/>
            <a:chExt cx="4234180" cy="254000"/>
          </a:xfrm>
        </p:grpSpPr>
        <p:sp>
          <p:nvSpPr>
            <p:cNvPr name="Freeform 68" id="68"/>
            <p:cNvSpPr/>
            <p:nvPr/>
          </p:nvSpPr>
          <p:spPr>
            <a:xfrm flipH="false" flipV="false" rot="0">
              <a:off x="0" y="0"/>
              <a:ext cx="4234180" cy="254000"/>
            </a:xfrm>
            <a:custGeom>
              <a:avLst/>
              <a:gdLst/>
              <a:ahLst/>
              <a:cxnLst/>
              <a:rect r="r" b="b" t="t" l="l"/>
              <a:pathLst>
                <a:path h="254000" w="4234180">
                  <a:moveTo>
                    <a:pt x="38092" y="0"/>
                  </a:moveTo>
                  <a:lnTo>
                    <a:pt x="4196088" y="0"/>
                  </a:lnTo>
                  <a:cubicBezTo>
                    <a:pt x="4206190" y="0"/>
                    <a:pt x="4215879" y="4013"/>
                    <a:pt x="4223023" y="11157"/>
                  </a:cubicBezTo>
                  <a:cubicBezTo>
                    <a:pt x="4230167" y="18301"/>
                    <a:pt x="4234180" y="27990"/>
                    <a:pt x="4234180" y="38092"/>
                  </a:cubicBezTo>
                  <a:lnTo>
                    <a:pt x="4234180" y="215908"/>
                  </a:lnTo>
                  <a:cubicBezTo>
                    <a:pt x="4234180" y="236945"/>
                    <a:pt x="4217126" y="254000"/>
                    <a:pt x="4196088" y="254000"/>
                  </a:cubicBezTo>
                  <a:lnTo>
                    <a:pt x="38092" y="254000"/>
                  </a:lnTo>
                  <a:cubicBezTo>
                    <a:pt x="17055" y="254000"/>
                    <a:pt x="0" y="236945"/>
                    <a:pt x="0" y="215908"/>
                  </a:cubicBezTo>
                  <a:lnTo>
                    <a:pt x="0" y="38092"/>
                  </a:lnTo>
                  <a:cubicBezTo>
                    <a:pt x="0" y="17055"/>
                    <a:pt x="17055" y="0"/>
                    <a:pt x="38092" y="0"/>
                  </a:cubicBezTo>
                  <a:close/>
                </a:path>
              </a:pathLst>
            </a:custGeom>
            <a:solidFill>
              <a:srgbClr val="7F5283"/>
            </a:solidFill>
          </p:spPr>
        </p:sp>
        <p:sp>
          <p:nvSpPr>
            <p:cNvPr name="TextBox 69" id="69"/>
            <p:cNvSpPr txBox="true"/>
            <p:nvPr/>
          </p:nvSpPr>
          <p:spPr>
            <a:xfrm>
              <a:off x="0" y="-38100"/>
              <a:ext cx="4234180" cy="292100"/>
            </a:xfrm>
            <a:prstGeom prst="rect">
              <a:avLst/>
            </a:prstGeom>
          </p:spPr>
          <p:txBody>
            <a:bodyPr anchor="ctr" rtlCol="false" tIns="50800" lIns="50800" bIns="50800" rIns="50800"/>
            <a:lstStyle/>
            <a:p>
              <a:pPr algn="l">
                <a:lnSpc>
                  <a:spcPts val="1679"/>
                </a:lnSpc>
              </a:pPr>
            </a:p>
          </p:txBody>
        </p:sp>
      </p:grpSp>
      <p:grpSp>
        <p:nvGrpSpPr>
          <p:cNvPr name="Group 70" id="70"/>
          <p:cNvGrpSpPr/>
          <p:nvPr/>
        </p:nvGrpSpPr>
        <p:grpSpPr>
          <a:xfrm rot="0">
            <a:off x="12715875" y="4657725"/>
            <a:ext cx="4124325" cy="190500"/>
            <a:chOff x="0" y="0"/>
            <a:chExt cx="5499100" cy="254000"/>
          </a:xfrm>
        </p:grpSpPr>
        <p:sp>
          <p:nvSpPr>
            <p:cNvPr name="Freeform 71" id="71"/>
            <p:cNvSpPr/>
            <p:nvPr/>
          </p:nvSpPr>
          <p:spPr>
            <a:xfrm flipH="false" flipV="false" rot="0">
              <a:off x="0" y="0"/>
              <a:ext cx="5499100" cy="254000"/>
            </a:xfrm>
            <a:custGeom>
              <a:avLst/>
              <a:gdLst/>
              <a:ahLst/>
              <a:cxnLst/>
              <a:rect r="r" b="b" t="t" l="l"/>
              <a:pathLst>
                <a:path h="254000" w="5499100">
                  <a:moveTo>
                    <a:pt x="29330" y="0"/>
                  </a:moveTo>
                  <a:lnTo>
                    <a:pt x="5469770" y="0"/>
                  </a:lnTo>
                  <a:cubicBezTo>
                    <a:pt x="5477549" y="0"/>
                    <a:pt x="5485009" y="3090"/>
                    <a:pt x="5490509" y="8591"/>
                  </a:cubicBezTo>
                  <a:cubicBezTo>
                    <a:pt x="5496010" y="14091"/>
                    <a:pt x="5499100" y="21551"/>
                    <a:pt x="5499100" y="29330"/>
                  </a:cubicBezTo>
                  <a:lnTo>
                    <a:pt x="5499100" y="224670"/>
                  </a:lnTo>
                  <a:cubicBezTo>
                    <a:pt x="5499100" y="232449"/>
                    <a:pt x="5496010" y="239909"/>
                    <a:pt x="5490509" y="245409"/>
                  </a:cubicBezTo>
                  <a:cubicBezTo>
                    <a:pt x="5485009" y="250910"/>
                    <a:pt x="5477549" y="254000"/>
                    <a:pt x="5469770" y="254000"/>
                  </a:cubicBezTo>
                  <a:lnTo>
                    <a:pt x="29330" y="254000"/>
                  </a:lnTo>
                  <a:cubicBezTo>
                    <a:pt x="21551" y="254000"/>
                    <a:pt x="14091" y="250910"/>
                    <a:pt x="8591" y="245409"/>
                  </a:cubicBezTo>
                  <a:cubicBezTo>
                    <a:pt x="3090" y="239909"/>
                    <a:pt x="0" y="232449"/>
                    <a:pt x="0" y="224670"/>
                  </a:cubicBezTo>
                  <a:lnTo>
                    <a:pt x="0" y="29330"/>
                  </a:lnTo>
                  <a:cubicBezTo>
                    <a:pt x="0" y="21551"/>
                    <a:pt x="3090" y="14091"/>
                    <a:pt x="8591" y="8591"/>
                  </a:cubicBezTo>
                  <a:cubicBezTo>
                    <a:pt x="14091" y="3090"/>
                    <a:pt x="21551" y="0"/>
                    <a:pt x="29330" y="0"/>
                  </a:cubicBezTo>
                  <a:close/>
                </a:path>
              </a:pathLst>
            </a:custGeom>
            <a:solidFill>
              <a:srgbClr val="D2E6EE"/>
            </a:solidFill>
          </p:spPr>
        </p:sp>
        <p:sp>
          <p:nvSpPr>
            <p:cNvPr name="TextBox 72" id="72"/>
            <p:cNvSpPr txBox="true"/>
            <p:nvPr/>
          </p:nvSpPr>
          <p:spPr>
            <a:xfrm>
              <a:off x="0" y="-38100"/>
              <a:ext cx="5499100" cy="292100"/>
            </a:xfrm>
            <a:prstGeom prst="rect">
              <a:avLst/>
            </a:prstGeom>
          </p:spPr>
          <p:txBody>
            <a:bodyPr anchor="ctr" rtlCol="false" tIns="50800" lIns="50800" bIns="50800" rIns="50800"/>
            <a:lstStyle/>
            <a:p>
              <a:pPr algn="l">
                <a:lnSpc>
                  <a:spcPts val="1679"/>
                </a:lnSpc>
              </a:pPr>
            </a:p>
          </p:txBody>
        </p:sp>
      </p:grpSp>
      <p:grpSp>
        <p:nvGrpSpPr>
          <p:cNvPr name="Group 73" id="73"/>
          <p:cNvGrpSpPr/>
          <p:nvPr/>
        </p:nvGrpSpPr>
        <p:grpSpPr>
          <a:xfrm rot="0">
            <a:off x="12715875" y="4657725"/>
            <a:ext cx="3423285" cy="190500"/>
            <a:chOff x="0" y="0"/>
            <a:chExt cx="4564380" cy="254000"/>
          </a:xfrm>
        </p:grpSpPr>
        <p:sp>
          <p:nvSpPr>
            <p:cNvPr name="Freeform 74" id="74"/>
            <p:cNvSpPr/>
            <p:nvPr/>
          </p:nvSpPr>
          <p:spPr>
            <a:xfrm flipH="false" flipV="false" rot="0">
              <a:off x="0" y="0"/>
              <a:ext cx="4564380" cy="254000"/>
            </a:xfrm>
            <a:custGeom>
              <a:avLst/>
              <a:gdLst/>
              <a:ahLst/>
              <a:cxnLst/>
              <a:rect r="r" b="b" t="t" l="l"/>
              <a:pathLst>
                <a:path h="254000" w="4564380">
                  <a:moveTo>
                    <a:pt x="35337" y="0"/>
                  </a:moveTo>
                  <a:lnTo>
                    <a:pt x="4529043" y="0"/>
                  </a:lnTo>
                  <a:cubicBezTo>
                    <a:pt x="4548559" y="0"/>
                    <a:pt x="4564380" y="15821"/>
                    <a:pt x="4564380" y="35337"/>
                  </a:cubicBezTo>
                  <a:lnTo>
                    <a:pt x="4564380" y="218663"/>
                  </a:lnTo>
                  <a:cubicBezTo>
                    <a:pt x="4564380" y="238179"/>
                    <a:pt x="4548559" y="254000"/>
                    <a:pt x="4529043" y="254000"/>
                  </a:cubicBezTo>
                  <a:lnTo>
                    <a:pt x="35337" y="254000"/>
                  </a:lnTo>
                  <a:cubicBezTo>
                    <a:pt x="15821" y="254000"/>
                    <a:pt x="0" y="238179"/>
                    <a:pt x="0" y="218663"/>
                  </a:cubicBezTo>
                  <a:lnTo>
                    <a:pt x="0" y="35337"/>
                  </a:lnTo>
                  <a:cubicBezTo>
                    <a:pt x="0" y="15821"/>
                    <a:pt x="15821" y="0"/>
                    <a:pt x="35337" y="0"/>
                  </a:cubicBezTo>
                  <a:close/>
                </a:path>
              </a:pathLst>
            </a:custGeom>
            <a:solidFill>
              <a:srgbClr val="7F5283"/>
            </a:solidFill>
          </p:spPr>
        </p:sp>
        <p:sp>
          <p:nvSpPr>
            <p:cNvPr name="TextBox 75" id="75"/>
            <p:cNvSpPr txBox="true"/>
            <p:nvPr/>
          </p:nvSpPr>
          <p:spPr>
            <a:xfrm>
              <a:off x="0" y="-38100"/>
              <a:ext cx="4564380" cy="292100"/>
            </a:xfrm>
            <a:prstGeom prst="rect">
              <a:avLst/>
            </a:prstGeom>
          </p:spPr>
          <p:txBody>
            <a:bodyPr anchor="ctr" rtlCol="false" tIns="50800" lIns="50800" bIns="50800" rIns="50800"/>
            <a:lstStyle/>
            <a:p>
              <a:pPr algn="l">
                <a:lnSpc>
                  <a:spcPts val="1679"/>
                </a:lnSpc>
              </a:pPr>
            </a:p>
          </p:txBody>
        </p:sp>
      </p:grpSp>
      <p:grpSp>
        <p:nvGrpSpPr>
          <p:cNvPr name="Group 76" id="76"/>
          <p:cNvGrpSpPr/>
          <p:nvPr/>
        </p:nvGrpSpPr>
        <p:grpSpPr>
          <a:xfrm rot="0">
            <a:off x="12715875" y="6515100"/>
            <a:ext cx="4124325" cy="190500"/>
            <a:chOff x="0" y="0"/>
            <a:chExt cx="5499100" cy="254000"/>
          </a:xfrm>
        </p:grpSpPr>
        <p:sp>
          <p:nvSpPr>
            <p:cNvPr name="Freeform 77" id="77"/>
            <p:cNvSpPr/>
            <p:nvPr/>
          </p:nvSpPr>
          <p:spPr>
            <a:xfrm flipH="false" flipV="false" rot="0">
              <a:off x="0" y="0"/>
              <a:ext cx="5499100" cy="254000"/>
            </a:xfrm>
            <a:custGeom>
              <a:avLst/>
              <a:gdLst/>
              <a:ahLst/>
              <a:cxnLst/>
              <a:rect r="r" b="b" t="t" l="l"/>
              <a:pathLst>
                <a:path h="254000" w="5499100">
                  <a:moveTo>
                    <a:pt x="29330" y="0"/>
                  </a:moveTo>
                  <a:lnTo>
                    <a:pt x="5469770" y="0"/>
                  </a:lnTo>
                  <a:cubicBezTo>
                    <a:pt x="5477549" y="0"/>
                    <a:pt x="5485009" y="3090"/>
                    <a:pt x="5490509" y="8591"/>
                  </a:cubicBezTo>
                  <a:cubicBezTo>
                    <a:pt x="5496010" y="14091"/>
                    <a:pt x="5499100" y="21551"/>
                    <a:pt x="5499100" y="29330"/>
                  </a:cubicBezTo>
                  <a:lnTo>
                    <a:pt x="5499100" y="224670"/>
                  </a:lnTo>
                  <a:cubicBezTo>
                    <a:pt x="5499100" y="232449"/>
                    <a:pt x="5496010" y="239909"/>
                    <a:pt x="5490509" y="245409"/>
                  </a:cubicBezTo>
                  <a:cubicBezTo>
                    <a:pt x="5485009" y="250910"/>
                    <a:pt x="5477549" y="254000"/>
                    <a:pt x="5469770" y="254000"/>
                  </a:cubicBezTo>
                  <a:lnTo>
                    <a:pt x="29330" y="254000"/>
                  </a:lnTo>
                  <a:cubicBezTo>
                    <a:pt x="21551" y="254000"/>
                    <a:pt x="14091" y="250910"/>
                    <a:pt x="8591" y="245409"/>
                  </a:cubicBezTo>
                  <a:cubicBezTo>
                    <a:pt x="3090" y="239909"/>
                    <a:pt x="0" y="232449"/>
                    <a:pt x="0" y="224670"/>
                  </a:cubicBezTo>
                  <a:lnTo>
                    <a:pt x="0" y="29330"/>
                  </a:lnTo>
                  <a:cubicBezTo>
                    <a:pt x="0" y="21551"/>
                    <a:pt x="3090" y="14091"/>
                    <a:pt x="8591" y="8591"/>
                  </a:cubicBezTo>
                  <a:cubicBezTo>
                    <a:pt x="14091" y="3090"/>
                    <a:pt x="21551" y="0"/>
                    <a:pt x="29330" y="0"/>
                  </a:cubicBezTo>
                  <a:close/>
                </a:path>
              </a:pathLst>
            </a:custGeom>
            <a:solidFill>
              <a:srgbClr val="D2E6EE"/>
            </a:solidFill>
          </p:spPr>
        </p:sp>
        <p:sp>
          <p:nvSpPr>
            <p:cNvPr name="TextBox 78" id="78"/>
            <p:cNvSpPr txBox="true"/>
            <p:nvPr/>
          </p:nvSpPr>
          <p:spPr>
            <a:xfrm>
              <a:off x="0" y="-38100"/>
              <a:ext cx="5499100" cy="292100"/>
            </a:xfrm>
            <a:prstGeom prst="rect">
              <a:avLst/>
            </a:prstGeom>
          </p:spPr>
          <p:txBody>
            <a:bodyPr anchor="ctr" rtlCol="false" tIns="50800" lIns="50800" bIns="50800" rIns="50800"/>
            <a:lstStyle/>
            <a:p>
              <a:pPr algn="l">
                <a:lnSpc>
                  <a:spcPts val="1679"/>
                </a:lnSpc>
              </a:pPr>
            </a:p>
          </p:txBody>
        </p:sp>
      </p:grpSp>
      <p:grpSp>
        <p:nvGrpSpPr>
          <p:cNvPr name="Group 79" id="79"/>
          <p:cNvGrpSpPr/>
          <p:nvPr/>
        </p:nvGrpSpPr>
        <p:grpSpPr>
          <a:xfrm rot="0">
            <a:off x="12715875" y="6515100"/>
            <a:ext cx="3134678" cy="190500"/>
            <a:chOff x="0" y="0"/>
            <a:chExt cx="4179570" cy="254000"/>
          </a:xfrm>
        </p:grpSpPr>
        <p:sp>
          <p:nvSpPr>
            <p:cNvPr name="Freeform 80" id="80"/>
            <p:cNvSpPr/>
            <p:nvPr/>
          </p:nvSpPr>
          <p:spPr>
            <a:xfrm flipH="false" flipV="false" rot="0">
              <a:off x="0" y="0"/>
              <a:ext cx="4179570" cy="254000"/>
            </a:xfrm>
            <a:custGeom>
              <a:avLst/>
              <a:gdLst/>
              <a:ahLst/>
              <a:cxnLst/>
              <a:rect r="r" b="b" t="t" l="l"/>
              <a:pathLst>
                <a:path h="254000" w="4179570">
                  <a:moveTo>
                    <a:pt x="38590" y="0"/>
                  </a:moveTo>
                  <a:lnTo>
                    <a:pt x="4140980" y="0"/>
                  </a:lnTo>
                  <a:cubicBezTo>
                    <a:pt x="4151215" y="0"/>
                    <a:pt x="4161030" y="4066"/>
                    <a:pt x="4168267" y="11303"/>
                  </a:cubicBezTo>
                  <a:cubicBezTo>
                    <a:pt x="4175504" y="18540"/>
                    <a:pt x="4179570" y="28355"/>
                    <a:pt x="4179570" y="38590"/>
                  </a:cubicBezTo>
                  <a:lnTo>
                    <a:pt x="4179570" y="215410"/>
                  </a:lnTo>
                  <a:cubicBezTo>
                    <a:pt x="4179570" y="225645"/>
                    <a:pt x="4175504" y="235460"/>
                    <a:pt x="4168267" y="242697"/>
                  </a:cubicBezTo>
                  <a:cubicBezTo>
                    <a:pt x="4161030" y="249934"/>
                    <a:pt x="4151215" y="254000"/>
                    <a:pt x="4140980" y="254000"/>
                  </a:cubicBezTo>
                  <a:lnTo>
                    <a:pt x="38590" y="254000"/>
                  </a:lnTo>
                  <a:cubicBezTo>
                    <a:pt x="28355" y="254000"/>
                    <a:pt x="18540" y="249934"/>
                    <a:pt x="11303" y="242697"/>
                  </a:cubicBezTo>
                  <a:cubicBezTo>
                    <a:pt x="4066" y="235460"/>
                    <a:pt x="0" y="225645"/>
                    <a:pt x="0" y="215410"/>
                  </a:cubicBezTo>
                  <a:lnTo>
                    <a:pt x="0" y="38590"/>
                  </a:lnTo>
                  <a:cubicBezTo>
                    <a:pt x="0" y="28355"/>
                    <a:pt x="4066" y="18540"/>
                    <a:pt x="11303" y="11303"/>
                  </a:cubicBezTo>
                  <a:cubicBezTo>
                    <a:pt x="18540" y="4066"/>
                    <a:pt x="28355" y="0"/>
                    <a:pt x="38590" y="0"/>
                  </a:cubicBezTo>
                  <a:close/>
                </a:path>
              </a:pathLst>
            </a:custGeom>
            <a:solidFill>
              <a:srgbClr val="7F5283"/>
            </a:solidFill>
          </p:spPr>
        </p:sp>
        <p:sp>
          <p:nvSpPr>
            <p:cNvPr name="TextBox 81" id="81"/>
            <p:cNvSpPr txBox="true"/>
            <p:nvPr/>
          </p:nvSpPr>
          <p:spPr>
            <a:xfrm>
              <a:off x="0" y="-38100"/>
              <a:ext cx="4179570" cy="292100"/>
            </a:xfrm>
            <a:prstGeom prst="rect">
              <a:avLst/>
            </a:prstGeom>
          </p:spPr>
          <p:txBody>
            <a:bodyPr anchor="ctr" rtlCol="false" tIns="50800" lIns="50800" bIns="50800" rIns="50800"/>
            <a:lstStyle/>
            <a:p>
              <a:pPr algn="l">
                <a:lnSpc>
                  <a:spcPts val="1679"/>
                </a:lnSpc>
              </a:pPr>
            </a:p>
          </p:txBody>
        </p:sp>
      </p:grpSp>
      <p:grpSp>
        <p:nvGrpSpPr>
          <p:cNvPr name="Group 82" id="82"/>
          <p:cNvGrpSpPr/>
          <p:nvPr/>
        </p:nvGrpSpPr>
        <p:grpSpPr>
          <a:xfrm rot="0">
            <a:off x="12715875" y="8372475"/>
            <a:ext cx="4124325" cy="190500"/>
            <a:chOff x="0" y="0"/>
            <a:chExt cx="5499100" cy="254000"/>
          </a:xfrm>
        </p:grpSpPr>
        <p:sp>
          <p:nvSpPr>
            <p:cNvPr name="Freeform 83" id="83"/>
            <p:cNvSpPr/>
            <p:nvPr/>
          </p:nvSpPr>
          <p:spPr>
            <a:xfrm flipH="false" flipV="false" rot="0">
              <a:off x="0" y="0"/>
              <a:ext cx="5499100" cy="254000"/>
            </a:xfrm>
            <a:custGeom>
              <a:avLst/>
              <a:gdLst/>
              <a:ahLst/>
              <a:cxnLst/>
              <a:rect r="r" b="b" t="t" l="l"/>
              <a:pathLst>
                <a:path h="254000" w="5499100">
                  <a:moveTo>
                    <a:pt x="29330" y="0"/>
                  </a:moveTo>
                  <a:lnTo>
                    <a:pt x="5469770" y="0"/>
                  </a:lnTo>
                  <a:cubicBezTo>
                    <a:pt x="5477549" y="0"/>
                    <a:pt x="5485009" y="3090"/>
                    <a:pt x="5490509" y="8591"/>
                  </a:cubicBezTo>
                  <a:cubicBezTo>
                    <a:pt x="5496010" y="14091"/>
                    <a:pt x="5499100" y="21551"/>
                    <a:pt x="5499100" y="29330"/>
                  </a:cubicBezTo>
                  <a:lnTo>
                    <a:pt x="5499100" y="224670"/>
                  </a:lnTo>
                  <a:cubicBezTo>
                    <a:pt x="5499100" y="232449"/>
                    <a:pt x="5496010" y="239909"/>
                    <a:pt x="5490509" y="245409"/>
                  </a:cubicBezTo>
                  <a:cubicBezTo>
                    <a:pt x="5485009" y="250910"/>
                    <a:pt x="5477549" y="254000"/>
                    <a:pt x="5469770" y="254000"/>
                  </a:cubicBezTo>
                  <a:lnTo>
                    <a:pt x="29330" y="254000"/>
                  </a:lnTo>
                  <a:cubicBezTo>
                    <a:pt x="21551" y="254000"/>
                    <a:pt x="14091" y="250910"/>
                    <a:pt x="8591" y="245409"/>
                  </a:cubicBezTo>
                  <a:cubicBezTo>
                    <a:pt x="3090" y="239909"/>
                    <a:pt x="0" y="232449"/>
                    <a:pt x="0" y="224670"/>
                  </a:cubicBezTo>
                  <a:lnTo>
                    <a:pt x="0" y="29330"/>
                  </a:lnTo>
                  <a:cubicBezTo>
                    <a:pt x="0" y="21551"/>
                    <a:pt x="3090" y="14091"/>
                    <a:pt x="8591" y="8591"/>
                  </a:cubicBezTo>
                  <a:cubicBezTo>
                    <a:pt x="14091" y="3090"/>
                    <a:pt x="21551" y="0"/>
                    <a:pt x="29330" y="0"/>
                  </a:cubicBezTo>
                  <a:close/>
                </a:path>
              </a:pathLst>
            </a:custGeom>
            <a:solidFill>
              <a:srgbClr val="D2E6EE"/>
            </a:solidFill>
          </p:spPr>
        </p:sp>
        <p:sp>
          <p:nvSpPr>
            <p:cNvPr name="TextBox 84" id="84"/>
            <p:cNvSpPr txBox="true"/>
            <p:nvPr/>
          </p:nvSpPr>
          <p:spPr>
            <a:xfrm>
              <a:off x="0" y="-38100"/>
              <a:ext cx="5499100" cy="292100"/>
            </a:xfrm>
            <a:prstGeom prst="rect">
              <a:avLst/>
            </a:prstGeom>
          </p:spPr>
          <p:txBody>
            <a:bodyPr anchor="ctr" rtlCol="false" tIns="50800" lIns="50800" bIns="50800" rIns="50800"/>
            <a:lstStyle/>
            <a:p>
              <a:pPr algn="l">
                <a:lnSpc>
                  <a:spcPts val="1679"/>
                </a:lnSpc>
              </a:pPr>
            </a:p>
          </p:txBody>
        </p:sp>
      </p:grpSp>
      <p:grpSp>
        <p:nvGrpSpPr>
          <p:cNvPr name="Group 85" id="85"/>
          <p:cNvGrpSpPr/>
          <p:nvPr/>
        </p:nvGrpSpPr>
        <p:grpSpPr>
          <a:xfrm rot="0">
            <a:off x="12715875" y="8372475"/>
            <a:ext cx="3175635" cy="190500"/>
            <a:chOff x="0" y="0"/>
            <a:chExt cx="4234180" cy="254000"/>
          </a:xfrm>
        </p:grpSpPr>
        <p:sp>
          <p:nvSpPr>
            <p:cNvPr name="Freeform 86" id="86"/>
            <p:cNvSpPr/>
            <p:nvPr/>
          </p:nvSpPr>
          <p:spPr>
            <a:xfrm flipH="false" flipV="false" rot="0">
              <a:off x="0" y="0"/>
              <a:ext cx="4234180" cy="254000"/>
            </a:xfrm>
            <a:custGeom>
              <a:avLst/>
              <a:gdLst/>
              <a:ahLst/>
              <a:cxnLst/>
              <a:rect r="r" b="b" t="t" l="l"/>
              <a:pathLst>
                <a:path h="254000" w="4234180">
                  <a:moveTo>
                    <a:pt x="38092" y="0"/>
                  </a:moveTo>
                  <a:lnTo>
                    <a:pt x="4196088" y="0"/>
                  </a:lnTo>
                  <a:cubicBezTo>
                    <a:pt x="4206190" y="0"/>
                    <a:pt x="4215879" y="4013"/>
                    <a:pt x="4223023" y="11157"/>
                  </a:cubicBezTo>
                  <a:cubicBezTo>
                    <a:pt x="4230167" y="18301"/>
                    <a:pt x="4234180" y="27990"/>
                    <a:pt x="4234180" y="38092"/>
                  </a:cubicBezTo>
                  <a:lnTo>
                    <a:pt x="4234180" y="215908"/>
                  </a:lnTo>
                  <a:cubicBezTo>
                    <a:pt x="4234180" y="236945"/>
                    <a:pt x="4217126" y="254000"/>
                    <a:pt x="4196088" y="254000"/>
                  </a:cubicBezTo>
                  <a:lnTo>
                    <a:pt x="38092" y="254000"/>
                  </a:lnTo>
                  <a:cubicBezTo>
                    <a:pt x="17055" y="254000"/>
                    <a:pt x="0" y="236945"/>
                    <a:pt x="0" y="215908"/>
                  </a:cubicBezTo>
                  <a:lnTo>
                    <a:pt x="0" y="38092"/>
                  </a:lnTo>
                  <a:cubicBezTo>
                    <a:pt x="0" y="17055"/>
                    <a:pt x="17055" y="0"/>
                    <a:pt x="38092" y="0"/>
                  </a:cubicBezTo>
                  <a:close/>
                </a:path>
              </a:pathLst>
            </a:custGeom>
            <a:solidFill>
              <a:srgbClr val="7F5283"/>
            </a:solidFill>
          </p:spPr>
        </p:sp>
        <p:sp>
          <p:nvSpPr>
            <p:cNvPr name="TextBox 87" id="87"/>
            <p:cNvSpPr txBox="true"/>
            <p:nvPr/>
          </p:nvSpPr>
          <p:spPr>
            <a:xfrm>
              <a:off x="0" y="-38100"/>
              <a:ext cx="4234180" cy="292100"/>
            </a:xfrm>
            <a:prstGeom prst="rect">
              <a:avLst/>
            </a:prstGeom>
          </p:spPr>
          <p:txBody>
            <a:bodyPr anchor="ctr" rtlCol="false" tIns="50800" lIns="50800" bIns="50800" rIns="50800"/>
            <a:lstStyle/>
            <a:p>
              <a:pPr algn="l">
                <a:lnSpc>
                  <a:spcPts val="1679"/>
                </a:lnSpc>
              </a:pP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EFBF6"/>
        </a:solidFill>
      </p:bgPr>
    </p:bg>
    <p:spTree>
      <p:nvGrpSpPr>
        <p:cNvPr id="1" name=""/>
        <p:cNvGrpSpPr/>
        <p:nvPr/>
      </p:nvGrpSpPr>
      <p:grpSpPr>
        <a:xfrm>
          <a:off x="0" y="0"/>
          <a:ext cx="0" cy="0"/>
          <a:chOff x="0" y="0"/>
          <a:chExt cx="0" cy="0"/>
        </a:xfrm>
      </p:grpSpPr>
      <p:grpSp>
        <p:nvGrpSpPr>
          <p:cNvPr name="Group 2" id="2"/>
          <p:cNvGrpSpPr/>
          <p:nvPr/>
        </p:nvGrpSpPr>
        <p:grpSpPr>
          <a:xfrm rot="0">
            <a:off x="9420965" y="1324937"/>
            <a:ext cx="7616207" cy="7637126"/>
            <a:chOff x="0" y="0"/>
            <a:chExt cx="2650390" cy="2657670"/>
          </a:xfrm>
        </p:grpSpPr>
        <p:sp>
          <p:nvSpPr>
            <p:cNvPr name="Freeform 3" id="3"/>
            <p:cNvSpPr/>
            <p:nvPr/>
          </p:nvSpPr>
          <p:spPr>
            <a:xfrm flipH="false" flipV="false" rot="0">
              <a:off x="0" y="0"/>
              <a:ext cx="2650390" cy="2657670"/>
            </a:xfrm>
            <a:custGeom>
              <a:avLst/>
              <a:gdLst/>
              <a:ahLst/>
              <a:cxnLst/>
              <a:rect r="r" b="b" t="t" l="l"/>
              <a:pathLst>
                <a:path h="2657670" w="2650390">
                  <a:moveTo>
                    <a:pt x="20330" y="0"/>
                  </a:moveTo>
                  <a:lnTo>
                    <a:pt x="2630060" y="0"/>
                  </a:lnTo>
                  <a:cubicBezTo>
                    <a:pt x="2641288" y="0"/>
                    <a:pt x="2650390" y="9102"/>
                    <a:pt x="2650390" y="20330"/>
                  </a:cubicBezTo>
                  <a:lnTo>
                    <a:pt x="2650390" y="2637340"/>
                  </a:lnTo>
                  <a:cubicBezTo>
                    <a:pt x="2650390" y="2642732"/>
                    <a:pt x="2648248" y="2647903"/>
                    <a:pt x="2644435" y="2651715"/>
                  </a:cubicBezTo>
                  <a:cubicBezTo>
                    <a:pt x="2640623" y="2655528"/>
                    <a:pt x="2635452" y="2657670"/>
                    <a:pt x="2630060" y="2657670"/>
                  </a:cubicBezTo>
                  <a:lnTo>
                    <a:pt x="20330" y="2657670"/>
                  </a:lnTo>
                  <a:cubicBezTo>
                    <a:pt x="14938" y="2657670"/>
                    <a:pt x="9767" y="2655528"/>
                    <a:pt x="5955" y="2651715"/>
                  </a:cubicBezTo>
                  <a:cubicBezTo>
                    <a:pt x="2142" y="2647903"/>
                    <a:pt x="0" y="2642732"/>
                    <a:pt x="0" y="2637340"/>
                  </a:cubicBezTo>
                  <a:lnTo>
                    <a:pt x="0" y="20330"/>
                  </a:lnTo>
                  <a:cubicBezTo>
                    <a:pt x="0" y="14938"/>
                    <a:pt x="2142" y="9767"/>
                    <a:pt x="5955" y="5955"/>
                  </a:cubicBezTo>
                  <a:cubicBezTo>
                    <a:pt x="9767" y="2142"/>
                    <a:pt x="14938" y="0"/>
                    <a:pt x="20330" y="0"/>
                  </a:cubicBezTo>
                  <a:close/>
                </a:path>
              </a:pathLst>
            </a:custGeom>
            <a:ln w="38100" cap="sq">
              <a:solidFill>
                <a:srgbClr val="A6D1E6"/>
              </a:solidFill>
              <a:prstDash val="solid"/>
              <a:miter/>
            </a:ln>
          </p:spPr>
        </p:sp>
        <p:sp>
          <p:nvSpPr>
            <p:cNvPr name="TextBox 4" id="4"/>
            <p:cNvSpPr txBox="true"/>
            <p:nvPr/>
          </p:nvSpPr>
          <p:spPr>
            <a:xfrm>
              <a:off x="0" y="-38100"/>
              <a:ext cx="2650390" cy="2695770"/>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10136451" y="1921567"/>
            <a:ext cx="1180336" cy="293370"/>
          </a:xfrm>
          <a:prstGeom prst="rect">
            <a:avLst/>
          </a:prstGeom>
        </p:spPr>
        <p:txBody>
          <a:bodyPr anchor="t" rtlCol="false" tIns="0" lIns="0" bIns="0" rIns="0">
            <a:spAutoFit/>
          </a:bodyPr>
          <a:lstStyle/>
          <a:p>
            <a:pPr algn="l">
              <a:lnSpc>
                <a:spcPts val="2310"/>
              </a:lnSpc>
            </a:pPr>
            <a:r>
              <a:rPr lang="en-US" sz="2100" b="true">
                <a:solidFill>
                  <a:srgbClr val="7F5283"/>
                </a:solidFill>
                <a:latin typeface="Inter Bold"/>
                <a:ea typeface="Inter Bold"/>
                <a:cs typeface="Inter Bold"/>
                <a:sym typeface="Inter Bold"/>
              </a:rPr>
              <a:t>01.</a:t>
            </a:r>
          </a:p>
        </p:txBody>
      </p:sp>
      <p:sp>
        <p:nvSpPr>
          <p:cNvPr name="TextBox 6" id="6"/>
          <p:cNvSpPr txBox="true"/>
          <p:nvPr/>
        </p:nvSpPr>
        <p:spPr>
          <a:xfrm rot="0">
            <a:off x="10136451" y="2803250"/>
            <a:ext cx="1180336" cy="293370"/>
          </a:xfrm>
          <a:prstGeom prst="rect">
            <a:avLst/>
          </a:prstGeom>
        </p:spPr>
        <p:txBody>
          <a:bodyPr anchor="t" rtlCol="false" tIns="0" lIns="0" bIns="0" rIns="0">
            <a:spAutoFit/>
          </a:bodyPr>
          <a:lstStyle/>
          <a:p>
            <a:pPr algn="l">
              <a:lnSpc>
                <a:spcPts val="2310"/>
              </a:lnSpc>
            </a:pPr>
            <a:r>
              <a:rPr lang="en-US" sz="2100" b="true">
                <a:solidFill>
                  <a:srgbClr val="7F5283"/>
                </a:solidFill>
                <a:latin typeface="Inter Bold"/>
                <a:ea typeface="Inter Bold"/>
                <a:cs typeface="Inter Bold"/>
                <a:sym typeface="Inter Bold"/>
              </a:rPr>
              <a:t>02.</a:t>
            </a:r>
          </a:p>
        </p:txBody>
      </p:sp>
      <p:sp>
        <p:nvSpPr>
          <p:cNvPr name="TextBox 7" id="7"/>
          <p:cNvSpPr txBox="true"/>
          <p:nvPr/>
        </p:nvSpPr>
        <p:spPr>
          <a:xfrm rot="0">
            <a:off x="10136451" y="3684933"/>
            <a:ext cx="1180336" cy="293370"/>
          </a:xfrm>
          <a:prstGeom prst="rect">
            <a:avLst/>
          </a:prstGeom>
        </p:spPr>
        <p:txBody>
          <a:bodyPr anchor="t" rtlCol="false" tIns="0" lIns="0" bIns="0" rIns="0">
            <a:spAutoFit/>
          </a:bodyPr>
          <a:lstStyle/>
          <a:p>
            <a:pPr algn="l">
              <a:lnSpc>
                <a:spcPts val="2310"/>
              </a:lnSpc>
            </a:pPr>
            <a:r>
              <a:rPr lang="en-US" sz="2100" b="true">
                <a:solidFill>
                  <a:srgbClr val="7F5283"/>
                </a:solidFill>
                <a:latin typeface="Inter Bold"/>
                <a:ea typeface="Inter Bold"/>
                <a:cs typeface="Inter Bold"/>
                <a:sym typeface="Inter Bold"/>
              </a:rPr>
              <a:t>03.</a:t>
            </a:r>
          </a:p>
        </p:txBody>
      </p:sp>
      <p:sp>
        <p:nvSpPr>
          <p:cNvPr name="TextBox 8" id="8"/>
          <p:cNvSpPr txBox="true"/>
          <p:nvPr/>
        </p:nvSpPr>
        <p:spPr>
          <a:xfrm rot="0">
            <a:off x="10136451" y="4566617"/>
            <a:ext cx="1180336" cy="293370"/>
          </a:xfrm>
          <a:prstGeom prst="rect">
            <a:avLst/>
          </a:prstGeom>
        </p:spPr>
        <p:txBody>
          <a:bodyPr anchor="t" rtlCol="false" tIns="0" lIns="0" bIns="0" rIns="0">
            <a:spAutoFit/>
          </a:bodyPr>
          <a:lstStyle/>
          <a:p>
            <a:pPr algn="l">
              <a:lnSpc>
                <a:spcPts val="2310"/>
              </a:lnSpc>
            </a:pPr>
            <a:r>
              <a:rPr lang="en-US" sz="2100" b="true">
                <a:solidFill>
                  <a:srgbClr val="3D3C42"/>
                </a:solidFill>
                <a:latin typeface="Inter Bold"/>
                <a:ea typeface="Inter Bold"/>
                <a:cs typeface="Inter Bold"/>
                <a:sym typeface="Inter Bold"/>
              </a:rPr>
              <a:t>04.</a:t>
            </a:r>
          </a:p>
        </p:txBody>
      </p:sp>
      <p:sp>
        <p:nvSpPr>
          <p:cNvPr name="TextBox 9" id="9"/>
          <p:cNvSpPr txBox="true"/>
          <p:nvPr/>
        </p:nvSpPr>
        <p:spPr>
          <a:xfrm rot="0">
            <a:off x="10944724" y="1919330"/>
            <a:ext cx="4905375" cy="240983"/>
          </a:xfrm>
          <a:prstGeom prst="rect">
            <a:avLst/>
          </a:prstGeom>
        </p:spPr>
        <p:txBody>
          <a:bodyPr anchor="t" rtlCol="false" tIns="0" lIns="0" bIns="0" rIns="0">
            <a:spAutoFit/>
          </a:bodyPr>
          <a:lstStyle/>
          <a:p>
            <a:pPr algn="l" marL="0" indent="0" lvl="0">
              <a:lnSpc>
                <a:spcPts val="1897"/>
              </a:lnSpc>
              <a:spcBef>
                <a:spcPct val="0"/>
              </a:spcBef>
            </a:pPr>
            <a:r>
              <a:rPr lang="en-US" sz="1725" strike="noStrike" u="none">
                <a:solidFill>
                  <a:srgbClr val="3D3C42"/>
                </a:solidFill>
                <a:latin typeface="Inter"/>
                <a:ea typeface="Inter"/>
                <a:cs typeface="Inter"/>
                <a:sym typeface="Inter"/>
              </a:rPr>
              <a:t>Audit First Class &amp; Same Day SLAs (Critical)</a:t>
            </a:r>
          </a:p>
        </p:txBody>
      </p:sp>
      <p:sp>
        <p:nvSpPr>
          <p:cNvPr name="TextBox 10" id="10"/>
          <p:cNvSpPr txBox="true"/>
          <p:nvPr/>
        </p:nvSpPr>
        <p:spPr>
          <a:xfrm rot="0">
            <a:off x="10944724" y="2801333"/>
            <a:ext cx="4905375" cy="240983"/>
          </a:xfrm>
          <a:prstGeom prst="rect">
            <a:avLst/>
          </a:prstGeom>
        </p:spPr>
        <p:txBody>
          <a:bodyPr anchor="t" rtlCol="false" tIns="0" lIns="0" bIns="0" rIns="0">
            <a:spAutoFit/>
          </a:bodyPr>
          <a:lstStyle/>
          <a:p>
            <a:pPr algn="l" marL="0" indent="0" lvl="0">
              <a:lnSpc>
                <a:spcPts val="1897"/>
              </a:lnSpc>
              <a:spcBef>
                <a:spcPct val="0"/>
              </a:spcBef>
            </a:pPr>
            <a:r>
              <a:rPr lang="en-US" sz="1725" strike="noStrike" u="none">
                <a:solidFill>
                  <a:srgbClr val="3D3C42"/>
                </a:solidFill>
                <a:latin typeface="Inter"/>
                <a:ea typeface="Inter"/>
                <a:cs typeface="Inter"/>
                <a:sym typeface="Inter"/>
              </a:rPr>
              <a:t>Deploy the late-order alert model (High)</a:t>
            </a:r>
          </a:p>
        </p:txBody>
      </p:sp>
      <p:sp>
        <p:nvSpPr>
          <p:cNvPr name="TextBox 11" id="11"/>
          <p:cNvSpPr txBox="true"/>
          <p:nvPr/>
        </p:nvSpPr>
        <p:spPr>
          <a:xfrm rot="0">
            <a:off x="10944724" y="3683336"/>
            <a:ext cx="4905375" cy="240983"/>
          </a:xfrm>
          <a:prstGeom prst="rect">
            <a:avLst/>
          </a:prstGeom>
        </p:spPr>
        <p:txBody>
          <a:bodyPr anchor="t" rtlCol="false" tIns="0" lIns="0" bIns="0" rIns="0">
            <a:spAutoFit/>
          </a:bodyPr>
          <a:lstStyle/>
          <a:p>
            <a:pPr algn="l" marL="0" indent="0" lvl="0">
              <a:lnSpc>
                <a:spcPts val="1897"/>
              </a:lnSpc>
              <a:spcBef>
                <a:spcPct val="0"/>
              </a:spcBef>
            </a:pPr>
            <a:r>
              <a:rPr lang="en-US" sz="1725" strike="noStrike" u="none">
                <a:solidFill>
                  <a:srgbClr val="3D3C42"/>
                </a:solidFill>
                <a:latin typeface="Inter"/>
                <a:ea typeface="Inter"/>
                <a:cs typeface="Inter"/>
                <a:sym typeface="Inter"/>
              </a:rPr>
              <a:t>Clear payment review holds (High)</a:t>
            </a:r>
          </a:p>
        </p:txBody>
      </p:sp>
      <p:sp>
        <p:nvSpPr>
          <p:cNvPr name="TextBox 12" id="12"/>
          <p:cNvSpPr txBox="true"/>
          <p:nvPr/>
        </p:nvSpPr>
        <p:spPr>
          <a:xfrm rot="0">
            <a:off x="10944724" y="4565339"/>
            <a:ext cx="4905375" cy="240983"/>
          </a:xfrm>
          <a:prstGeom prst="rect">
            <a:avLst/>
          </a:prstGeom>
        </p:spPr>
        <p:txBody>
          <a:bodyPr anchor="t" rtlCol="false" tIns="0" lIns="0" bIns="0" rIns="0">
            <a:spAutoFit/>
          </a:bodyPr>
          <a:lstStyle/>
          <a:p>
            <a:pPr algn="l" marL="0" indent="0" lvl="0">
              <a:lnSpc>
                <a:spcPts val="1897"/>
              </a:lnSpc>
              <a:spcBef>
                <a:spcPct val="0"/>
              </a:spcBef>
            </a:pPr>
            <a:r>
              <a:rPr lang="en-US" sz="1725" strike="noStrike" u="none">
                <a:solidFill>
                  <a:srgbClr val="3D3C42"/>
                </a:solidFill>
                <a:latin typeface="Inter"/>
                <a:ea typeface="Inter"/>
                <a:cs typeface="Inter"/>
                <a:sym typeface="Inter"/>
              </a:rPr>
              <a:t>Plan seasonal surge capacity (Medium)</a:t>
            </a:r>
          </a:p>
        </p:txBody>
      </p:sp>
      <p:sp>
        <p:nvSpPr>
          <p:cNvPr name="TextBox 13" id="13"/>
          <p:cNvSpPr txBox="true"/>
          <p:nvPr/>
        </p:nvSpPr>
        <p:spPr>
          <a:xfrm rot="0">
            <a:off x="10136451" y="5448300"/>
            <a:ext cx="1180336" cy="293370"/>
          </a:xfrm>
          <a:prstGeom prst="rect">
            <a:avLst/>
          </a:prstGeom>
        </p:spPr>
        <p:txBody>
          <a:bodyPr anchor="t" rtlCol="false" tIns="0" lIns="0" bIns="0" rIns="0">
            <a:spAutoFit/>
          </a:bodyPr>
          <a:lstStyle/>
          <a:p>
            <a:pPr algn="l">
              <a:lnSpc>
                <a:spcPts val="2310"/>
              </a:lnSpc>
            </a:pPr>
            <a:r>
              <a:rPr lang="en-US" sz="2100" b="true">
                <a:solidFill>
                  <a:srgbClr val="3D3C42"/>
                </a:solidFill>
                <a:latin typeface="Inter Bold"/>
                <a:ea typeface="Inter Bold"/>
                <a:cs typeface="Inter Bold"/>
                <a:sym typeface="Inter Bold"/>
              </a:rPr>
              <a:t>05.</a:t>
            </a:r>
          </a:p>
        </p:txBody>
      </p:sp>
      <p:sp>
        <p:nvSpPr>
          <p:cNvPr name="TextBox 14" id="14"/>
          <p:cNvSpPr txBox="true"/>
          <p:nvPr/>
        </p:nvSpPr>
        <p:spPr>
          <a:xfrm rot="0">
            <a:off x="10136451" y="6329983"/>
            <a:ext cx="1180336" cy="293370"/>
          </a:xfrm>
          <a:prstGeom prst="rect">
            <a:avLst/>
          </a:prstGeom>
        </p:spPr>
        <p:txBody>
          <a:bodyPr anchor="t" rtlCol="false" tIns="0" lIns="0" bIns="0" rIns="0">
            <a:spAutoFit/>
          </a:bodyPr>
          <a:lstStyle/>
          <a:p>
            <a:pPr algn="l">
              <a:lnSpc>
                <a:spcPts val="2310"/>
              </a:lnSpc>
            </a:pPr>
            <a:r>
              <a:rPr lang="en-US" sz="2100" b="true">
                <a:solidFill>
                  <a:srgbClr val="3D3C42"/>
                </a:solidFill>
                <a:latin typeface="Inter Bold"/>
                <a:ea typeface="Inter Bold"/>
                <a:cs typeface="Inter Bold"/>
                <a:sym typeface="Inter Bold"/>
              </a:rPr>
              <a:t>06.</a:t>
            </a:r>
          </a:p>
        </p:txBody>
      </p:sp>
      <p:sp>
        <p:nvSpPr>
          <p:cNvPr name="TextBox 15" id="15"/>
          <p:cNvSpPr txBox="true"/>
          <p:nvPr/>
        </p:nvSpPr>
        <p:spPr>
          <a:xfrm rot="0">
            <a:off x="10136451" y="7211667"/>
            <a:ext cx="1180336" cy="293370"/>
          </a:xfrm>
          <a:prstGeom prst="rect">
            <a:avLst/>
          </a:prstGeom>
        </p:spPr>
        <p:txBody>
          <a:bodyPr anchor="t" rtlCol="false" tIns="0" lIns="0" bIns="0" rIns="0">
            <a:spAutoFit/>
          </a:bodyPr>
          <a:lstStyle/>
          <a:p>
            <a:pPr algn="l">
              <a:lnSpc>
                <a:spcPts val="2310"/>
              </a:lnSpc>
            </a:pPr>
            <a:r>
              <a:rPr lang="en-US" sz="2100" b="true">
                <a:solidFill>
                  <a:srgbClr val="3D3C42"/>
                </a:solidFill>
                <a:latin typeface="Inter Bold"/>
                <a:ea typeface="Inter Bold"/>
                <a:cs typeface="Inter Bold"/>
                <a:sym typeface="Inter Bold"/>
              </a:rPr>
              <a:t>07.</a:t>
            </a:r>
          </a:p>
        </p:txBody>
      </p:sp>
      <p:sp>
        <p:nvSpPr>
          <p:cNvPr name="TextBox 16" id="16"/>
          <p:cNvSpPr txBox="true"/>
          <p:nvPr/>
        </p:nvSpPr>
        <p:spPr>
          <a:xfrm rot="0">
            <a:off x="10136451" y="8093350"/>
            <a:ext cx="1180336" cy="293370"/>
          </a:xfrm>
          <a:prstGeom prst="rect">
            <a:avLst/>
          </a:prstGeom>
        </p:spPr>
        <p:txBody>
          <a:bodyPr anchor="t" rtlCol="false" tIns="0" lIns="0" bIns="0" rIns="0">
            <a:spAutoFit/>
          </a:bodyPr>
          <a:lstStyle/>
          <a:p>
            <a:pPr algn="l">
              <a:lnSpc>
                <a:spcPts val="2310"/>
              </a:lnSpc>
            </a:pPr>
            <a:r>
              <a:rPr lang="en-US" sz="2100" b="true">
                <a:solidFill>
                  <a:srgbClr val="3D3C42"/>
                </a:solidFill>
                <a:latin typeface="Inter Bold"/>
                <a:ea typeface="Inter Bold"/>
                <a:cs typeface="Inter Bold"/>
                <a:sym typeface="Inter Bold"/>
              </a:rPr>
              <a:t>08.</a:t>
            </a:r>
          </a:p>
        </p:txBody>
      </p:sp>
      <p:sp>
        <p:nvSpPr>
          <p:cNvPr name="TextBox 17" id="17"/>
          <p:cNvSpPr txBox="true"/>
          <p:nvPr/>
        </p:nvSpPr>
        <p:spPr>
          <a:xfrm rot="0">
            <a:off x="10944724" y="5447341"/>
            <a:ext cx="4905375" cy="240983"/>
          </a:xfrm>
          <a:prstGeom prst="rect">
            <a:avLst/>
          </a:prstGeom>
        </p:spPr>
        <p:txBody>
          <a:bodyPr anchor="t" rtlCol="false" tIns="0" lIns="0" bIns="0" rIns="0">
            <a:spAutoFit/>
          </a:bodyPr>
          <a:lstStyle/>
          <a:p>
            <a:pPr algn="l" marL="0" indent="0" lvl="0">
              <a:lnSpc>
                <a:spcPts val="1897"/>
              </a:lnSpc>
              <a:spcBef>
                <a:spcPct val="0"/>
              </a:spcBef>
            </a:pPr>
            <a:r>
              <a:rPr lang="en-US" sz="1725" strike="noStrike" u="none">
                <a:solidFill>
                  <a:srgbClr val="3D3C42"/>
                </a:solidFill>
                <a:latin typeface="Inter"/>
                <a:ea typeface="Inter"/>
                <a:cs typeface="Inter"/>
                <a:sym typeface="Inter"/>
              </a:rPr>
              <a:t>Default eligible orders to Standard (Medium)</a:t>
            </a:r>
          </a:p>
        </p:txBody>
      </p:sp>
      <p:sp>
        <p:nvSpPr>
          <p:cNvPr name="TextBox 18" id="18"/>
          <p:cNvSpPr txBox="true"/>
          <p:nvPr/>
        </p:nvSpPr>
        <p:spPr>
          <a:xfrm rot="0">
            <a:off x="10944724" y="6329344"/>
            <a:ext cx="4905375" cy="240983"/>
          </a:xfrm>
          <a:prstGeom prst="rect">
            <a:avLst/>
          </a:prstGeom>
        </p:spPr>
        <p:txBody>
          <a:bodyPr anchor="t" rtlCol="false" tIns="0" lIns="0" bIns="0" rIns="0">
            <a:spAutoFit/>
          </a:bodyPr>
          <a:lstStyle/>
          <a:p>
            <a:pPr algn="l" marL="0" indent="0" lvl="0">
              <a:lnSpc>
                <a:spcPts val="1897"/>
              </a:lnSpc>
              <a:spcBef>
                <a:spcPct val="0"/>
              </a:spcBef>
            </a:pPr>
            <a:r>
              <a:rPr lang="en-US" sz="1725" strike="noStrike" u="none">
                <a:solidFill>
                  <a:srgbClr val="3D3C42"/>
                </a:solidFill>
                <a:latin typeface="Inter"/>
                <a:ea typeface="Inter"/>
                <a:cs typeface="Inter"/>
                <a:sym typeface="Inter"/>
              </a:rPr>
              <a:t>Audit Central Asia &amp; Pet Shop (Medium)</a:t>
            </a:r>
          </a:p>
        </p:txBody>
      </p:sp>
      <p:sp>
        <p:nvSpPr>
          <p:cNvPr name="TextBox 19" id="19"/>
          <p:cNvSpPr txBox="true"/>
          <p:nvPr/>
        </p:nvSpPr>
        <p:spPr>
          <a:xfrm rot="0">
            <a:off x="10944724" y="7211347"/>
            <a:ext cx="4905375" cy="240983"/>
          </a:xfrm>
          <a:prstGeom prst="rect">
            <a:avLst/>
          </a:prstGeom>
        </p:spPr>
        <p:txBody>
          <a:bodyPr anchor="t" rtlCol="false" tIns="0" lIns="0" bIns="0" rIns="0">
            <a:spAutoFit/>
          </a:bodyPr>
          <a:lstStyle/>
          <a:p>
            <a:pPr algn="l" marL="0" indent="0" lvl="0">
              <a:lnSpc>
                <a:spcPts val="1897"/>
              </a:lnSpc>
              <a:spcBef>
                <a:spcPct val="0"/>
              </a:spcBef>
            </a:pPr>
            <a:r>
              <a:rPr lang="en-US" sz="1725" strike="noStrike" u="none">
                <a:solidFill>
                  <a:srgbClr val="3D3C42"/>
                </a:solidFill>
                <a:latin typeface="Inter"/>
                <a:ea typeface="Inter"/>
                <a:cs typeface="Inter"/>
                <a:sym typeface="Inter"/>
              </a:rPr>
              <a:t>Cut loss-making orders, now 18.7% (Low)</a:t>
            </a:r>
          </a:p>
        </p:txBody>
      </p:sp>
      <p:sp>
        <p:nvSpPr>
          <p:cNvPr name="TextBox 20" id="20"/>
          <p:cNvSpPr txBox="true"/>
          <p:nvPr/>
        </p:nvSpPr>
        <p:spPr>
          <a:xfrm rot="0">
            <a:off x="10944724" y="8093350"/>
            <a:ext cx="4905375" cy="240983"/>
          </a:xfrm>
          <a:prstGeom prst="rect">
            <a:avLst/>
          </a:prstGeom>
        </p:spPr>
        <p:txBody>
          <a:bodyPr anchor="t" rtlCol="false" tIns="0" lIns="0" bIns="0" rIns="0">
            <a:spAutoFit/>
          </a:bodyPr>
          <a:lstStyle/>
          <a:p>
            <a:pPr algn="l" marL="0" indent="0" lvl="0">
              <a:lnSpc>
                <a:spcPts val="1897"/>
              </a:lnSpc>
              <a:spcBef>
                <a:spcPct val="0"/>
              </a:spcBef>
            </a:pPr>
            <a:r>
              <a:rPr lang="en-US" sz="1725" strike="noStrike" u="none">
                <a:solidFill>
                  <a:srgbClr val="3D3C42"/>
                </a:solidFill>
                <a:latin typeface="Inter"/>
                <a:ea typeface="Inter"/>
                <a:cs typeface="Inter"/>
                <a:sym typeface="Inter"/>
              </a:rPr>
              <a:t>Retrain the model every quarter (Low)</a:t>
            </a:r>
          </a:p>
        </p:txBody>
      </p:sp>
      <p:sp>
        <p:nvSpPr>
          <p:cNvPr name="AutoShape 21" id="21"/>
          <p:cNvSpPr/>
          <p:nvPr/>
        </p:nvSpPr>
        <p:spPr>
          <a:xfrm flipV="true">
            <a:off x="16019016" y="1868009"/>
            <a:ext cx="386408" cy="381436"/>
          </a:xfrm>
          <a:prstGeom prst="line">
            <a:avLst/>
          </a:prstGeom>
          <a:ln cap="rnd" w="95250">
            <a:solidFill>
              <a:srgbClr val="7F5283"/>
            </a:solidFill>
            <a:prstDash val="solid"/>
            <a:headEnd type="none" len="sm" w="sm"/>
            <a:tailEnd type="arrow" len="sm" w="med"/>
          </a:ln>
        </p:spPr>
      </p:sp>
      <p:sp>
        <p:nvSpPr>
          <p:cNvPr name="AutoShape 22" id="22"/>
          <p:cNvSpPr/>
          <p:nvPr/>
        </p:nvSpPr>
        <p:spPr>
          <a:xfrm flipV="true">
            <a:off x="16019016" y="2749692"/>
            <a:ext cx="386408" cy="381436"/>
          </a:xfrm>
          <a:prstGeom prst="line">
            <a:avLst/>
          </a:prstGeom>
          <a:ln cap="rnd" w="95250">
            <a:solidFill>
              <a:srgbClr val="7F5283"/>
            </a:solidFill>
            <a:prstDash val="solid"/>
            <a:headEnd type="none" len="sm" w="sm"/>
            <a:tailEnd type="arrow" len="sm" w="med"/>
          </a:ln>
        </p:spPr>
      </p:sp>
      <p:sp>
        <p:nvSpPr>
          <p:cNvPr name="AutoShape 23" id="23"/>
          <p:cNvSpPr/>
          <p:nvPr/>
        </p:nvSpPr>
        <p:spPr>
          <a:xfrm flipV="true">
            <a:off x="16019016" y="3631375"/>
            <a:ext cx="386408" cy="381436"/>
          </a:xfrm>
          <a:prstGeom prst="line">
            <a:avLst/>
          </a:prstGeom>
          <a:ln cap="rnd" w="95250">
            <a:solidFill>
              <a:srgbClr val="7F5283"/>
            </a:solidFill>
            <a:prstDash val="solid"/>
            <a:headEnd type="none" len="sm" w="sm"/>
            <a:tailEnd type="arrow" len="sm" w="med"/>
          </a:ln>
        </p:spPr>
      </p:sp>
      <p:sp>
        <p:nvSpPr>
          <p:cNvPr name="AutoShape 24" id="24"/>
          <p:cNvSpPr/>
          <p:nvPr/>
        </p:nvSpPr>
        <p:spPr>
          <a:xfrm flipV="true">
            <a:off x="16019016" y="4513059"/>
            <a:ext cx="386408" cy="381436"/>
          </a:xfrm>
          <a:prstGeom prst="line">
            <a:avLst/>
          </a:prstGeom>
          <a:ln cap="rnd" w="95250">
            <a:solidFill>
              <a:srgbClr val="7F5283"/>
            </a:solidFill>
            <a:prstDash val="solid"/>
            <a:headEnd type="none" len="sm" w="sm"/>
            <a:tailEnd type="arrow" len="sm" w="med"/>
          </a:ln>
        </p:spPr>
      </p:sp>
      <p:sp>
        <p:nvSpPr>
          <p:cNvPr name="AutoShape 25" id="25"/>
          <p:cNvSpPr/>
          <p:nvPr/>
        </p:nvSpPr>
        <p:spPr>
          <a:xfrm flipV="true">
            <a:off x="16019016" y="5394742"/>
            <a:ext cx="386408" cy="381436"/>
          </a:xfrm>
          <a:prstGeom prst="line">
            <a:avLst/>
          </a:prstGeom>
          <a:ln cap="rnd" w="95250">
            <a:solidFill>
              <a:srgbClr val="7F5283"/>
            </a:solidFill>
            <a:prstDash val="solid"/>
            <a:headEnd type="none" len="sm" w="sm"/>
            <a:tailEnd type="arrow" len="sm" w="med"/>
          </a:ln>
        </p:spPr>
      </p:sp>
      <p:sp>
        <p:nvSpPr>
          <p:cNvPr name="AutoShape 26" id="26"/>
          <p:cNvSpPr/>
          <p:nvPr/>
        </p:nvSpPr>
        <p:spPr>
          <a:xfrm flipV="true">
            <a:off x="16019016" y="6276425"/>
            <a:ext cx="386408" cy="381436"/>
          </a:xfrm>
          <a:prstGeom prst="line">
            <a:avLst/>
          </a:prstGeom>
          <a:ln cap="rnd" w="95250">
            <a:solidFill>
              <a:srgbClr val="7F5283"/>
            </a:solidFill>
            <a:prstDash val="solid"/>
            <a:headEnd type="none" len="sm" w="sm"/>
            <a:tailEnd type="arrow" len="sm" w="med"/>
          </a:ln>
        </p:spPr>
      </p:sp>
      <p:sp>
        <p:nvSpPr>
          <p:cNvPr name="AutoShape 27" id="27"/>
          <p:cNvSpPr/>
          <p:nvPr/>
        </p:nvSpPr>
        <p:spPr>
          <a:xfrm flipV="true">
            <a:off x="16019016" y="7158109"/>
            <a:ext cx="386408" cy="381436"/>
          </a:xfrm>
          <a:prstGeom prst="line">
            <a:avLst/>
          </a:prstGeom>
          <a:ln cap="rnd" w="95250">
            <a:solidFill>
              <a:srgbClr val="7F5283"/>
            </a:solidFill>
            <a:prstDash val="solid"/>
            <a:headEnd type="none" len="sm" w="sm"/>
            <a:tailEnd type="arrow" len="sm" w="med"/>
          </a:ln>
        </p:spPr>
      </p:sp>
      <p:sp>
        <p:nvSpPr>
          <p:cNvPr name="AutoShape 28" id="28"/>
          <p:cNvSpPr/>
          <p:nvPr/>
        </p:nvSpPr>
        <p:spPr>
          <a:xfrm flipV="true">
            <a:off x="16019016" y="8039792"/>
            <a:ext cx="386408" cy="381436"/>
          </a:xfrm>
          <a:prstGeom prst="line">
            <a:avLst/>
          </a:prstGeom>
          <a:ln cap="rnd" w="95250">
            <a:solidFill>
              <a:srgbClr val="7F5283"/>
            </a:solidFill>
            <a:prstDash val="solid"/>
            <a:headEnd type="none" len="sm" w="sm"/>
            <a:tailEnd type="arrow" len="sm" w="med"/>
          </a:ln>
        </p:spPr>
      </p:sp>
      <p:grpSp>
        <p:nvGrpSpPr>
          <p:cNvPr name="Group 29" id="29"/>
          <p:cNvGrpSpPr/>
          <p:nvPr/>
        </p:nvGrpSpPr>
        <p:grpSpPr>
          <a:xfrm rot="0">
            <a:off x="1551855" y="4533678"/>
            <a:ext cx="6865859" cy="4259564"/>
            <a:chOff x="0" y="0"/>
            <a:chExt cx="2222175" cy="1378633"/>
          </a:xfrm>
        </p:grpSpPr>
        <p:sp>
          <p:nvSpPr>
            <p:cNvPr name="Freeform 30" id="30"/>
            <p:cNvSpPr/>
            <p:nvPr/>
          </p:nvSpPr>
          <p:spPr>
            <a:xfrm flipH="false" flipV="false" rot="0">
              <a:off x="0" y="0"/>
              <a:ext cx="2222175" cy="1378633"/>
            </a:xfrm>
            <a:custGeom>
              <a:avLst/>
              <a:gdLst/>
              <a:ahLst/>
              <a:cxnLst/>
              <a:rect r="r" b="b" t="t" l="l"/>
              <a:pathLst>
                <a:path h="1378633" w="2222175">
                  <a:moveTo>
                    <a:pt x="465531" y="1378633"/>
                  </a:moveTo>
                  <a:lnTo>
                    <a:pt x="2093508" y="1378633"/>
                  </a:lnTo>
                  <a:cubicBezTo>
                    <a:pt x="2164568" y="1378632"/>
                    <a:pt x="2222174" y="1321026"/>
                    <a:pt x="2222175" y="1249965"/>
                  </a:cubicBezTo>
                  <a:lnTo>
                    <a:pt x="2222175" y="584899"/>
                  </a:lnTo>
                  <a:cubicBezTo>
                    <a:pt x="2222175" y="513837"/>
                    <a:pt x="2164569" y="456231"/>
                    <a:pt x="2093508" y="456231"/>
                  </a:cubicBezTo>
                  <a:lnTo>
                    <a:pt x="864274" y="456231"/>
                  </a:lnTo>
                  <a:cubicBezTo>
                    <a:pt x="830150" y="456231"/>
                    <a:pt x="797423" y="442675"/>
                    <a:pt x="773293" y="418545"/>
                  </a:cubicBezTo>
                  <a:cubicBezTo>
                    <a:pt x="749163" y="394415"/>
                    <a:pt x="735607" y="361688"/>
                    <a:pt x="735607" y="327563"/>
                  </a:cubicBezTo>
                  <a:lnTo>
                    <a:pt x="735607" y="128668"/>
                  </a:lnTo>
                  <a:cubicBezTo>
                    <a:pt x="735607" y="57606"/>
                    <a:pt x="678000" y="0"/>
                    <a:pt x="606939" y="0"/>
                  </a:cubicBezTo>
                  <a:lnTo>
                    <a:pt x="128668" y="0"/>
                  </a:lnTo>
                  <a:cubicBezTo>
                    <a:pt x="57606" y="0"/>
                    <a:pt x="0" y="57606"/>
                    <a:pt x="0" y="128668"/>
                  </a:cubicBezTo>
                  <a:lnTo>
                    <a:pt x="0" y="873394"/>
                  </a:lnTo>
                  <a:cubicBezTo>
                    <a:pt x="-1" y="905046"/>
                    <a:pt x="11664" y="935587"/>
                    <a:pt x="32766" y="959178"/>
                  </a:cubicBezTo>
                  <a:lnTo>
                    <a:pt x="369633" y="1335750"/>
                  </a:lnTo>
                  <a:cubicBezTo>
                    <a:pt x="394042" y="1363037"/>
                    <a:pt x="428920" y="1378633"/>
                    <a:pt x="465531" y="1378633"/>
                  </a:cubicBezTo>
                  <a:close/>
                </a:path>
              </a:pathLst>
            </a:custGeom>
            <a:blipFill>
              <a:blip r:embed="rId3"/>
              <a:stretch>
                <a:fillRect l="0" t="-10371" r="0" b="-10371"/>
              </a:stretch>
            </a:blipFill>
          </p:spPr>
        </p:sp>
      </p:grpSp>
      <p:grpSp>
        <p:nvGrpSpPr>
          <p:cNvPr name="Group 31" id="31"/>
          <p:cNvGrpSpPr/>
          <p:nvPr/>
        </p:nvGrpSpPr>
        <p:grpSpPr>
          <a:xfrm rot="0">
            <a:off x="4060980" y="4047258"/>
            <a:ext cx="4387508" cy="1750973"/>
            <a:chOff x="0" y="0"/>
            <a:chExt cx="1526824" cy="609327"/>
          </a:xfrm>
        </p:grpSpPr>
        <p:sp>
          <p:nvSpPr>
            <p:cNvPr name="Freeform 32" id="32"/>
            <p:cNvSpPr/>
            <p:nvPr/>
          </p:nvSpPr>
          <p:spPr>
            <a:xfrm flipH="false" flipV="false" rot="0">
              <a:off x="0" y="0"/>
              <a:ext cx="1526824" cy="609327"/>
            </a:xfrm>
            <a:custGeom>
              <a:avLst/>
              <a:gdLst/>
              <a:ahLst/>
              <a:cxnLst/>
              <a:rect r="r" b="b" t="t" l="l"/>
              <a:pathLst>
                <a:path h="609327" w="1526824">
                  <a:moveTo>
                    <a:pt x="70581" y="0"/>
                  </a:moveTo>
                  <a:lnTo>
                    <a:pt x="1456243" y="0"/>
                  </a:lnTo>
                  <a:cubicBezTo>
                    <a:pt x="1495224" y="0"/>
                    <a:pt x="1526824" y="31600"/>
                    <a:pt x="1526824" y="70581"/>
                  </a:cubicBezTo>
                  <a:lnTo>
                    <a:pt x="1526824" y="538746"/>
                  </a:lnTo>
                  <a:cubicBezTo>
                    <a:pt x="1526824" y="557465"/>
                    <a:pt x="1519388" y="575418"/>
                    <a:pt x="1506151" y="588654"/>
                  </a:cubicBezTo>
                  <a:cubicBezTo>
                    <a:pt x="1492914" y="601891"/>
                    <a:pt x="1474962" y="609327"/>
                    <a:pt x="1456243" y="609327"/>
                  </a:cubicBezTo>
                  <a:lnTo>
                    <a:pt x="70581" y="609327"/>
                  </a:lnTo>
                  <a:cubicBezTo>
                    <a:pt x="51862" y="609327"/>
                    <a:pt x="33909" y="601891"/>
                    <a:pt x="20673" y="588654"/>
                  </a:cubicBezTo>
                  <a:cubicBezTo>
                    <a:pt x="7436" y="575418"/>
                    <a:pt x="0" y="557465"/>
                    <a:pt x="0" y="538746"/>
                  </a:cubicBezTo>
                  <a:lnTo>
                    <a:pt x="0" y="70581"/>
                  </a:lnTo>
                  <a:cubicBezTo>
                    <a:pt x="0" y="51862"/>
                    <a:pt x="7436" y="33909"/>
                    <a:pt x="20673" y="20673"/>
                  </a:cubicBezTo>
                  <a:cubicBezTo>
                    <a:pt x="33909" y="7436"/>
                    <a:pt x="51862" y="0"/>
                    <a:pt x="70581" y="0"/>
                  </a:cubicBezTo>
                  <a:close/>
                </a:path>
              </a:pathLst>
            </a:custGeom>
            <a:solidFill>
              <a:srgbClr val="A6D1E6"/>
            </a:solidFill>
            <a:ln w="19050" cap="rnd">
              <a:solidFill>
                <a:srgbClr val="A6D1E6"/>
              </a:solidFill>
              <a:prstDash val="solid"/>
              <a:round/>
            </a:ln>
          </p:spPr>
        </p:sp>
        <p:sp>
          <p:nvSpPr>
            <p:cNvPr name="TextBox 33" id="33"/>
            <p:cNvSpPr txBox="true"/>
            <p:nvPr/>
          </p:nvSpPr>
          <p:spPr>
            <a:xfrm>
              <a:off x="0" y="-38100"/>
              <a:ext cx="1526824" cy="647427"/>
            </a:xfrm>
            <a:prstGeom prst="rect">
              <a:avLst/>
            </a:prstGeom>
          </p:spPr>
          <p:txBody>
            <a:bodyPr anchor="ctr" rtlCol="false" tIns="50800" lIns="50800" bIns="50800" rIns="50800"/>
            <a:lstStyle/>
            <a:p>
              <a:pPr algn="ctr">
                <a:lnSpc>
                  <a:spcPts val="2659"/>
                </a:lnSpc>
              </a:pPr>
            </a:p>
          </p:txBody>
        </p:sp>
      </p:grpSp>
      <p:sp>
        <p:nvSpPr>
          <p:cNvPr name="TextBox 34" id="34"/>
          <p:cNvSpPr txBox="true"/>
          <p:nvPr/>
        </p:nvSpPr>
        <p:spPr>
          <a:xfrm rot="0">
            <a:off x="1551855" y="1541382"/>
            <a:ext cx="7592145" cy="680085"/>
          </a:xfrm>
          <a:prstGeom prst="rect">
            <a:avLst/>
          </a:prstGeom>
        </p:spPr>
        <p:txBody>
          <a:bodyPr anchor="t" rtlCol="false" tIns="0" lIns="0" bIns="0" rIns="0">
            <a:spAutoFit/>
          </a:bodyPr>
          <a:lstStyle/>
          <a:p>
            <a:pPr algn="l" marL="0" indent="0" lvl="0">
              <a:lnSpc>
                <a:spcPts val="5280"/>
              </a:lnSpc>
              <a:spcBef>
                <a:spcPct val="0"/>
              </a:spcBef>
            </a:pPr>
            <a:r>
              <a:rPr lang="en-US" b="true" sz="4800" strike="noStrike" u="none">
                <a:solidFill>
                  <a:srgbClr val="3D3C42"/>
                </a:solidFill>
                <a:latin typeface="Inter Bold"/>
                <a:ea typeface="Inter Bold"/>
                <a:cs typeface="Inter Bold"/>
                <a:sym typeface="Inter Bold"/>
              </a:rPr>
              <a:t>Recommendations</a:t>
            </a:r>
          </a:p>
        </p:txBody>
      </p:sp>
      <p:sp>
        <p:nvSpPr>
          <p:cNvPr name="TextBox 35" id="35"/>
          <p:cNvSpPr txBox="true"/>
          <p:nvPr/>
        </p:nvSpPr>
        <p:spPr>
          <a:xfrm rot="0">
            <a:off x="1551855" y="2529643"/>
            <a:ext cx="6865859" cy="746760"/>
          </a:xfrm>
          <a:prstGeom prst="rect">
            <a:avLst/>
          </a:prstGeom>
        </p:spPr>
        <p:txBody>
          <a:bodyPr anchor="t" rtlCol="false" tIns="0" lIns="0" bIns="0" rIns="0">
            <a:spAutoFit/>
          </a:bodyPr>
          <a:lstStyle/>
          <a:p>
            <a:pPr algn="l" marL="0" indent="0" lvl="0">
              <a:lnSpc>
                <a:spcPts val="1980"/>
              </a:lnSpc>
              <a:spcBef>
                <a:spcPct val="0"/>
              </a:spcBef>
            </a:pPr>
            <a:r>
              <a:rPr lang="en-US" sz="1800" strike="noStrike" u="none">
                <a:solidFill>
                  <a:srgbClr val="3D3C42"/>
                </a:solidFill>
                <a:latin typeface="Inter"/>
                <a:ea typeface="Inter"/>
                <a:cs typeface="Inter"/>
                <a:sym typeface="Inter"/>
              </a:rPr>
              <a:t>Eight actions ranked by impact. Fix the shipping modes and deploy the alert model first, then clear payment holds and plan capacity.</a:t>
            </a:r>
          </a:p>
        </p:txBody>
      </p:sp>
      <p:sp>
        <p:nvSpPr>
          <p:cNvPr name="TextBox 36" id="36"/>
          <p:cNvSpPr txBox="true"/>
          <p:nvPr/>
        </p:nvSpPr>
        <p:spPr>
          <a:xfrm rot="0">
            <a:off x="4574262" y="4483960"/>
            <a:ext cx="3360943" cy="668020"/>
          </a:xfrm>
          <a:prstGeom prst="rect">
            <a:avLst/>
          </a:prstGeom>
        </p:spPr>
        <p:txBody>
          <a:bodyPr anchor="t" rtlCol="false" tIns="0" lIns="0" bIns="0" rIns="0">
            <a:spAutoFit/>
          </a:bodyPr>
          <a:lstStyle/>
          <a:p>
            <a:pPr algn="l" marL="0" indent="0" lvl="0">
              <a:lnSpc>
                <a:spcPts val="1760"/>
              </a:lnSpc>
              <a:spcBef>
                <a:spcPct val="0"/>
              </a:spcBef>
            </a:pPr>
            <a:r>
              <a:rPr lang="en-US" sz="1600" strike="noStrike" u="none">
                <a:solidFill>
                  <a:srgbClr val="3D3C42"/>
                </a:solidFill>
                <a:latin typeface="Inter"/>
                <a:ea typeface="Inter"/>
                <a:cs typeface="Inter"/>
                <a:sym typeface="Inter"/>
              </a:rPr>
              <a:t>Critical: First Class and Same Day orders are late 100% of the time. Audit carrier SLAs now.</a:t>
            </a:r>
          </a:p>
        </p:txBody>
      </p:sp>
    </p:spTree>
  </p:cSld>
  <p:clrMapOvr>
    <a:masterClrMapping/>
  </p:clrMapOvr>
</p:sld>
</file>

<file path=ppt/slides/slide12.xml><?xml version="1.0" encoding="utf-8"?>
<p:sld xmlns:p="http://schemas.openxmlformats.org/presentationml/2006/main" xmlns:a="http://schemas.openxmlformats.org/drawingml/2006/main">
  <p:cSld>
    <p:bg>
      <p:bgPr>
        <a:solidFill>
          <a:srgbClr val="FEFBF6"/>
        </a:solidFill>
      </p:bgPr>
    </p:bg>
    <p:spTree>
      <p:nvGrpSpPr>
        <p:cNvPr id="1" name=""/>
        <p:cNvGrpSpPr/>
        <p:nvPr/>
      </p:nvGrpSpPr>
      <p:grpSpPr>
        <a:xfrm>
          <a:off x="0" y="0"/>
          <a:ext cx="0" cy="0"/>
          <a:chOff x="0" y="0"/>
          <a:chExt cx="0" cy="0"/>
        </a:xfrm>
      </p:grpSpPr>
      <p:grpSp>
        <p:nvGrpSpPr>
          <p:cNvPr name="Group 2" id="2"/>
          <p:cNvGrpSpPr/>
          <p:nvPr/>
        </p:nvGrpSpPr>
        <p:grpSpPr>
          <a:xfrm rot="0">
            <a:off x="12282932" y="1028700"/>
            <a:ext cx="4976368" cy="8229600"/>
            <a:chOff x="0" y="0"/>
            <a:chExt cx="1731743" cy="2863847"/>
          </a:xfrm>
        </p:grpSpPr>
        <p:sp>
          <p:nvSpPr>
            <p:cNvPr name="Freeform 3" id="3"/>
            <p:cNvSpPr/>
            <p:nvPr/>
          </p:nvSpPr>
          <p:spPr>
            <a:xfrm flipH="false" flipV="false" rot="0">
              <a:off x="0" y="0"/>
              <a:ext cx="1731743" cy="2863847"/>
            </a:xfrm>
            <a:custGeom>
              <a:avLst/>
              <a:gdLst/>
              <a:ahLst/>
              <a:cxnLst/>
              <a:rect r="r" b="b" t="t" l="l"/>
              <a:pathLst>
                <a:path h="2863847" w="1731743">
                  <a:moveTo>
                    <a:pt x="31115" y="0"/>
                  </a:moveTo>
                  <a:lnTo>
                    <a:pt x="1700629" y="0"/>
                  </a:lnTo>
                  <a:cubicBezTo>
                    <a:pt x="1717813" y="0"/>
                    <a:pt x="1731743" y="13931"/>
                    <a:pt x="1731743" y="31115"/>
                  </a:cubicBezTo>
                  <a:lnTo>
                    <a:pt x="1731743" y="2832732"/>
                  </a:lnTo>
                  <a:cubicBezTo>
                    <a:pt x="1731743" y="2849916"/>
                    <a:pt x="1717813" y="2863847"/>
                    <a:pt x="1700629" y="2863847"/>
                  </a:cubicBezTo>
                  <a:lnTo>
                    <a:pt x="31115" y="2863847"/>
                  </a:lnTo>
                  <a:cubicBezTo>
                    <a:pt x="13931" y="2863847"/>
                    <a:pt x="0" y="2849916"/>
                    <a:pt x="0" y="2832732"/>
                  </a:cubicBezTo>
                  <a:lnTo>
                    <a:pt x="0" y="31115"/>
                  </a:lnTo>
                  <a:cubicBezTo>
                    <a:pt x="0" y="13931"/>
                    <a:pt x="13931" y="0"/>
                    <a:pt x="31115" y="0"/>
                  </a:cubicBezTo>
                  <a:close/>
                </a:path>
              </a:pathLst>
            </a:custGeom>
            <a:ln w="38100" cap="sq">
              <a:solidFill>
                <a:srgbClr val="A6D1E6"/>
              </a:solidFill>
              <a:prstDash val="solid"/>
              <a:miter/>
            </a:ln>
          </p:spPr>
        </p:sp>
        <p:sp>
          <p:nvSpPr>
            <p:cNvPr name="TextBox 4" id="4"/>
            <p:cNvSpPr txBox="true"/>
            <p:nvPr/>
          </p:nvSpPr>
          <p:spPr>
            <a:xfrm>
              <a:off x="0" y="-38100"/>
              <a:ext cx="1731743" cy="2901947"/>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028700" y="6207437"/>
            <a:ext cx="3468449" cy="3050863"/>
            <a:chOff x="0" y="0"/>
            <a:chExt cx="1206998" cy="1061680"/>
          </a:xfrm>
        </p:grpSpPr>
        <p:sp>
          <p:nvSpPr>
            <p:cNvPr name="Freeform 6" id="6"/>
            <p:cNvSpPr/>
            <p:nvPr/>
          </p:nvSpPr>
          <p:spPr>
            <a:xfrm flipH="false" flipV="false" rot="0">
              <a:off x="0" y="0"/>
              <a:ext cx="1206998" cy="1061680"/>
            </a:xfrm>
            <a:custGeom>
              <a:avLst/>
              <a:gdLst/>
              <a:ahLst/>
              <a:cxnLst/>
              <a:rect r="r" b="b" t="t" l="l"/>
              <a:pathLst>
                <a:path h="1061680" w="1206998">
                  <a:moveTo>
                    <a:pt x="44642" y="0"/>
                  </a:moveTo>
                  <a:lnTo>
                    <a:pt x="1162356" y="0"/>
                  </a:lnTo>
                  <a:cubicBezTo>
                    <a:pt x="1174195" y="0"/>
                    <a:pt x="1185550" y="4703"/>
                    <a:pt x="1193922" y="13075"/>
                  </a:cubicBezTo>
                  <a:cubicBezTo>
                    <a:pt x="1202294" y="21447"/>
                    <a:pt x="1206998" y="32802"/>
                    <a:pt x="1206998" y="44642"/>
                  </a:cubicBezTo>
                  <a:lnTo>
                    <a:pt x="1206998" y="1017038"/>
                  </a:lnTo>
                  <a:cubicBezTo>
                    <a:pt x="1206998" y="1028878"/>
                    <a:pt x="1202294" y="1040233"/>
                    <a:pt x="1193922" y="1048605"/>
                  </a:cubicBezTo>
                  <a:cubicBezTo>
                    <a:pt x="1185550" y="1056977"/>
                    <a:pt x="1174195" y="1061680"/>
                    <a:pt x="1162356" y="1061680"/>
                  </a:cubicBezTo>
                  <a:lnTo>
                    <a:pt x="44642" y="1061680"/>
                  </a:lnTo>
                  <a:cubicBezTo>
                    <a:pt x="32802" y="1061680"/>
                    <a:pt x="21447" y="1056977"/>
                    <a:pt x="13075" y="1048605"/>
                  </a:cubicBezTo>
                  <a:cubicBezTo>
                    <a:pt x="4703" y="1040233"/>
                    <a:pt x="0" y="1028878"/>
                    <a:pt x="0" y="1017038"/>
                  </a:cubicBezTo>
                  <a:lnTo>
                    <a:pt x="0" y="44642"/>
                  </a:lnTo>
                  <a:cubicBezTo>
                    <a:pt x="0" y="32802"/>
                    <a:pt x="4703" y="21447"/>
                    <a:pt x="13075" y="13075"/>
                  </a:cubicBezTo>
                  <a:cubicBezTo>
                    <a:pt x="21447" y="4703"/>
                    <a:pt x="32802" y="0"/>
                    <a:pt x="44642" y="0"/>
                  </a:cubicBezTo>
                  <a:close/>
                </a:path>
              </a:pathLst>
            </a:custGeom>
            <a:ln w="38100" cap="sq">
              <a:solidFill>
                <a:srgbClr val="A6D1E6"/>
              </a:solidFill>
              <a:prstDash val="solid"/>
              <a:miter/>
            </a:ln>
          </p:spPr>
        </p:sp>
        <p:sp>
          <p:nvSpPr>
            <p:cNvPr name="TextBox 7" id="7"/>
            <p:cNvSpPr txBox="true"/>
            <p:nvPr/>
          </p:nvSpPr>
          <p:spPr>
            <a:xfrm>
              <a:off x="0" y="-38100"/>
              <a:ext cx="1206998" cy="109978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028700" y="2659714"/>
            <a:ext cx="3468449" cy="3328648"/>
            <a:chOff x="0" y="0"/>
            <a:chExt cx="1206998" cy="1158348"/>
          </a:xfrm>
        </p:grpSpPr>
        <p:sp>
          <p:nvSpPr>
            <p:cNvPr name="Freeform 9" id="9"/>
            <p:cNvSpPr/>
            <p:nvPr/>
          </p:nvSpPr>
          <p:spPr>
            <a:xfrm flipH="false" flipV="false" rot="0">
              <a:off x="0" y="0"/>
              <a:ext cx="1206998" cy="1158348"/>
            </a:xfrm>
            <a:custGeom>
              <a:avLst/>
              <a:gdLst/>
              <a:ahLst/>
              <a:cxnLst/>
              <a:rect r="r" b="b" t="t" l="l"/>
              <a:pathLst>
                <a:path h="1158348" w="1206998">
                  <a:moveTo>
                    <a:pt x="44642" y="0"/>
                  </a:moveTo>
                  <a:lnTo>
                    <a:pt x="1162356" y="0"/>
                  </a:lnTo>
                  <a:cubicBezTo>
                    <a:pt x="1174195" y="0"/>
                    <a:pt x="1185550" y="4703"/>
                    <a:pt x="1193922" y="13075"/>
                  </a:cubicBezTo>
                  <a:cubicBezTo>
                    <a:pt x="1202294" y="21447"/>
                    <a:pt x="1206998" y="32802"/>
                    <a:pt x="1206998" y="44642"/>
                  </a:cubicBezTo>
                  <a:lnTo>
                    <a:pt x="1206998" y="1113706"/>
                  </a:lnTo>
                  <a:cubicBezTo>
                    <a:pt x="1206998" y="1125546"/>
                    <a:pt x="1202294" y="1136900"/>
                    <a:pt x="1193922" y="1145272"/>
                  </a:cubicBezTo>
                  <a:cubicBezTo>
                    <a:pt x="1185550" y="1153645"/>
                    <a:pt x="1174195" y="1158348"/>
                    <a:pt x="1162356" y="1158348"/>
                  </a:cubicBezTo>
                  <a:lnTo>
                    <a:pt x="44642" y="1158348"/>
                  </a:lnTo>
                  <a:cubicBezTo>
                    <a:pt x="32802" y="1158348"/>
                    <a:pt x="21447" y="1153645"/>
                    <a:pt x="13075" y="1145272"/>
                  </a:cubicBezTo>
                  <a:cubicBezTo>
                    <a:pt x="4703" y="1136900"/>
                    <a:pt x="0" y="1125546"/>
                    <a:pt x="0" y="1113706"/>
                  </a:cubicBezTo>
                  <a:lnTo>
                    <a:pt x="0" y="44642"/>
                  </a:lnTo>
                  <a:cubicBezTo>
                    <a:pt x="0" y="32802"/>
                    <a:pt x="4703" y="21447"/>
                    <a:pt x="13075" y="13075"/>
                  </a:cubicBezTo>
                  <a:cubicBezTo>
                    <a:pt x="21447" y="4703"/>
                    <a:pt x="32802" y="0"/>
                    <a:pt x="44642" y="0"/>
                  </a:cubicBezTo>
                  <a:close/>
                </a:path>
              </a:pathLst>
            </a:custGeom>
            <a:solidFill>
              <a:srgbClr val="D2E6EE"/>
            </a:solidFill>
            <a:ln w="38100" cap="sq">
              <a:solidFill>
                <a:srgbClr val="A6D1E6"/>
              </a:solidFill>
              <a:prstDash val="solid"/>
              <a:miter/>
            </a:ln>
          </p:spPr>
        </p:sp>
        <p:sp>
          <p:nvSpPr>
            <p:cNvPr name="TextBox 10" id="10"/>
            <p:cNvSpPr txBox="true"/>
            <p:nvPr/>
          </p:nvSpPr>
          <p:spPr>
            <a:xfrm>
              <a:off x="0" y="-38100"/>
              <a:ext cx="1206998" cy="1196448"/>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4763225" y="6814183"/>
            <a:ext cx="7253632" cy="2444117"/>
            <a:chOff x="0" y="0"/>
            <a:chExt cx="2524217" cy="850537"/>
          </a:xfrm>
        </p:grpSpPr>
        <p:sp>
          <p:nvSpPr>
            <p:cNvPr name="Freeform 12" id="12"/>
            <p:cNvSpPr/>
            <p:nvPr/>
          </p:nvSpPr>
          <p:spPr>
            <a:xfrm flipH="false" flipV="false" rot="0">
              <a:off x="0" y="0"/>
              <a:ext cx="2524217" cy="850537"/>
            </a:xfrm>
            <a:custGeom>
              <a:avLst/>
              <a:gdLst/>
              <a:ahLst/>
              <a:cxnLst/>
              <a:rect r="r" b="b" t="t" l="l"/>
              <a:pathLst>
                <a:path h="850537" w="2524217">
                  <a:moveTo>
                    <a:pt x="21346" y="0"/>
                  </a:moveTo>
                  <a:lnTo>
                    <a:pt x="2502870" y="0"/>
                  </a:lnTo>
                  <a:cubicBezTo>
                    <a:pt x="2514659" y="0"/>
                    <a:pt x="2524217" y="9557"/>
                    <a:pt x="2524217" y="21346"/>
                  </a:cubicBezTo>
                  <a:lnTo>
                    <a:pt x="2524217" y="829190"/>
                  </a:lnTo>
                  <a:cubicBezTo>
                    <a:pt x="2524217" y="840980"/>
                    <a:pt x="2514659" y="850537"/>
                    <a:pt x="2502870" y="850537"/>
                  </a:cubicBezTo>
                  <a:lnTo>
                    <a:pt x="21346" y="850537"/>
                  </a:lnTo>
                  <a:cubicBezTo>
                    <a:pt x="9557" y="850537"/>
                    <a:pt x="0" y="840980"/>
                    <a:pt x="0" y="829190"/>
                  </a:cubicBezTo>
                  <a:lnTo>
                    <a:pt x="0" y="21346"/>
                  </a:lnTo>
                  <a:cubicBezTo>
                    <a:pt x="0" y="9557"/>
                    <a:pt x="9557" y="0"/>
                    <a:pt x="21346" y="0"/>
                  </a:cubicBezTo>
                  <a:close/>
                </a:path>
              </a:pathLst>
            </a:custGeom>
            <a:ln w="38100" cap="sq">
              <a:solidFill>
                <a:srgbClr val="A6D1E6"/>
              </a:solidFill>
              <a:prstDash val="solid"/>
              <a:miter/>
            </a:ln>
          </p:spPr>
        </p:sp>
        <p:sp>
          <p:nvSpPr>
            <p:cNvPr name="TextBox 13" id="13"/>
            <p:cNvSpPr txBox="true"/>
            <p:nvPr/>
          </p:nvSpPr>
          <p:spPr>
            <a:xfrm>
              <a:off x="0" y="-38100"/>
              <a:ext cx="2524217" cy="888637"/>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0">
            <a:off x="4763225" y="2659714"/>
            <a:ext cx="7253632" cy="3950566"/>
            <a:chOff x="0" y="0"/>
            <a:chExt cx="2524217" cy="1374771"/>
          </a:xfrm>
        </p:grpSpPr>
        <p:sp>
          <p:nvSpPr>
            <p:cNvPr name="Freeform 15" id="15"/>
            <p:cNvSpPr/>
            <p:nvPr/>
          </p:nvSpPr>
          <p:spPr>
            <a:xfrm flipH="false" flipV="false" rot="0">
              <a:off x="0" y="0"/>
              <a:ext cx="2524217" cy="1374771"/>
            </a:xfrm>
            <a:custGeom>
              <a:avLst/>
              <a:gdLst/>
              <a:ahLst/>
              <a:cxnLst/>
              <a:rect r="r" b="b" t="t" l="l"/>
              <a:pathLst>
                <a:path h="1374771" w="2524217">
                  <a:moveTo>
                    <a:pt x="21346" y="0"/>
                  </a:moveTo>
                  <a:lnTo>
                    <a:pt x="2502870" y="0"/>
                  </a:lnTo>
                  <a:cubicBezTo>
                    <a:pt x="2514659" y="0"/>
                    <a:pt x="2524217" y="9557"/>
                    <a:pt x="2524217" y="21346"/>
                  </a:cubicBezTo>
                  <a:lnTo>
                    <a:pt x="2524217" y="1353425"/>
                  </a:lnTo>
                  <a:cubicBezTo>
                    <a:pt x="2524217" y="1365214"/>
                    <a:pt x="2514659" y="1374771"/>
                    <a:pt x="2502870" y="1374771"/>
                  </a:cubicBezTo>
                  <a:lnTo>
                    <a:pt x="21346" y="1374771"/>
                  </a:lnTo>
                  <a:cubicBezTo>
                    <a:pt x="9557" y="1374771"/>
                    <a:pt x="0" y="1365214"/>
                    <a:pt x="0" y="1353425"/>
                  </a:cubicBezTo>
                  <a:lnTo>
                    <a:pt x="0" y="21346"/>
                  </a:lnTo>
                  <a:cubicBezTo>
                    <a:pt x="0" y="9557"/>
                    <a:pt x="9557" y="0"/>
                    <a:pt x="21346" y="0"/>
                  </a:cubicBezTo>
                  <a:close/>
                </a:path>
              </a:pathLst>
            </a:custGeom>
            <a:ln w="38100" cap="sq">
              <a:solidFill>
                <a:srgbClr val="A6D1E6"/>
              </a:solidFill>
              <a:prstDash val="solid"/>
              <a:miter/>
            </a:ln>
          </p:spPr>
        </p:sp>
        <p:sp>
          <p:nvSpPr>
            <p:cNvPr name="TextBox 16" id="16"/>
            <p:cNvSpPr txBox="true"/>
            <p:nvPr/>
          </p:nvSpPr>
          <p:spPr>
            <a:xfrm>
              <a:off x="0" y="-38100"/>
              <a:ext cx="2524217" cy="1412871"/>
            </a:xfrm>
            <a:prstGeom prst="rect">
              <a:avLst/>
            </a:prstGeom>
          </p:spPr>
          <p:txBody>
            <a:bodyPr anchor="ctr" rtlCol="false" tIns="50800" lIns="50800" bIns="50800" rIns="50800"/>
            <a:lstStyle/>
            <a:p>
              <a:pPr algn="ctr">
                <a:lnSpc>
                  <a:spcPts val="2659"/>
                </a:lnSpc>
              </a:pPr>
            </a:p>
          </p:txBody>
        </p:sp>
      </p:grpSp>
      <p:sp>
        <p:nvSpPr>
          <p:cNvPr name="AutoShape 17" id="17"/>
          <p:cNvSpPr/>
          <p:nvPr/>
        </p:nvSpPr>
        <p:spPr>
          <a:xfrm>
            <a:off x="12694530" y="3611981"/>
            <a:ext cx="4128512" cy="0"/>
          </a:xfrm>
          <a:prstGeom prst="line">
            <a:avLst/>
          </a:prstGeom>
          <a:ln cap="rnd" w="19050">
            <a:solidFill>
              <a:srgbClr val="A6D1E6"/>
            </a:solidFill>
            <a:prstDash val="solid"/>
            <a:headEnd type="none" len="sm" w="sm"/>
            <a:tailEnd type="none" len="sm" w="sm"/>
          </a:ln>
        </p:spPr>
      </p:sp>
      <p:sp>
        <p:nvSpPr>
          <p:cNvPr name="AutoShape 18" id="18"/>
          <p:cNvSpPr/>
          <p:nvPr/>
        </p:nvSpPr>
        <p:spPr>
          <a:xfrm>
            <a:off x="12706860" y="6430378"/>
            <a:ext cx="4128512" cy="0"/>
          </a:xfrm>
          <a:prstGeom prst="line">
            <a:avLst/>
          </a:prstGeom>
          <a:ln cap="rnd" w="19050">
            <a:solidFill>
              <a:srgbClr val="A6D1E6"/>
            </a:solidFill>
            <a:prstDash val="solid"/>
            <a:headEnd type="none" len="sm" w="sm"/>
            <a:tailEnd type="none" len="sm" w="sm"/>
          </a:ln>
        </p:spPr>
      </p:sp>
      <p:sp>
        <p:nvSpPr>
          <p:cNvPr name="TextBox 19" id="19"/>
          <p:cNvSpPr txBox="true"/>
          <p:nvPr/>
        </p:nvSpPr>
        <p:spPr>
          <a:xfrm rot="0">
            <a:off x="1028700" y="1076325"/>
            <a:ext cx="11254232" cy="680085"/>
          </a:xfrm>
          <a:prstGeom prst="rect">
            <a:avLst/>
          </a:prstGeom>
        </p:spPr>
        <p:txBody>
          <a:bodyPr anchor="t" rtlCol="false" tIns="0" lIns="0" bIns="0" rIns="0">
            <a:spAutoFit/>
          </a:bodyPr>
          <a:lstStyle/>
          <a:p>
            <a:pPr algn="l" marL="0" indent="0" lvl="0">
              <a:lnSpc>
                <a:spcPts val="5280"/>
              </a:lnSpc>
              <a:spcBef>
                <a:spcPct val="0"/>
              </a:spcBef>
            </a:pPr>
            <a:r>
              <a:rPr lang="en-US" b="true" sz="4800" strike="noStrike" u="none">
                <a:solidFill>
                  <a:srgbClr val="3D3C42"/>
                </a:solidFill>
                <a:latin typeface="Inter Bold"/>
                <a:ea typeface="Inter Bold"/>
                <a:cs typeface="Inter Bold"/>
                <a:sym typeface="Inter Bold"/>
              </a:rPr>
              <a:t>Conclusion &amp; Targets</a:t>
            </a:r>
          </a:p>
        </p:txBody>
      </p:sp>
      <p:sp>
        <p:nvSpPr>
          <p:cNvPr name="TextBox 20" id="20"/>
          <p:cNvSpPr txBox="true"/>
          <p:nvPr/>
        </p:nvSpPr>
        <p:spPr>
          <a:xfrm rot="0">
            <a:off x="12719190" y="1463040"/>
            <a:ext cx="4103852" cy="293370"/>
          </a:xfrm>
          <a:prstGeom prst="rect">
            <a:avLst/>
          </a:prstGeom>
        </p:spPr>
        <p:txBody>
          <a:bodyPr anchor="t" rtlCol="false" tIns="0" lIns="0" bIns="0" rIns="0">
            <a:spAutoFit/>
          </a:bodyPr>
          <a:lstStyle/>
          <a:p>
            <a:pPr algn="l" marL="0" indent="0" lvl="0">
              <a:lnSpc>
                <a:spcPts val="2310"/>
              </a:lnSpc>
              <a:spcBef>
                <a:spcPct val="0"/>
              </a:spcBef>
            </a:pPr>
            <a:r>
              <a:rPr lang="en-US" b="true" sz="2100" strike="noStrike" u="none">
                <a:solidFill>
                  <a:srgbClr val="3D3C42"/>
                </a:solidFill>
                <a:latin typeface="Inter Bold"/>
                <a:ea typeface="Inter Bold"/>
                <a:cs typeface="Inter Bold"/>
                <a:sym typeface="Inter Bold"/>
              </a:rPr>
              <a:t>First Class On-Time</a:t>
            </a:r>
          </a:p>
        </p:txBody>
      </p:sp>
      <p:sp>
        <p:nvSpPr>
          <p:cNvPr name="TextBox 21" id="21"/>
          <p:cNvSpPr txBox="true"/>
          <p:nvPr/>
        </p:nvSpPr>
        <p:spPr>
          <a:xfrm rot="0">
            <a:off x="12694530" y="2213021"/>
            <a:ext cx="1470848" cy="450215"/>
          </a:xfrm>
          <a:prstGeom prst="rect">
            <a:avLst/>
          </a:prstGeom>
        </p:spPr>
        <p:txBody>
          <a:bodyPr anchor="t" rtlCol="false" tIns="0" lIns="0" bIns="0" rIns="0">
            <a:spAutoFit/>
          </a:bodyPr>
          <a:lstStyle/>
          <a:p>
            <a:pPr algn="l" marL="0" indent="0" lvl="0">
              <a:lnSpc>
                <a:spcPts val="3520"/>
              </a:lnSpc>
              <a:spcBef>
                <a:spcPct val="0"/>
              </a:spcBef>
            </a:pPr>
            <a:r>
              <a:rPr lang="en-US" sz="3200" strike="noStrike" u="none">
                <a:solidFill>
                  <a:srgbClr val="7F5283"/>
                </a:solidFill>
                <a:latin typeface="Inter"/>
                <a:ea typeface="Inter"/>
                <a:cs typeface="Inter"/>
                <a:sym typeface="Inter"/>
              </a:rPr>
              <a:t>&gt;80%</a:t>
            </a:r>
          </a:p>
        </p:txBody>
      </p:sp>
      <p:sp>
        <p:nvSpPr>
          <p:cNvPr name="TextBox 22" id="22"/>
          <p:cNvSpPr txBox="true"/>
          <p:nvPr/>
        </p:nvSpPr>
        <p:spPr>
          <a:xfrm rot="0">
            <a:off x="14165377" y="2203496"/>
            <a:ext cx="2210700" cy="499110"/>
          </a:xfrm>
          <a:prstGeom prst="rect">
            <a:avLst/>
          </a:prstGeom>
        </p:spPr>
        <p:txBody>
          <a:bodyPr anchor="t" rtlCol="false" tIns="0" lIns="0" bIns="0" rIns="0">
            <a:spAutoFit/>
          </a:bodyPr>
          <a:lstStyle/>
          <a:p>
            <a:pPr algn="l" marL="0" indent="0" lvl="0">
              <a:lnSpc>
                <a:spcPts val="1980"/>
              </a:lnSpc>
              <a:spcBef>
                <a:spcPct val="0"/>
              </a:spcBef>
            </a:pPr>
            <a:r>
              <a:rPr lang="en-US" sz="1800" strike="noStrike" u="none">
                <a:solidFill>
                  <a:srgbClr val="3D3C42"/>
                </a:solidFill>
                <a:latin typeface="Inter"/>
                <a:ea typeface="Inter"/>
                <a:cs typeface="Inter"/>
                <a:sym typeface="Inter"/>
              </a:rPr>
              <a:t>target, up from 0% today</a:t>
            </a:r>
          </a:p>
        </p:txBody>
      </p:sp>
      <p:sp>
        <p:nvSpPr>
          <p:cNvPr name="TextBox 23" id="23"/>
          <p:cNvSpPr txBox="true"/>
          <p:nvPr/>
        </p:nvSpPr>
        <p:spPr>
          <a:xfrm rot="0">
            <a:off x="12731521" y="4281437"/>
            <a:ext cx="4103852" cy="293370"/>
          </a:xfrm>
          <a:prstGeom prst="rect">
            <a:avLst/>
          </a:prstGeom>
        </p:spPr>
        <p:txBody>
          <a:bodyPr anchor="t" rtlCol="false" tIns="0" lIns="0" bIns="0" rIns="0">
            <a:spAutoFit/>
          </a:bodyPr>
          <a:lstStyle/>
          <a:p>
            <a:pPr algn="l" marL="0" indent="0" lvl="0">
              <a:lnSpc>
                <a:spcPts val="2310"/>
              </a:lnSpc>
              <a:spcBef>
                <a:spcPct val="0"/>
              </a:spcBef>
            </a:pPr>
            <a:r>
              <a:rPr lang="en-US" b="true" sz="2100" strike="noStrike" u="none">
                <a:solidFill>
                  <a:srgbClr val="3D3C42"/>
                </a:solidFill>
                <a:latin typeface="Inter Bold"/>
                <a:ea typeface="Inter Bold"/>
                <a:cs typeface="Inter Bold"/>
                <a:sym typeface="Inter Bold"/>
              </a:rPr>
              <a:t>Second Class On-Time</a:t>
            </a:r>
          </a:p>
        </p:txBody>
      </p:sp>
      <p:sp>
        <p:nvSpPr>
          <p:cNvPr name="TextBox 24" id="24"/>
          <p:cNvSpPr txBox="true"/>
          <p:nvPr/>
        </p:nvSpPr>
        <p:spPr>
          <a:xfrm rot="0">
            <a:off x="12706860" y="5031418"/>
            <a:ext cx="1470848" cy="450215"/>
          </a:xfrm>
          <a:prstGeom prst="rect">
            <a:avLst/>
          </a:prstGeom>
        </p:spPr>
        <p:txBody>
          <a:bodyPr anchor="t" rtlCol="false" tIns="0" lIns="0" bIns="0" rIns="0">
            <a:spAutoFit/>
          </a:bodyPr>
          <a:lstStyle/>
          <a:p>
            <a:pPr algn="l" marL="0" indent="0" lvl="0">
              <a:lnSpc>
                <a:spcPts val="3520"/>
              </a:lnSpc>
              <a:spcBef>
                <a:spcPct val="0"/>
              </a:spcBef>
            </a:pPr>
            <a:r>
              <a:rPr lang="en-US" sz="3200" strike="noStrike" u="none">
                <a:solidFill>
                  <a:srgbClr val="7F5283"/>
                </a:solidFill>
                <a:latin typeface="Inter"/>
                <a:ea typeface="Inter"/>
                <a:cs typeface="Inter"/>
                <a:sym typeface="Inter"/>
              </a:rPr>
              <a:t>&gt;60%</a:t>
            </a:r>
          </a:p>
        </p:txBody>
      </p:sp>
      <p:sp>
        <p:nvSpPr>
          <p:cNvPr name="TextBox 25" id="25"/>
          <p:cNvSpPr txBox="true"/>
          <p:nvPr/>
        </p:nvSpPr>
        <p:spPr>
          <a:xfrm rot="0">
            <a:off x="14177707" y="5021893"/>
            <a:ext cx="2210700" cy="499110"/>
          </a:xfrm>
          <a:prstGeom prst="rect">
            <a:avLst/>
          </a:prstGeom>
        </p:spPr>
        <p:txBody>
          <a:bodyPr anchor="t" rtlCol="false" tIns="0" lIns="0" bIns="0" rIns="0">
            <a:spAutoFit/>
          </a:bodyPr>
          <a:lstStyle/>
          <a:p>
            <a:pPr algn="l" marL="0" indent="0" lvl="0">
              <a:lnSpc>
                <a:spcPts val="1980"/>
              </a:lnSpc>
              <a:spcBef>
                <a:spcPct val="0"/>
              </a:spcBef>
            </a:pPr>
            <a:r>
              <a:rPr lang="en-US" sz="1800" strike="noStrike" u="none">
                <a:solidFill>
                  <a:srgbClr val="3D3C42"/>
                </a:solidFill>
                <a:latin typeface="Inter"/>
                <a:ea typeface="Inter"/>
                <a:cs typeface="Inter"/>
                <a:sym typeface="Inter"/>
              </a:rPr>
              <a:t>target, up from 20.2% today</a:t>
            </a:r>
          </a:p>
        </p:txBody>
      </p:sp>
      <p:sp>
        <p:nvSpPr>
          <p:cNvPr name="TextBox 26" id="26"/>
          <p:cNvSpPr txBox="true"/>
          <p:nvPr/>
        </p:nvSpPr>
        <p:spPr>
          <a:xfrm rot="0">
            <a:off x="12731521" y="7099834"/>
            <a:ext cx="4103852" cy="293370"/>
          </a:xfrm>
          <a:prstGeom prst="rect">
            <a:avLst/>
          </a:prstGeom>
        </p:spPr>
        <p:txBody>
          <a:bodyPr anchor="t" rtlCol="false" tIns="0" lIns="0" bIns="0" rIns="0">
            <a:spAutoFit/>
          </a:bodyPr>
          <a:lstStyle/>
          <a:p>
            <a:pPr algn="l" marL="0" indent="0" lvl="0">
              <a:lnSpc>
                <a:spcPts val="2310"/>
              </a:lnSpc>
              <a:spcBef>
                <a:spcPct val="0"/>
              </a:spcBef>
            </a:pPr>
            <a:r>
              <a:rPr lang="en-US" b="true" sz="2100" strike="noStrike" u="none">
                <a:solidFill>
                  <a:srgbClr val="3D3C42"/>
                </a:solidFill>
                <a:latin typeface="Inter Bold"/>
                <a:ea typeface="Inter Bold"/>
                <a:cs typeface="Inter Bold"/>
                <a:sym typeface="Inter Bold"/>
              </a:rPr>
              <a:t>Profit at Risk</a:t>
            </a:r>
          </a:p>
        </p:txBody>
      </p:sp>
      <p:sp>
        <p:nvSpPr>
          <p:cNvPr name="TextBox 27" id="27"/>
          <p:cNvSpPr txBox="true"/>
          <p:nvPr/>
        </p:nvSpPr>
        <p:spPr>
          <a:xfrm rot="0">
            <a:off x="12706860" y="7849814"/>
            <a:ext cx="1470848" cy="450215"/>
          </a:xfrm>
          <a:prstGeom prst="rect">
            <a:avLst/>
          </a:prstGeom>
        </p:spPr>
        <p:txBody>
          <a:bodyPr anchor="t" rtlCol="false" tIns="0" lIns="0" bIns="0" rIns="0">
            <a:spAutoFit/>
          </a:bodyPr>
          <a:lstStyle/>
          <a:p>
            <a:pPr algn="l" marL="0" indent="0" lvl="0">
              <a:lnSpc>
                <a:spcPts val="3520"/>
              </a:lnSpc>
              <a:spcBef>
                <a:spcPct val="0"/>
              </a:spcBef>
            </a:pPr>
            <a:r>
              <a:rPr lang="en-US" sz="3200" strike="noStrike" u="none">
                <a:solidFill>
                  <a:srgbClr val="7F5283"/>
                </a:solidFill>
                <a:latin typeface="Inter"/>
                <a:ea typeface="Inter"/>
                <a:cs typeface="Inter"/>
                <a:sym typeface="Inter"/>
              </a:rPr>
              <a:t>-40%</a:t>
            </a:r>
          </a:p>
        </p:txBody>
      </p:sp>
      <p:sp>
        <p:nvSpPr>
          <p:cNvPr name="TextBox 28" id="28"/>
          <p:cNvSpPr txBox="true"/>
          <p:nvPr/>
        </p:nvSpPr>
        <p:spPr>
          <a:xfrm rot="0">
            <a:off x="14177707" y="7840289"/>
            <a:ext cx="2210700" cy="499110"/>
          </a:xfrm>
          <a:prstGeom prst="rect">
            <a:avLst/>
          </a:prstGeom>
        </p:spPr>
        <p:txBody>
          <a:bodyPr anchor="t" rtlCol="false" tIns="0" lIns="0" bIns="0" rIns="0">
            <a:spAutoFit/>
          </a:bodyPr>
          <a:lstStyle/>
          <a:p>
            <a:pPr algn="l" marL="0" indent="0" lvl="0">
              <a:lnSpc>
                <a:spcPts val="1980"/>
              </a:lnSpc>
              <a:spcBef>
                <a:spcPct val="0"/>
              </a:spcBef>
            </a:pPr>
            <a:r>
              <a:rPr lang="en-US" sz="1800" strike="noStrike" u="none">
                <a:solidFill>
                  <a:srgbClr val="3D3C42"/>
                </a:solidFill>
                <a:latin typeface="Inter"/>
                <a:ea typeface="Inter"/>
                <a:cs typeface="Inter"/>
                <a:sym typeface="Inter"/>
              </a:rPr>
              <a:t>target, from $2.2M today</a:t>
            </a:r>
          </a:p>
        </p:txBody>
      </p:sp>
      <p:sp>
        <p:nvSpPr>
          <p:cNvPr name="TextBox 29" id="29"/>
          <p:cNvSpPr txBox="true"/>
          <p:nvPr/>
        </p:nvSpPr>
        <p:spPr>
          <a:xfrm rot="0">
            <a:off x="5040148" y="3036671"/>
            <a:ext cx="4103852" cy="293370"/>
          </a:xfrm>
          <a:prstGeom prst="rect">
            <a:avLst/>
          </a:prstGeom>
        </p:spPr>
        <p:txBody>
          <a:bodyPr anchor="t" rtlCol="false" tIns="0" lIns="0" bIns="0" rIns="0">
            <a:spAutoFit/>
          </a:bodyPr>
          <a:lstStyle/>
          <a:p>
            <a:pPr algn="l" marL="0" indent="0" lvl="0">
              <a:lnSpc>
                <a:spcPts val="2310"/>
              </a:lnSpc>
              <a:spcBef>
                <a:spcPct val="0"/>
              </a:spcBef>
            </a:pPr>
            <a:r>
              <a:rPr lang="en-US" b="true" sz="2100" strike="noStrike" u="none">
                <a:solidFill>
                  <a:srgbClr val="3D3C42"/>
                </a:solidFill>
                <a:latin typeface="Inter Bold"/>
                <a:ea typeface="Inter Bold"/>
                <a:cs typeface="Inter Bold"/>
                <a:sym typeface="Inter Bold"/>
              </a:rPr>
              <a:t>Conclusion</a:t>
            </a:r>
          </a:p>
        </p:txBody>
      </p:sp>
      <p:sp>
        <p:nvSpPr>
          <p:cNvPr name="TextBox 30" id="30"/>
          <p:cNvSpPr txBox="true"/>
          <p:nvPr/>
        </p:nvSpPr>
        <p:spPr>
          <a:xfrm rot="0">
            <a:off x="1028700" y="3022489"/>
            <a:ext cx="3467825" cy="293370"/>
          </a:xfrm>
          <a:prstGeom prst="rect">
            <a:avLst/>
          </a:prstGeom>
        </p:spPr>
        <p:txBody>
          <a:bodyPr anchor="t" rtlCol="false" tIns="0" lIns="0" bIns="0" rIns="0">
            <a:spAutoFit/>
          </a:bodyPr>
          <a:lstStyle/>
          <a:p>
            <a:pPr algn="ctr" marL="0" indent="0" lvl="0">
              <a:lnSpc>
                <a:spcPts val="2310"/>
              </a:lnSpc>
              <a:spcBef>
                <a:spcPct val="0"/>
              </a:spcBef>
            </a:pPr>
            <a:r>
              <a:rPr lang="en-US" b="true" sz="2100" strike="noStrike" u="none">
                <a:solidFill>
                  <a:srgbClr val="3D3C42"/>
                </a:solidFill>
                <a:latin typeface="Inter Bold"/>
                <a:ea typeface="Inter Bold"/>
                <a:cs typeface="Inter Bold"/>
                <a:sym typeface="Inter Bold"/>
              </a:rPr>
              <a:t>Late Delivery Rate</a:t>
            </a:r>
          </a:p>
        </p:txBody>
      </p:sp>
      <p:sp>
        <p:nvSpPr>
          <p:cNvPr name="TextBox 31" id="31"/>
          <p:cNvSpPr txBox="true"/>
          <p:nvPr/>
        </p:nvSpPr>
        <p:spPr>
          <a:xfrm rot="0">
            <a:off x="5153025" y="8191500"/>
            <a:ext cx="2857500" cy="499110"/>
          </a:xfrm>
          <a:prstGeom prst="rect">
            <a:avLst/>
          </a:prstGeom>
        </p:spPr>
        <p:txBody>
          <a:bodyPr anchor="t" rtlCol="false" tIns="0" lIns="0" bIns="0" rIns="0">
            <a:spAutoFit/>
          </a:bodyPr>
          <a:lstStyle/>
          <a:p>
            <a:pPr algn="ctr" marL="0" indent="0" lvl="0">
              <a:lnSpc>
                <a:spcPts val="1980"/>
              </a:lnSpc>
              <a:spcBef>
                <a:spcPct val="0"/>
              </a:spcBef>
            </a:pPr>
            <a:r>
              <a:rPr lang="en-US" sz="1800" strike="noStrike" u="none">
                <a:solidFill>
                  <a:srgbClr val="3D3C42"/>
                </a:solidFill>
                <a:latin typeface="Inter"/>
                <a:ea typeface="Inter"/>
                <a:cs typeface="Inter"/>
                <a:sym typeface="Inter"/>
              </a:rPr>
              <a:t>model accuracy target (now 77%)</a:t>
            </a:r>
          </a:p>
        </p:txBody>
      </p:sp>
      <p:sp>
        <p:nvSpPr>
          <p:cNvPr name="TextBox 32" id="32"/>
          <p:cNvSpPr txBox="true"/>
          <p:nvPr/>
        </p:nvSpPr>
        <p:spPr>
          <a:xfrm rot="0">
            <a:off x="8763000" y="8191500"/>
            <a:ext cx="2857500" cy="499110"/>
          </a:xfrm>
          <a:prstGeom prst="rect">
            <a:avLst/>
          </a:prstGeom>
        </p:spPr>
        <p:txBody>
          <a:bodyPr anchor="t" rtlCol="false" tIns="0" lIns="0" bIns="0" rIns="0">
            <a:spAutoFit/>
          </a:bodyPr>
          <a:lstStyle/>
          <a:p>
            <a:pPr algn="ctr" marL="0" indent="0" lvl="0">
              <a:lnSpc>
                <a:spcPts val="1980"/>
              </a:lnSpc>
              <a:spcBef>
                <a:spcPct val="0"/>
              </a:spcBef>
            </a:pPr>
            <a:r>
              <a:rPr lang="en-US" sz="1800" strike="noStrike" u="none">
                <a:solidFill>
                  <a:srgbClr val="3D3C42"/>
                </a:solidFill>
                <a:latin typeface="Inter"/>
                <a:ea typeface="Inter"/>
                <a:cs typeface="Inter"/>
                <a:sym typeface="Inter"/>
              </a:rPr>
              <a:t>loss-making orders target (now 18.7%)</a:t>
            </a:r>
          </a:p>
        </p:txBody>
      </p:sp>
      <p:sp>
        <p:nvSpPr>
          <p:cNvPr name="TextBox 33" id="33"/>
          <p:cNvSpPr txBox="true"/>
          <p:nvPr/>
        </p:nvSpPr>
        <p:spPr>
          <a:xfrm rot="0">
            <a:off x="1333500" y="5238750"/>
            <a:ext cx="2857500" cy="499110"/>
          </a:xfrm>
          <a:prstGeom prst="rect">
            <a:avLst/>
          </a:prstGeom>
        </p:spPr>
        <p:txBody>
          <a:bodyPr anchor="t" rtlCol="false" tIns="0" lIns="0" bIns="0" rIns="0">
            <a:spAutoFit/>
          </a:bodyPr>
          <a:lstStyle/>
          <a:p>
            <a:pPr algn="ctr" marL="0" indent="0" lvl="0">
              <a:lnSpc>
                <a:spcPts val="1980"/>
              </a:lnSpc>
              <a:spcBef>
                <a:spcPct val="0"/>
              </a:spcBef>
            </a:pPr>
            <a:r>
              <a:rPr lang="en-US" sz="1800" strike="noStrike" u="none">
                <a:solidFill>
                  <a:srgbClr val="3D3C42"/>
                </a:solidFill>
                <a:latin typeface="Inter"/>
                <a:ea typeface="Inter"/>
                <a:cs typeface="Inter"/>
                <a:sym typeface="Inter"/>
              </a:rPr>
              <a:t>target in 12 months, down from 60.09%</a:t>
            </a:r>
          </a:p>
        </p:txBody>
      </p:sp>
      <p:sp>
        <p:nvSpPr>
          <p:cNvPr name="TextBox 34" id="34"/>
          <p:cNvSpPr txBox="true"/>
          <p:nvPr/>
        </p:nvSpPr>
        <p:spPr>
          <a:xfrm rot="0">
            <a:off x="1327942" y="7302393"/>
            <a:ext cx="2869964" cy="994410"/>
          </a:xfrm>
          <a:prstGeom prst="rect">
            <a:avLst/>
          </a:prstGeom>
        </p:spPr>
        <p:txBody>
          <a:bodyPr anchor="t" rtlCol="false" tIns="0" lIns="0" bIns="0" rIns="0">
            <a:spAutoFit/>
          </a:bodyPr>
          <a:lstStyle/>
          <a:p>
            <a:pPr algn="l" marL="0" indent="0" lvl="0">
              <a:lnSpc>
                <a:spcPts val="1980"/>
              </a:lnSpc>
              <a:spcBef>
                <a:spcPct val="0"/>
              </a:spcBef>
            </a:pPr>
            <a:r>
              <a:rPr lang="en-US" sz="1800" strike="noStrike" u="none">
                <a:solidFill>
                  <a:srgbClr val="3D3C42"/>
                </a:solidFill>
                <a:latin typeface="Inter"/>
                <a:ea typeface="Inter"/>
                <a:cs typeface="Inter"/>
                <a:sym typeface="Inter"/>
              </a:rPr>
              <a:t>The causes are clear and fixable: shipping-mode setup first, payment holds second.</a:t>
            </a:r>
          </a:p>
        </p:txBody>
      </p:sp>
      <p:sp>
        <p:nvSpPr>
          <p:cNvPr name="TextBox 35" id="35"/>
          <p:cNvSpPr txBox="true"/>
          <p:nvPr/>
        </p:nvSpPr>
        <p:spPr>
          <a:xfrm rot="0">
            <a:off x="1028700" y="3886200"/>
            <a:ext cx="3467100" cy="885825"/>
          </a:xfrm>
          <a:prstGeom prst="rect">
            <a:avLst/>
          </a:prstGeom>
        </p:spPr>
        <p:txBody>
          <a:bodyPr anchor="t" rtlCol="false" tIns="0" lIns="0" bIns="0" rIns="0">
            <a:spAutoFit/>
          </a:bodyPr>
          <a:lstStyle/>
          <a:p>
            <a:pPr algn="ctr">
              <a:lnSpc>
                <a:spcPts val="6600"/>
              </a:lnSpc>
            </a:pPr>
            <a:r>
              <a:rPr lang="en-US" sz="6000" b="true">
                <a:solidFill>
                  <a:srgbClr val="7F5283"/>
                </a:solidFill>
                <a:latin typeface="Arimo Bold"/>
                <a:ea typeface="Arimo Bold"/>
                <a:cs typeface="Arimo Bold"/>
                <a:sym typeface="Arimo Bold"/>
              </a:rPr>
              <a:t>&lt;30%</a:t>
            </a:r>
          </a:p>
        </p:txBody>
      </p:sp>
      <p:sp>
        <p:nvSpPr>
          <p:cNvPr name="TextBox 36" id="36"/>
          <p:cNvSpPr txBox="true"/>
          <p:nvPr/>
        </p:nvSpPr>
        <p:spPr>
          <a:xfrm rot="0">
            <a:off x="5038725" y="3524250"/>
            <a:ext cx="6667500" cy="2010727"/>
          </a:xfrm>
          <a:prstGeom prst="rect">
            <a:avLst/>
          </a:prstGeom>
        </p:spPr>
        <p:txBody>
          <a:bodyPr anchor="t" rtlCol="false" tIns="0" lIns="0" bIns="0" rIns="0">
            <a:spAutoFit/>
          </a:bodyPr>
          <a:lstStyle/>
          <a:p>
            <a:pPr algn="l">
              <a:lnSpc>
                <a:spcPts val="2632"/>
              </a:lnSpc>
            </a:pPr>
            <a:r>
              <a:rPr lang="en-US" sz="1950">
                <a:solidFill>
                  <a:srgbClr val="3D3C42"/>
                </a:solidFill>
                <a:latin typeface="Arimo"/>
                <a:ea typeface="Arimo"/>
                <a:cs typeface="Arimo"/>
                <a:sym typeface="Arimo"/>
              </a:rPr>
              <a:t>60.09% of orders miss their delivery window, putting $2.2M of profit at risk. Shipping-mode misconfiguration is the dominant failure, payment holds are a secondary bottleneck, and timing effects are small. The Random Forest model already flags late orders with 77% accuracy, so it can be piloted now.</a:t>
            </a:r>
          </a:p>
        </p:txBody>
      </p:sp>
      <p:sp>
        <p:nvSpPr>
          <p:cNvPr name="TextBox 37" id="37"/>
          <p:cNvSpPr txBox="true"/>
          <p:nvPr/>
        </p:nvSpPr>
        <p:spPr>
          <a:xfrm rot="0">
            <a:off x="5153025" y="7267575"/>
            <a:ext cx="2857500" cy="699135"/>
          </a:xfrm>
          <a:prstGeom prst="rect">
            <a:avLst/>
          </a:prstGeom>
        </p:spPr>
        <p:txBody>
          <a:bodyPr anchor="t" rtlCol="false" tIns="0" lIns="0" bIns="0" rIns="0">
            <a:spAutoFit/>
          </a:bodyPr>
          <a:lstStyle/>
          <a:p>
            <a:pPr algn="ctr">
              <a:lnSpc>
                <a:spcPts val="5280"/>
              </a:lnSpc>
            </a:pPr>
            <a:r>
              <a:rPr lang="en-US" sz="4800" b="true">
                <a:solidFill>
                  <a:srgbClr val="7F5283"/>
                </a:solidFill>
                <a:latin typeface="Arimo Bold"/>
                <a:ea typeface="Arimo Bold"/>
                <a:cs typeface="Arimo Bold"/>
                <a:sym typeface="Arimo Bold"/>
              </a:rPr>
              <a:t>&gt;82%</a:t>
            </a:r>
          </a:p>
        </p:txBody>
      </p:sp>
      <p:sp>
        <p:nvSpPr>
          <p:cNvPr name="TextBox 38" id="38"/>
          <p:cNvSpPr txBox="true"/>
          <p:nvPr/>
        </p:nvSpPr>
        <p:spPr>
          <a:xfrm rot="0">
            <a:off x="8763000" y="7267575"/>
            <a:ext cx="2857500" cy="699135"/>
          </a:xfrm>
          <a:prstGeom prst="rect">
            <a:avLst/>
          </a:prstGeom>
        </p:spPr>
        <p:txBody>
          <a:bodyPr anchor="t" rtlCol="false" tIns="0" lIns="0" bIns="0" rIns="0">
            <a:spAutoFit/>
          </a:bodyPr>
          <a:lstStyle/>
          <a:p>
            <a:pPr algn="ctr">
              <a:lnSpc>
                <a:spcPts val="5280"/>
              </a:lnSpc>
            </a:pPr>
            <a:r>
              <a:rPr lang="en-US" sz="4800" b="true">
                <a:solidFill>
                  <a:srgbClr val="7F5283"/>
                </a:solidFill>
                <a:latin typeface="Arimo Bold"/>
                <a:ea typeface="Arimo Bold"/>
                <a:cs typeface="Arimo Bold"/>
                <a:sym typeface="Arimo Bold"/>
              </a:rPr>
              <a:t>&lt;12%</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EFBF6"/>
        </a:solidFill>
      </p:bgPr>
    </p:bg>
    <p:spTree>
      <p:nvGrpSpPr>
        <p:cNvPr id="1" name=""/>
        <p:cNvGrpSpPr/>
        <p:nvPr/>
      </p:nvGrpSpPr>
      <p:grpSpPr>
        <a:xfrm>
          <a:off x="0" y="0"/>
          <a:ext cx="0" cy="0"/>
          <a:chOff x="0" y="0"/>
          <a:chExt cx="0" cy="0"/>
        </a:xfrm>
      </p:grpSpPr>
      <p:grpSp>
        <p:nvGrpSpPr>
          <p:cNvPr name="Group 2" id="2"/>
          <p:cNvGrpSpPr/>
          <p:nvPr/>
        </p:nvGrpSpPr>
        <p:grpSpPr>
          <a:xfrm rot="0">
            <a:off x="1028700" y="4383965"/>
            <a:ext cx="16230600" cy="4828688"/>
            <a:chOff x="0" y="0"/>
            <a:chExt cx="4392202" cy="1306703"/>
          </a:xfrm>
        </p:grpSpPr>
        <p:sp>
          <p:nvSpPr>
            <p:cNvPr name="Freeform 3" id="3"/>
            <p:cNvSpPr/>
            <p:nvPr/>
          </p:nvSpPr>
          <p:spPr>
            <a:xfrm flipH="false" flipV="false" rot="0">
              <a:off x="0" y="0"/>
              <a:ext cx="4392202" cy="1306703"/>
            </a:xfrm>
            <a:custGeom>
              <a:avLst/>
              <a:gdLst/>
              <a:ahLst/>
              <a:cxnLst/>
              <a:rect r="r" b="b" t="t" l="l"/>
              <a:pathLst>
                <a:path h="1306703" w="4392202">
                  <a:moveTo>
                    <a:pt x="465531" y="1306703"/>
                  </a:moveTo>
                  <a:lnTo>
                    <a:pt x="4263535" y="1306703"/>
                  </a:lnTo>
                  <a:cubicBezTo>
                    <a:pt x="4334595" y="1306702"/>
                    <a:pt x="4392202" y="1249096"/>
                    <a:pt x="4392202" y="1178035"/>
                  </a:cubicBezTo>
                  <a:lnTo>
                    <a:pt x="4392202" y="584899"/>
                  </a:lnTo>
                  <a:cubicBezTo>
                    <a:pt x="4392202" y="513837"/>
                    <a:pt x="4334596" y="456231"/>
                    <a:pt x="4263535" y="456231"/>
                  </a:cubicBezTo>
                  <a:lnTo>
                    <a:pt x="864274" y="456231"/>
                  </a:lnTo>
                  <a:cubicBezTo>
                    <a:pt x="830150" y="456231"/>
                    <a:pt x="797423" y="442675"/>
                    <a:pt x="773293" y="418545"/>
                  </a:cubicBezTo>
                  <a:cubicBezTo>
                    <a:pt x="749163" y="394415"/>
                    <a:pt x="735607" y="361688"/>
                    <a:pt x="735607" y="327563"/>
                  </a:cubicBezTo>
                  <a:lnTo>
                    <a:pt x="735607" y="128668"/>
                  </a:lnTo>
                  <a:cubicBezTo>
                    <a:pt x="735607" y="57606"/>
                    <a:pt x="678000" y="0"/>
                    <a:pt x="606939" y="0"/>
                  </a:cubicBezTo>
                  <a:lnTo>
                    <a:pt x="128668" y="0"/>
                  </a:lnTo>
                  <a:cubicBezTo>
                    <a:pt x="57606" y="0"/>
                    <a:pt x="0" y="57606"/>
                    <a:pt x="0" y="128668"/>
                  </a:cubicBezTo>
                  <a:lnTo>
                    <a:pt x="0" y="801464"/>
                  </a:lnTo>
                  <a:cubicBezTo>
                    <a:pt x="-1" y="833116"/>
                    <a:pt x="11664" y="863657"/>
                    <a:pt x="32766" y="887249"/>
                  </a:cubicBezTo>
                  <a:lnTo>
                    <a:pt x="369633" y="1263820"/>
                  </a:lnTo>
                  <a:cubicBezTo>
                    <a:pt x="394042" y="1291107"/>
                    <a:pt x="428920" y="1306703"/>
                    <a:pt x="465531" y="1306703"/>
                  </a:cubicBezTo>
                  <a:close/>
                </a:path>
              </a:pathLst>
            </a:custGeom>
            <a:blipFill>
              <a:blip r:embed="rId3"/>
              <a:stretch>
                <a:fillRect l="0" t="-118024" r="0" b="-33766"/>
              </a:stretch>
            </a:blipFill>
          </p:spPr>
        </p:sp>
      </p:grpSp>
      <p:sp>
        <p:nvSpPr>
          <p:cNvPr name="AutoShape 4" id="4"/>
          <p:cNvSpPr/>
          <p:nvPr/>
        </p:nvSpPr>
        <p:spPr>
          <a:xfrm flipV="true">
            <a:off x="8924426" y="4767531"/>
            <a:ext cx="439149" cy="439149"/>
          </a:xfrm>
          <a:prstGeom prst="line">
            <a:avLst/>
          </a:prstGeom>
          <a:ln cap="rnd" w="133350">
            <a:solidFill>
              <a:srgbClr val="7F5283"/>
            </a:solidFill>
            <a:prstDash val="solid"/>
            <a:headEnd type="none" len="sm" w="sm"/>
            <a:tailEnd type="arrow" len="sm" w="med"/>
          </a:ln>
        </p:spPr>
      </p:sp>
      <p:grpSp>
        <p:nvGrpSpPr>
          <p:cNvPr name="Group 5" id="5"/>
          <p:cNvGrpSpPr/>
          <p:nvPr/>
        </p:nvGrpSpPr>
        <p:grpSpPr>
          <a:xfrm rot="0">
            <a:off x="1028700" y="1028700"/>
            <a:ext cx="2758809" cy="3168231"/>
            <a:chOff x="0" y="0"/>
            <a:chExt cx="960048" cy="1102524"/>
          </a:xfrm>
        </p:grpSpPr>
        <p:sp>
          <p:nvSpPr>
            <p:cNvPr name="Freeform 6" id="6"/>
            <p:cNvSpPr/>
            <p:nvPr/>
          </p:nvSpPr>
          <p:spPr>
            <a:xfrm flipH="false" flipV="false" rot="0">
              <a:off x="0" y="0"/>
              <a:ext cx="960048" cy="1102524"/>
            </a:xfrm>
            <a:custGeom>
              <a:avLst/>
              <a:gdLst/>
              <a:ahLst/>
              <a:cxnLst/>
              <a:rect r="r" b="b" t="t" l="l"/>
              <a:pathLst>
                <a:path h="1102524" w="960048">
                  <a:moveTo>
                    <a:pt x="112250" y="0"/>
                  </a:moveTo>
                  <a:lnTo>
                    <a:pt x="847797" y="0"/>
                  </a:lnTo>
                  <a:cubicBezTo>
                    <a:pt x="877568" y="0"/>
                    <a:pt x="906119" y="11826"/>
                    <a:pt x="927170" y="32877"/>
                  </a:cubicBezTo>
                  <a:cubicBezTo>
                    <a:pt x="948221" y="53928"/>
                    <a:pt x="960048" y="82480"/>
                    <a:pt x="960048" y="112250"/>
                  </a:cubicBezTo>
                  <a:lnTo>
                    <a:pt x="960048" y="990273"/>
                  </a:lnTo>
                  <a:cubicBezTo>
                    <a:pt x="960048" y="1020044"/>
                    <a:pt x="948221" y="1048595"/>
                    <a:pt x="927170" y="1069646"/>
                  </a:cubicBezTo>
                  <a:cubicBezTo>
                    <a:pt x="906119" y="1090697"/>
                    <a:pt x="877568" y="1102524"/>
                    <a:pt x="847797" y="1102524"/>
                  </a:cubicBezTo>
                  <a:lnTo>
                    <a:pt x="112250" y="1102524"/>
                  </a:lnTo>
                  <a:cubicBezTo>
                    <a:pt x="82480" y="1102524"/>
                    <a:pt x="53928" y="1090697"/>
                    <a:pt x="32877" y="1069646"/>
                  </a:cubicBezTo>
                  <a:cubicBezTo>
                    <a:pt x="11826" y="1048595"/>
                    <a:pt x="0" y="1020044"/>
                    <a:pt x="0" y="990273"/>
                  </a:cubicBezTo>
                  <a:lnTo>
                    <a:pt x="0" y="112250"/>
                  </a:lnTo>
                  <a:cubicBezTo>
                    <a:pt x="0" y="82480"/>
                    <a:pt x="11826" y="53928"/>
                    <a:pt x="32877" y="32877"/>
                  </a:cubicBezTo>
                  <a:cubicBezTo>
                    <a:pt x="53928" y="11826"/>
                    <a:pt x="82480" y="0"/>
                    <a:pt x="112250" y="0"/>
                  </a:cubicBezTo>
                  <a:close/>
                </a:path>
              </a:pathLst>
            </a:custGeom>
            <a:solidFill>
              <a:srgbClr val="A6D1E6"/>
            </a:solidFill>
            <a:ln w="19050" cap="rnd">
              <a:solidFill>
                <a:srgbClr val="A6D1E6"/>
              </a:solidFill>
              <a:prstDash val="solid"/>
              <a:round/>
            </a:ln>
          </p:spPr>
        </p:sp>
        <p:sp>
          <p:nvSpPr>
            <p:cNvPr name="TextBox 7" id="7"/>
            <p:cNvSpPr txBox="true"/>
            <p:nvPr/>
          </p:nvSpPr>
          <p:spPr>
            <a:xfrm>
              <a:off x="0" y="-38100"/>
              <a:ext cx="960048" cy="1140624"/>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4270312" y="1973045"/>
            <a:ext cx="5899436" cy="1024890"/>
          </a:xfrm>
          <a:prstGeom prst="rect">
            <a:avLst/>
          </a:prstGeom>
        </p:spPr>
        <p:txBody>
          <a:bodyPr anchor="t" rtlCol="false" tIns="0" lIns="0" bIns="0" rIns="0">
            <a:spAutoFit/>
          </a:bodyPr>
          <a:lstStyle/>
          <a:p>
            <a:pPr algn="l">
              <a:lnSpc>
                <a:spcPts val="7920"/>
              </a:lnSpc>
            </a:pPr>
            <a:r>
              <a:rPr lang="en-US" sz="7200" b="true">
                <a:solidFill>
                  <a:srgbClr val="7F5283"/>
                </a:solidFill>
                <a:latin typeface="Inter Bold"/>
                <a:ea typeface="Inter Bold"/>
                <a:cs typeface="Inter Bold"/>
                <a:sym typeface="Inter Bold"/>
              </a:rPr>
              <a:t>Thank you!</a:t>
            </a:r>
          </a:p>
        </p:txBody>
      </p:sp>
      <p:sp>
        <p:nvSpPr>
          <p:cNvPr name="TextBox 9" id="9"/>
          <p:cNvSpPr txBox="true"/>
          <p:nvPr/>
        </p:nvSpPr>
        <p:spPr>
          <a:xfrm rot="0">
            <a:off x="4270312" y="3026510"/>
            <a:ext cx="5899436" cy="450215"/>
          </a:xfrm>
          <a:prstGeom prst="rect">
            <a:avLst/>
          </a:prstGeom>
        </p:spPr>
        <p:txBody>
          <a:bodyPr anchor="t" rtlCol="false" tIns="0" lIns="0" bIns="0" rIns="0">
            <a:spAutoFit/>
          </a:bodyPr>
          <a:lstStyle/>
          <a:p>
            <a:pPr algn="l">
              <a:lnSpc>
                <a:spcPts val="3520"/>
              </a:lnSpc>
            </a:pPr>
            <a:r>
              <a:rPr lang="en-US" sz="3200" b="true">
                <a:solidFill>
                  <a:srgbClr val="3D3C42"/>
                </a:solidFill>
                <a:latin typeface="Inter Bold"/>
                <a:ea typeface="Inter Bold"/>
                <a:cs typeface="Inter Bold"/>
                <a:sym typeface="Inter Bold"/>
              </a:rPr>
              <a:t>Let’s Connect</a:t>
            </a:r>
          </a:p>
        </p:txBody>
      </p:sp>
      <p:sp>
        <p:nvSpPr>
          <p:cNvPr name="TextBox 10" id="10"/>
          <p:cNvSpPr txBox="true"/>
          <p:nvPr/>
        </p:nvSpPr>
        <p:spPr>
          <a:xfrm rot="0">
            <a:off x="1331098" y="2970739"/>
            <a:ext cx="2456411" cy="888365"/>
          </a:xfrm>
          <a:prstGeom prst="rect">
            <a:avLst/>
          </a:prstGeom>
        </p:spPr>
        <p:txBody>
          <a:bodyPr anchor="t" rtlCol="false" tIns="0" lIns="0" bIns="0" rIns="0">
            <a:spAutoFit/>
          </a:bodyPr>
          <a:lstStyle/>
          <a:p>
            <a:pPr algn="l" marL="0" indent="0" lvl="0">
              <a:lnSpc>
                <a:spcPts val="3520"/>
              </a:lnSpc>
              <a:spcBef>
                <a:spcPct val="0"/>
              </a:spcBef>
            </a:pPr>
            <a:r>
              <a:rPr lang="en-US" sz="3200" strike="noStrike" u="none">
                <a:solidFill>
                  <a:srgbClr val="3D3C42"/>
                </a:solidFill>
                <a:latin typeface="Inter"/>
                <a:ea typeface="Inter"/>
                <a:cs typeface="Inter"/>
                <a:sym typeface="Inter"/>
              </a:rPr>
              <a:t>Prince </a:t>
            </a:r>
          </a:p>
          <a:p>
            <a:pPr algn="l" marL="0" indent="0" lvl="0">
              <a:lnSpc>
                <a:spcPts val="3520"/>
              </a:lnSpc>
              <a:spcBef>
                <a:spcPct val="0"/>
              </a:spcBef>
            </a:pPr>
            <a:r>
              <a:rPr lang="en-US" sz="3200" strike="noStrike" u="none">
                <a:solidFill>
                  <a:srgbClr val="3D3C42"/>
                </a:solidFill>
                <a:latin typeface="Inter"/>
                <a:ea typeface="Inter"/>
                <a:cs typeface="Inter"/>
                <a:sym typeface="Inter"/>
              </a:rPr>
              <a:t>Kumar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DAHXt7L77l0</dc:identifier>
  <dcterms:modified xsi:type="dcterms:W3CDTF">2011-08-01T06:04:30Z</dcterms:modified>
  <cp:revision>1</cp:revision>
  <dc:title>Supply Chain Delivery Performance Analysis</dc:title>
</cp:coreProperties>
</file>